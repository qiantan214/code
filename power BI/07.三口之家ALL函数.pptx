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78" r:id="rId2"/>
    <p:sldId id="379" r:id="rId3"/>
    <p:sldId id="380" r:id="rId4"/>
    <p:sldId id="381" r:id="rId5"/>
    <p:sldId id="382" r:id="rId6"/>
    <p:sldId id="383" r:id="rId7"/>
  </p:sldIdLst>
  <p:sldSz cx="9144000" cy="5143500" type="screen16x9"/>
  <p:notesSz cx="6858000" cy="9144000"/>
  <p:custDataLst>
    <p:tags r:id="rId10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5511" userDrawn="1">
          <p15:clr>
            <a:srgbClr val="A4A3A4"/>
          </p15:clr>
        </p15:guide>
        <p15:guide id="7" pos="612" userDrawn="1">
          <p15:clr>
            <a:srgbClr val="A4A3A4"/>
          </p15:clr>
        </p15:guide>
        <p15:guide id="8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C5C5"/>
    <a:srgbClr val="192834"/>
    <a:srgbClr val="8E78F4"/>
    <a:srgbClr val="FBE9EC"/>
    <a:srgbClr val="FEE4F6"/>
    <a:srgbClr val="FEFEFE"/>
    <a:srgbClr val="D5DBDE"/>
    <a:srgbClr val="DDE5ED"/>
    <a:srgbClr val="C6D0D6"/>
    <a:srgbClr val="D6D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14" autoAdjust="0"/>
    <p:restoredTop sz="95013" autoAdjust="0"/>
  </p:normalViewPr>
  <p:slideViewPr>
    <p:cSldViewPr>
      <p:cViewPr varScale="1">
        <p:scale>
          <a:sx n="150" d="100"/>
          <a:sy n="150" d="100"/>
        </p:scale>
        <p:origin x="420" y="120"/>
      </p:cViewPr>
      <p:guideLst>
        <p:guide pos="5511"/>
        <p:guide pos="612"/>
        <p:guide orient="horz" pos="1620"/>
      </p:guideLst>
    </p:cSldViewPr>
  </p:slideViewPr>
  <p:outlineViewPr>
    <p:cViewPr>
      <p:scale>
        <a:sx n="33" d="100"/>
        <a:sy n="33" d="100"/>
      </p:scale>
      <p:origin x="0" y="-440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36"/>
    </p:cViewPr>
  </p:sorterViewPr>
  <p:notesViewPr>
    <p:cSldViewPr showGuides="1">
      <p:cViewPr varScale="1">
        <p:scale>
          <a:sx n="120" d="100"/>
          <a:sy n="120" d="100"/>
        </p:scale>
        <p:origin x="383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304B3-FA9F-49C1-859E-2458D1B84048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05DBC-4E0E-43E3-A060-4938178F1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861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4EB415-5FD7-4318-806E-930189874889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A4CF9-9236-450D-BC13-91858061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472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色有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2332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ko-KR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57200" y="4803998"/>
            <a:ext cx="1217000" cy="246221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spcBef>
                <a:spcPct val="0"/>
              </a:spcBef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/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</a:rPr>
              <a:t>www.pptmall.net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78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黑色有标题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124EB12D-71AA-4797-9E53-6CDD91A37DC7}"/>
              </a:ext>
            </a:extLst>
          </p:cNvPr>
          <p:cNvSpPr txBox="1"/>
          <p:nvPr userDrawn="1"/>
        </p:nvSpPr>
        <p:spPr>
          <a:xfrm>
            <a:off x="409220" y="4731990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C5C5C5"/>
                </a:solidFill>
              </a:rPr>
              <a:t>主讲：孙兴华</a:t>
            </a:r>
          </a:p>
        </p:txBody>
      </p:sp>
    </p:spTree>
    <p:extLst>
      <p:ext uri="{BB962C8B-B14F-4D97-AF65-F5344CB8AC3E}">
        <p14:creationId xmlns:p14="http://schemas.microsoft.com/office/powerpoint/2010/main" val="32661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762BF6-6E3F-433B-AB39-F4DEF76FD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87EF-A92C-4F47-B9B3-48D91E515FA5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014B5B-56D1-4541-8470-F1DD30F2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BF0C11-692D-4D1E-B3C9-068673586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F675-5BB6-4475-9536-7FDBB6229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068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>
                <a:lumMod val="85000"/>
                <a:alpha val="60000"/>
              </a:schemeClr>
            </a:gs>
            <a:gs pos="0">
              <a:schemeClr val="bg1">
                <a:lumMod val="85000"/>
                <a:alpha val="60000"/>
              </a:schemeClr>
            </a:gs>
            <a:gs pos="50000">
              <a:schemeClr val="bg1"/>
            </a:gs>
            <a:gs pos="73000">
              <a:schemeClr val="bg1"/>
            </a:gs>
            <a:gs pos="2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23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701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8A520EC-EA1A-4DC8-BAAE-DAE2EB620C71}"/>
              </a:ext>
            </a:extLst>
          </p:cNvPr>
          <p:cNvSpPr txBox="1"/>
          <p:nvPr/>
        </p:nvSpPr>
        <p:spPr>
          <a:xfrm>
            <a:off x="899592" y="555526"/>
            <a:ext cx="1675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400" b="1" dirty="0">
                <a:solidFill>
                  <a:schemeClr val="bg1"/>
                </a:solidFill>
              </a:rPr>
              <a:t>ALL</a:t>
            </a:r>
            <a:r>
              <a:rPr lang="zh-CN" altLang="en-US" sz="2400" b="1" dirty="0">
                <a:solidFill>
                  <a:schemeClr val="bg1"/>
                </a:solidFill>
              </a:rPr>
              <a:t>语法：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900791-816A-44EB-A152-157D8B90CD20}"/>
              </a:ext>
            </a:extLst>
          </p:cNvPr>
          <p:cNvSpPr txBox="1"/>
          <p:nvPr/>
        </p:nvSpPr>
        <p:spPr>
          <a:xfrm>
            <a:off x="1682382" y="1275606"/>
            <a:ext cx="4185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ALL(</a:t>
            </a:r>
            <a:r>
              <a:rPr lang="zh-CN" altLang="en-US" sz="2400" b="1" dirty="0">
                <a:solidFill>
                  <a:schemeClr val="bg1"/>
                </a:solidFill>
              </a:rPr>
              <a:t>表名</a:t>
            </a:r>
            <a:r>
              <a:rPr lang="en-US" altLang="zh-CN" sz="2400" b="1" dirty="0">
                <a:solidFill>
                  <a:schemeClr val="bg1"/>
                </a:solidFill>
              </a:rPr>
              <a:t>) </a:t>
            </a:r>
            <a:r>
              <a:rPr lang="zh-CN" altLang="en-US" sz="2400" b="1" dirty="0">
                <a:solidFill>
                  <a:schemeClr val="bg1"/>
                </a:solidFill>
              </a:rPr>
              <a:t>或 </a:t>
            </a:r>
            <a:r>
              <a:rPr lang="en-US" altLang="zh-CN" sz="2400" b="1" dirty="0">
                <a:solidFill>
                  <a:schemeClr val="bg1"/>
                </a:solidFill>
              </a:rPr>
              <a:t>ALL(</a:t>
            </a:r>
            <a:r>
              <a:rPr lang="zh-CN" altLang="en-US" sz="2400" b="1" dirty="0">
                <a:solidFill>
                  <a:schemeClr val="bg1"/>
                </a:solidFill>
              </a:rPr>
              <a:t>列，列</a:t>
            </a:r>
            <a:r>
              <a:rPr lang="en-US" altLang="zh-CN" sz="2400" b="1" dirty="0">
                <a:solidFill>
                  <a:schemeClr val="bg1"/>
                </a:solidFill>
              </a:rPr>
              <a:t>…) 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589F219-B330-40A4-9E3C-73DA80C1C4EE}"/>
              </a:ext>
            </a:extLst>
          </p:cNvPr>
          <p:cNvSpPr txBox="1"/>
          <p:nvPr/>
        </p:nvSpPr>
        <p:spPr>
          <a:xfrm>
            <a:off x="899593" y="2715766"/>
            <a:ext cx="1675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bg1"/>
                </a:solidFill>
              </a:rPr>
              <a:t>返回：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E7A3A3-2289-4E06-AB1A-4E86ED6A38C8}"/>
              </a:ext>
            </a:extLst>
          </p:cNvPr>
          <p:cNvSpPr txBox="1"/>
          <p:nvPr/>
        </p:nvSpPr>
        <p:spPr>
          <a:xfrm>
            <a:off x="1682382" y="3406230"/>
            <a:ext cx="1675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bg1"/>
                </a:solidFill>
              </a:rPr>
              <a:t>表</a:t>
            </a:r>
          </a:p>
        </p:txBody>
      </p:sp>
    </p:spTree>
    <p:extLst>
      <p:ext uri="{BB962C8B-B14F-4D97-AF65-F5344CB8AC3E}">
        <p14:creationId xmlns:p14="http://schemas.microsoft.com/office/powerpoint/2010/main" val="3376907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16A6656-7956-48CC-B1F2-9F41F04DD9C0}"/>
              </a:ext>
            </a:extLst>
          </p:cNvPr>
          <p:cNvSpPr txBox="1"/>
          <p:nvPr/>
        </p:nvSpPr>
        <p:spPr>
          <a:xfrm>
            <a:off x="611560" y="771550"/>
            <a:ext cx="1608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400" b="1" dirty="0">
                <a:solidFill>
                  <a:schemeClr val="bg1"/>
                </a:solidFill>
              </a:rPr>
              <a:t>ALL(</a:t>
            </a:r>
            <a:r>
              <a:rPr lang="zh-CN" altLang="en-US" sz="2400" b="1" dirty="0">
                <a:solidFill>
                  <a:schemeClr val="bg1"/>
                </a:solidFill>
              </a:rPr>
              <a:t>表名</a:t>
            </a:r>
            <a:r>
              <a:rPr lang="en-US" altLang="zh-CN" sz="2400" b="1" dirty="0">
                <a:solidFill>
                  <a:schemeClr val="bg1"/>
                </a:solidFill>
              </a:rPr>
              <a:t>)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5A2088-A972-4029-990B-8A974E1AFC80}"/>
              </a:ext>
            </a:extLst>
          </p:cNvPr>
          <p:cNvSpPr txBox="1"/>
          <p:nvPr/>
        </p:nvSpPr>
        <p:spPr>
          <a:xfrm>
            <a:off x="1271610" y="2110085"/>
            <a:ext cx="64073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CALCULATE([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总销售量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],ALL('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销售明细表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') )</a:t>
            </a:r>
          </a:p>
        </p:txBody>
      </p:sp>
    </p:spTree>
    <p:extLst>
      <p:ext uri="{BB962C8B-B14F-4D97-AF65-F5344CB8AC3E}">
        <p14:creationId xmlns:p14="http://schemas.microsoft.com/office/powerpoint/2010/main" val="3806731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0C4145F-2DD5-4365-B22B-26230E3A2152}"/>
              </a:ext>
            </a:extLst>
          </p:cNvPr>
          <p:cNvSpPr txBox="1"/>
          <p:nvPr/>
        </p:nvSpPr>
        <p:spPr>
          <a:xfrm>
            <a:off x="703351" y="813941"/>
            <a:ext cx="2212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400" b="1" dirty="0">
                <a:solidFill>
                  <a:schemeClr val="bg1"/>
                </a:solidFill>
              </a:rPr>
              <a:t>ALL(</a:t>
            </a:r>
            <a:r>
              <a:rPr lang="zh-CN" altLang="en-US" sz="2400" b="1" dirty="0">
                <a:solidFill>
                  <a:schemeClr val="bg1"/>
                </a:solidFill>
              </a:rPr>
              <a:t>列，列</a:t>
            </a:r>
            <a:r>
              <a:rPr lang="en-US" altLang="zh-CN" sz="2400" b="1" dirty="0">
                <a:solidFill>
                  <a:schemeClr val="bg1"/>
                </a:solidFill>
              </a:rPr>
              <a:t>…)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E53BF4-38A5-4095-8F0F-5ACC8B643F36}"/>
              </a:ext>
            </a:extLst>
          </p:cNvPr>
          <p:cNvSpPr txBox="1"/>
          <p:nvPr/>
        </p:nvSpPr>
        <p:spPr>
          <a:xfrm>
            <a:off x="1187624" y="2101329"/>
            <a:ext cx="68642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400" b="1" dirty="0">
                <a:solidFill>
                  <a:schemeClr val="bg1"/>
                </a:solidFill>
              </a:rPr>
              <a:t>CALCULATE([</a:t>
            </a:r>
            <a:r>
              <a:rPr lang="zh-CN" altLang="en-US" sz="2400" b="1" dirty="0">
                <a:solidFill>
                  <a:schemeClr val="bg1"/>
                </a:solidFill>
              </a:rPr>
              <a:t>总销量</a:t>
            </a:r>
            <a:r>
              <a:rPr lang="en-US" altLang="zh-CN" sz="2400" b="1" dirty="0">
                <a:solidFill>
                  <a:schemeClr val="bg1"/>
                </a:solidFill>
              </a:rPr>
              <a:t>],ALL('</a:t>
            </a:r>
            <a:r>
              <a:rPr lang="zh-CN" altLang="en-US" sz="2400" b="1" dirty="0">
                <a:solidFill>
                  <a:schemeClr val="bg1"/>
                </a:solidFill>
              </a:rPr>
              <a:t>商品表</a:t>
            </a:r>
            <a:r>
              <a:rPr lang="en-US" altLang="zh-CN" sz="2400" b="1" dirty="0">
                <a:solidFill>
                  <a:schemeClr val="bg1"/>
                </a:solidFill>
              </a:rPr>
              <a:t>'[</a:t>
            </a:r>
            <a:r>
              <a:rPr lang="zh-CN" altLang="en-US" sz="2400" b="1" dirty="0">
                <a:solidFill>
                  <a:schemeClr val="bg1"/>
                </a:solidFill>
              </a:rPr>
              <a:t>商品名称</a:t>
            </a:r>
            <a:r>
              <a:rPr lang="en-US" altLang="zh-CN" sz="2400" b="1" dirty="0">
                <a:solidFill>
                  <a:schemeClr val="bg1"/>
                </a:solidFill>
              </a:rPr>
              <a:t>]))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E99B97-643C-4C44-AF2C-4982FC7AF82F}"/>
              </a:ext>
            </a:extLst>
          </p:cNvPr>
          <p:cNvSpPr txBox="1"/>
          <p:nvPr/>
        </p:nvSpPr>
        <p:spPr>
          <a:xfrm>
            <a:off x="223095" y="3291830"/>
            <a:ext cx="8920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400" b="1" dirty="0">
                <a:solidFill>
                  <a:schemeClr val="bg1"/>
                </a:solidFill>
              </a:rPr>
              <a:t>CALCULATE([</a:t>
            </a:r>
            <a:r>
              <a:rPr lang="zh-CN" altLang="en-US" sz="2400" b="1" dirty="0">
                <a:solidFill>
                  <a:schemeClr val="bg1"/>
                </a:solidFill>
              </a:rPr>
              <a:t>总销量</a:t>
            </a:r>
            <a:r>
              <a:rPr lang="en-US" altLang="zh-CN" sz="2400" b="1" dirty="0">
                <a:solidFill>
                  <a:schemeClr val="bg1"/>
                </a:solidFill>
              </a:rPr>
              <a:t>],ALL('</a:t>
            </a:r>
            <a:r>
              <a:rPr lang="zh-CN" altLang="en-US" sz="2400" b="1" dirty="0">
                <a:solidFill>
                  <a:schemeClr val="bg1"/>
                </a:solidFill>
              </a:rPr>
              <a:t>商品表</a:t>
            </a:r>
            <a:r>
              <a:rPr lang="en-US" altLang="zh-CN" sz="2400" b="1" dirty="0">
                <a:solidFill>
                  <a:schemeClr val="bg1"/>
                </a:solidFill>
              </a:rPr>
              <a:t>'[</a:t>
            </a:r>
            <a:r>
              <a:rPr lang="zh-CN" altLang="en-US" sz="2400" b="1" dirty="0">
                <a:solidFill>
                  <a:schemeClr val="bg1"/>
                </a:solidFill>
              </a:rPr>
              <a:t>商品名称</a:t>
            </a:r>
            <a:r>
              <a:rPr lang="en-US" altLang="zh-CN" sz="2400" b="1" dirty="0">
                <a:solidFill>
                  <a:schemeClr val="bg1"/>
                </a:solidFill>
              </a:rPr>
              <a:t>],'</a:t>
            </a:r>
            <a:r>
              <a:rPr lang="zh-CN" altLang="en-US" sz="2400" b="1" dirty="0">
                <a:solidFill>
                  <a:schemeClr val="bg1"/>
                </a:solidFill>
              </a:rPr>
              <a:t>商品表</a:t>
            </a:r>
            <a:r>
              <a:rPr lang="en-US" altLang="zh-CN" sz="2400" b="1" dirty="0">
                <a:solidFill>
                  <a:schemeClr val="bg1"/>
                </a:solidFill>
              </a:rPr>
              <a:t>'[</a:t>
            </a:r>
            <a:r>
              <a:rPr lang="zh-CN" altLang="en-US" sz="2400" b="1" dirty="0">
                <a:solidFill>
                  <a:schemeClr val="bg1"/>
                </a:solidFill>
              </a:rPr>
              <a:t>规格</a:t>
            </a:r>
            <a:r>
              <a:rPr lang="en-US" altLang="zh-CN" sz="2400" b="1" dirty="0">
                <a:solidFill>
                  <a:schemeClr val="bg1"/>
                </a:solidFill>
              </a:rPr>
              <a:t>]))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5" name="箭头: 上 4">
            <a:extLst>
              <a:ext uri="{FF2B5EF4-FFF2-40B4-BE49-F238E27FC236}">
                <a16:creationId xmlns:a16="http://schemas.microsoft.com/office/drawing/2014/main" id="{71536A3D-37E1-4015-887F-4A3B29608C29}"/>
              </a:ext>
            </a:extLst>
          </p:cNvPr>
          <p:cNvSpPr/>
          <p:nvPr/>
        </p:nvSpPr>
        <p:spPr>
          <a:xfrm>
            <a:off x="5724128" y="1707654"/>
            <a:ext cx="288032" cy="393675"/>
          </a:xfrm>
          <a:prstGeom prst="upArrow">
            <a:avLst/>
          </a:prstGeom>
          <a:solidFill>
            <a:srgbClr val="FF0000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8DAB5D-4614-4889-843B-73FDE5B867B1}"/>
              </a:ext>
            </a:extLst>
          </p:cNvPr>
          <p:cNvSpPr txBox="1"/>
          <p:nvPr/>
        </p:nvSpPr>
        <p:spPr>
          <a:xfrm>
            <a:off x="5184068" y="1141660"/>
            <a:ext cx="136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清除筛选列要与初始筛选列一致</a:t>
            </a:r>
          </a:p>
        </p:txBody>
      </p:sp>
      <p:sp>
        <p:nvSpPr>
          <p:cNvPr id="8" name="箭头: 左弧形 7">
            <a:extLst>
              <a:ext uri="{FF2B5EF4-FFF2-40B4-BE49-F238E27FC236}">
                <a16:creationId xmlns:a16="http://schemas.microsoft.com/office/drawing/2014/main" id="{29713D13-66F1-449A-8A5F-5C1BC2FC8710}"/>
              </a:ext>
            </a:extLst>
          </p:cNvPr>
          <p:cNvSpPr/>
          <p:nvPr/>
        </p:nvSpPr>
        <p:spPr>
          <a:xfrm>
            <a:off x="4716016" y="3753495"/>
            <a:ext cx="864096" cy="461665"/>
          </a:xfrm>
          <a:prstGeom prst="curvedRightArrow">
            <a:avLst/>
          </a:prstGeom>
          <a:solidFill>
            <a:srgbClr val="FF0000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箭头: 右弧形 8">
            <a:extLst>
              <a:ext uri="{FF2B5EF4-FFF2-40B4-BE49-F238E27FC236}">
                <a16:creationId xmlns:a16="http://schemas.microsoft.com/office/drawing/2014/main" id="{2AD9A831-9103-4F9E-8523-206FC89A5E7C}"/>
              </a:ext>
            </a:extLst>
          </p:cNvPr>
          <p:cNvSpPr/>
          <p:nvPr/>
        </p:nvSpPr>
        <p:spPr>
          <a:xfrm>
            <a:off x="7272300" y="3795886"/>
            <a:ext cx="828092" cy="419274"/>
          </a:xfrm>
          <a:prstGeom prst="curvedLeftArrow">
            <a:avLst/>
          </a:prstGeom>
          <a:solidFill>
            <a:srgbClr val="FF0000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C3AD6A-74B1-49F8-9E89-ED31D35FFFB2}"/>
              </a:ext>
            </a:extLst>
          </p:cNvPr>
          <p:cNvSpPr txBox="1"/>
          <p:nvPr/>
        </p:nvSpPr>
        <p:spPr>
          <a:xfrm>
            <a:off x="4283968" y="4283418"/>
            <a:ext cx="4176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FF0000"/>
                </a:solidFill>
              </a:rPr>
              <a:t>ALL</a:t>
            </a:r>
            <a:r>
              <a:rPr lang="zh-CN" altLang="en-US" sz="1400" b="1" dirty="0">
                <a:solidFill>
                  <a:srgbClr val="FF0000"/>
                </a:solidFill>
              </a:rPr>
              <a:t>所引用的列需在同一张表</a:t>
            </a:r>
          </a:p>
        </p:txBody>
      </p:sp>
    </p:spTree>
    <p:extLst>
      <p:ext uri="{BB962C8B-B14F-4D97-AF65-F5344CB8AC3E}">
        <p14:creationId xmlns:p14="http://schemas.microsoft.com/office/powerpoint/2010/main" val="368398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 animBg="1"/>
      <p:bldP spid="9" grpId="0" animBg="1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5DE2C53-CE23-42B8-9531-6E9F369C419F}"/>
              </a:ext>
            </a:extLst>
          </p:cNvPr>
          <p:cNvSpPr txBox="1"/>
          <p:nvPr/>
        </p:nvSpPr>
        <p:spPr>
          <a:xfrm>
            <a:off x="1547664" y="627534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ALL</a:t>
            </a:r>
            <a:r>
              <a:rPr lang="zh-CN" altLang="en-US" sz="2400" b="1" dirty="0">
                <a:solidFill>
                  <a:schemeClr val="bg1"/>
                </a:solidFill>
              </a:rPr>
              <a:t>可以引用多个列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BD7B95C-8E08-4779-8F8C-7F8DFBB70530}"/>
              </a:ext>
            </a:extLst>
          </p:cNvPr>
          <p:cNvSpPr txBox="1"/>
          <p:nvPr/>
        </p:nvSpPr>
        <p:spPr>
          <a:xfrm>
            <a:off x="35496" y="1203598"/>
            <a:ext cx="900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如果表里有</a:t>
            </a:r>
            <a:r>
              <a:rPr lang="en-US" altLang="zh-CN" sz="2400" b="1" dirty="0">
                <a:solidFill>
                  <a:schemeClr val="bg1"/>
                </a:solidFill>
              </a:rPr>
              <a:t>100</a:t>
            </a:r>
            <a:r>
              <a:rPr lang="zh-CN" altLang="en-US" sz="2400" b="1" dirty="0">
                <a:solidFill>
                  <a:schemeClr val="bg1"/>
                </a:solidFill>
              </a:rPr>
              <a:t>个列，你想对其中</a:t>
            </a:r>
            <a:r>
              <a:rPr lang="en-US" altLang="zh-CN" sz="2400" b="1" dirty="0">
                <a:solidFill>
                  <a:schemeClr val="bg1"/>
                </a:solidFill>
              </a:rPr>
              <a:t>99</a:t>
            </a:r>
            <a:r>
              <a:rPr lang="zh-CN" altLang="en-US" sz="2400" b="1" dirty="0">
                <a:solidFill>
                  <a:schemeClr val="bg1"/>
                </a:solidFill>
              </a:rPr>
              <a:t>个列使用</a:t>
            </a:r>
            <a:r>
              <a:rPr lang="en-US" altLang="zh-CN" sz="2400" b="1" dirty="0">
                <a:solidFill>
                  <a:schemeClr val="bg1"/>
                </a:solidFill>
              </a:rPr>
              <a:t>ALL</a:t>
            </a:r>
            <a:r>
              <a:rPr lang="zh-CN" altLang="en-US" sz="2400" b="1" dirty="0">
                <a:solidFill>
                  <a:schemeClr val="bg1"/>
                </a:solidFill>
              </a:rPr>
              <a:t>函数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21EA6C-36E4-4BC6-B2FB-22FC50981635}"/>
              </a:ext>
            </a:extLst>
          </p:cNvPr>
          <p:cNvSpPr txBox="1"/>
          <p:nvPr/>
        </p:nvSpPr>
        <p:spPr>
          <a:xfrm>
            <a:off x="2034" y="1851670"/>
            <a:ext cx="900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精神分裂</a:t>
            </a:r>
            <a:r>
              <a:rPr lang="en-US" altLang="zh-CN" sz="2400" b="1" dirty="0" err="1">
                <a:solidFill>
                  <a:schemeClr val="bg1"/>
                </a:solidFill>
              </a:rPr>
              <a:t>ing</a:t>
            </a:r>
            <a:r>
              <a:rPr lang="en-US" altLang="zh-CN" sz="2400" b="1" dirty="0">
                <a:solidFill>
                  <a:schemeClr val="bg1"/>
                </a:solidFill>
              </a:rPr>
              <a:t>……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0D29FD-8D4B-4D9E-AECE-3A26000FFF4A}"/>
              </a:ext>
            </a:extLst>
          </p:cNvPr>
          <p:cNvSpPr txBox="1"/>
          <p:nvPr/>
        </p:nvSpPr>
        <p:spPr>
          <a:xfrm>
            <a:off x="35496" y="2571750"/>
            <a:ext cx="900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err="1">
                <a:solidFill>
                  <a:schemeClr val="bg1"/>
                </a:solidFill>
              </a:rPr>
              <a:t>Allexcept</a:t>
            </a:r>
            <a:r>
              <a:rPr lang="zh-CN" altLang="en-US" sz="2400" b="1" dirty="0">
                <a:solidFill>
                  <a:schemeClr val="bg1"/>
                </a:solidFill>
              </a:rPr>
              <a:t>函数出场</a:t>
            </a:r>
          </a:p>
        </p:txBody>
      </p:sp>
    </p:spTree>
    <p:extLst>
      <p:ext uri="{BB962C8B-B14F-4D97-AF65-F5344CB8AC3E}">
        <p14:creationId xmlns:p14="http://schemas.microsoft.com/office/powerpoint/2010/main" val="2031069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C040811-9B76-4051-A4C0-9403848208B9}"/>
              </a:ext>
            </a:extLst>
          </p:cNvPr>
          <p:cNvSpPr txBox="1"/>
          <p:nvPr/>
        </p:nvSpPr>
        <p:spPr>
          <a:xfrm>
            <a:off x="-16768" y="411510"/>
            <a:ext cx="900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err="1">
                <a:solidFill>
                  <a:schemeClr val="bg1"/>
                </a:solidFill>
              </a:rPr>
              <a:t>Allexcept</a:t>
            </a:r>
            <a:r>
              <a:rPr lang="zh-CN" altLang="en-US" sz="2400" b="1" dirty="0">
                <a:solidFill>
                  <a:schemeClr val="bg1"/>
                </a:solidFill>
              </a:rPr>
              <a:t>函数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554862-58F0-4014-8B2B-FFCB7A749C00}"/>
              </a:ext>
            </a:extLst>
          </p:cNvPr>
          <p:cNvSpPr txBox="1"/>
          <p:nvPr/>
        </p:nvSpPr>
        <p:spPr>
          <a:xfrm>
            <a:off x="71500" y="1059582"/>
            <a:ext cx="900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Except</a:t>
            </a:r>
            <a:r>
              <a:rPr lang="zh-CN" altLang="en-US" sz="2400" b="1" dirty="0">
                <a:solidFill>
                  <a:schemeClr val="bg1"/>
                </a:solidFill>
              </a:rPr>
              <a:t>中文翻译除</a:t>
            </a:r>
            <a:r>
              <a:rPr lang="en-US" altLang="zh-CN" sz="2400" b="1" dirty="0">
                <a:solidFill>
                  <a:schemeClr val="bg1"/>
                </a:solidFill>
              </a:rPr>
              <a:t>……</a:t>
            </a:r>
            <a:r>
              <a:rPr lang="zh-CN" altLang="en-US" sz="2400" b="1" dirty="0">
                <a:solidFill>
                  <a:schemeClr val="bg1"/>
                </a:solidFill>
              </a:rPr>
              <a:t>之外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3745BA-F06E-46A3-809A-66556278271A}"/>
              </a:ext>
            </a:extLst>
          </p:cNvPr>
          <p:cNvSpPr txBox="1"/>
          <p:nvPr/>
        </p:nvSpPr>
        <p:spPr>
          <a:xfrm>
            <a:off x="71500" y="1711251"/>
            <a:ext cx="900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所以该公式的含义是：除指定的某列之外，清除筛选条件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4BB545-64BF-4C5B-9F80-B0729517111E}"/>
              </a:ext>
            </a:extLst>
          </p:cNvPr>
          <p:cNvSpPr txBox="1"/>
          <p:nvPr/>
        </p:nvSpPr>
        <p:spPr>
          <a:xfrm>
            <a:off x="68064" y="3422199"/>
            <a:ext cx="900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CALCULATE([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销售总量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],ALLEXCEPT('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商品表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','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商品表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商品名称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]))</a:t>
            </a:r>
          </a:p>
        </p:txBody>
      </p:sp>
      <p:sp>
        <p:nvSpPr>
          <p:cNvPr id="6" name="箭头: 手杖形 5">
            <a:extLst>
              <a:ext uri="{FF2B5EF4-FFF2-40B4-BE49-F238E27FC236}">
                <a16:creationId xmlns:a16="http://schemas.microsoft.com/office/drawing/2014/main" id="{0AFC608E-902E-4C78-BE5C-C046334C755B}"/>
              </a:ext>
            </a:extLst>
          </p:cNvPr>
          <p:cNvSpPr/>
          <p:nvPr/>
        </p:nvSpPr>
        <p:spPr>
          <a:xfrm>
            <a:off x="4716016" y="2643758"/>
            <a:ext cx="1872208" cy="778441"/>
          </a:xfrm>
          <a:prstGeom prst="uturnArrow">
            <a:avLst/>
          </a:prstGeom>
          <a:solidFill>
            <a:srgbClr val="FF0000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5DB2F4-CFA4-4F95-977E-F45A2356C9B9}"/>
              </a:ext>
            </a:extLst>
          </p:cNvPr>
          <p:cNvSpPr txBox="1"/>
          <p:nvPr/>
        </p:nvSpPr>
        <p:spPr>
          <a:xfrm>
            <a:off x="6084168" y="2726767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</a:rPr>
              <a:t>除商品名称这列之外，清除筛选条件</a:t>
            </a:r>
          </a:p>
        </p:txBody>
      </p:sp>
    </p:spTree>
    <p:extLst>
      <p:ext uri="{BB962C8B-B14F-4D97-AF65-F5344CB8AC3E}">
        <p14:creationId xmlns:p14="http://schemas.microsoft.com/office/powerpoint/2010/main" val="2928605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4AB04BF-490D-4712-A3D3-8EA4D3B5AD2F}"/>
              </a:ext>
            </a:extLst>
          </p:cNvPr>
          <p:cNvSpPr txBox="1"/>
          <p:nvPr/>
        </p:nvSpPr>
        <p:spPr>
          <a:xfrm>
            <a:off x="-16768" y="411510"/>
            <a:ext cx="900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err="1">
                <a:solidFill>
                  <a:schemeClr val="bg1"/>
                </a:solidFill>
              </a:rPr>
              <a:t>Allselected</a:t>
            </a:r>
            <a:r>
              <a:rPr lang="zh-CN" altLang="en-US" sz="2400" b="1" dirty="0">
                <a:solidFill>
                  <a:schemeClr val="bg1"/>
                </a:solidFill>
              </a:rPr>
              <a:t>函数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9CC26B-84E2-4BAE-9555-181C10507616}"/>
              </a:ext>
            </a:extLst>
          </p:cNvPr>
          <p:cNvSpPr txBox="1"/>
          <p:nvPr/>
        </p:nvSpPr>
        <p:spPr>
          <a:xfrm>
            <a:off x="71500" y="1059582"/>
            <a:ext cx="900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语法：</a:t>
            </a:r>
            <a:r>
              <a:rPr lang="en-US" altLang="zh-CN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 err="1">
                <a:solidFill>
                  <a:schemeClr val="bg1"/>
                </a:solidFill>
              </a:rPr>
              <a:t>Allselected</a:t>
            </a:r>
            <a:r>
              <a:rPr lang="zh-CN" altLang="en-US" sz="2400" b="1" dirty="0">
                <a:solidFill>
                  <a:schemeClr val="bg1"/>
                </a:solidFill>
              </a:rPr>
              <a:t>（表或列）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244B99-B378-4E34-8D2B-759077D77DCB}"/>
              </a:ext>
            </a:extLst>
          </p:cNvPr>
          <p:cNvSpPr txBox="1"/>
          <p:nvPr/>
        </p:nvSpPr>
        <p:spPr>
          <a:xfrm>
            <a:off x="27068" y="1737914"/>
            <a:ext cx="900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用途：统计直观合计，即清除所显示的筛选条件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D74431-464E-4E3C-AE1F-98CB366D7A2F}"/>
              </a:ext>
            </a:extLst>
          </p:cNvPr>
          <p:cNvSpPr txBox="1"/>
          <p:nvPr/>
        </p:nvSpPr>
        <p:spPr>
          <a:xfrm>
            <a:off x="430611" y="2790033"/>
            <a:ext cx="8640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</a:rPr>
              <a:t>在实践中，我们可能不会经常用到这个函数，但是你真的有需求时，没有可以代替它的函数。</a:t>
            </a:r>
          </a:p>
        </p:txBody>
      </p:sp>
    </p:spTree>
    <p:extLst>
      <p:ext uri="{BB962C8B-B14F-4D97-AF65-F5344CB8AC3E}">
        <p14:creationId xmlns:p14="http://schemas.microsoft.com/office/powerpoint/2010/main" val="286649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无&quot;,&quot;HeaderHeight&quot;:0.0,&quot;FooterHeight&quot;:0.0,&quot;SideMargin&quot;:0.0,&quot;TopMargin&quot;:0.0,&quot;BottomMargin&quot;:0.0,&quot;IntervalMargin&quot;:0.0,&quot;SettingType&quot;:&quot;System&quot;}"/>
</p:tagLst>
</file>

<file path=ppt/theme/theme1.xml><?xml version="1.0" encoding="utf-8"?>
<a:theme xmlns:a="http://schemas.openxmlformats.org/drawingml/2006/main" name="Office Theme">
  <a:themeElements>
    <a:clrScheme name="x2m0mzta">
      <a:dk1>
        <a:srgbClr val="000000"/>
      </a:dk1>
      <a:lt1>
        <a:srgbClr val="FFFFFF"/>
      </a:lt1>
      <a:dk2>
        <a:srgbClr val="FAB220"/>
      </a:dk2>
      <a:lt2>
        <a:srgbClr val="FA7901"/>
      </a:lt2>
      <a:accent1>
        <a:srgbClr val="CB2332"/>
      </a:accent1>
      <a:accent2>
        <a:srgbClr val="A6325B"/>
      </a:accent2>
      <a:accent3>
        <a:srgbClr val="0B4366"/>
      </a:accent3>
      <a:accent4>
        <a:srgbClr val="21A0D3"/>
      </a:accent4>
      <a:accent5>
        <a:srgbClr val="3CC5D1"/>
      </a:accent5>
      <a:accent6>
        <a:srgbClr val="4CC9A9"/>
      </a:accent6>
      <a:hlink>
        <a:srgbClr val="3B424C"/>
      </a:hlink>
      <a:folHlink>
        <a:srgbClr val="1C171E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cap="rnd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ctr">
          <a:defRPr sz="4800" b="1" dirty="0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5903</TotalTime>
  <Words>222</Words>
  <Application>Microsoft Office PowerPoint</Application>
  <PresentationFormat>全屏显示(16:9)</PresentationFormat>
  <Paragraphs>24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pptmall.net</dc:title>
  <dc:creator>pptmall.net</dc:creator>
  <cp:lastModifiedBy>孙艺航</cp:lastModifiedBy>
  <cp:revision>1086</cp:revision>
  <dcterms:created xsi:type="dcterms:W3CDTF">2014-02-28T09:23:05Z</dcterms:created>
  <dcterms:modified xsi:type="dcterms:W3CDTF">2020-03-14T12:30:29Z</dcterms:modified>
</cp:coreProperties>
</file>