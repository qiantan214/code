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93" r:id="rId2"/>
    <p:sldId id="388" r:id="rId3"/>
    <p:sldId id="389" r:id="rId4"/>
    <p:sldId id="390" r:id="rId5"/>
    <p:sldId id="391" r:id="rId6"/>
    <p:sldId id="392" r:id="rId7"/>
    <p:sldId id="394" r:id="rId8"/>
    <p:sldId id="395" r:id="rId9"/>
    <p:sldId id="396" r:id="rId10"/>
    <p:sldId id="397" r:id="rId11"/>
  </p:sldIdLst>
  <p:sldSz cx="9144000" cy="5143500" type="screen16x9"/>
  <p:notesSz cx="6858000" cy="9144000"/>
  <p:custDataLst>
    <p:tags r:id="rId14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C5C5C5"/>
    <a:srgbClr val="192834"/>
    <a:srgbClr val="8E78F4"/>
    <a:srgbClr val="FBE9EC"/>
    <a:srgbClr val="FEE4F6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4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20" y="120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BEB837-76B6-48B8-97F1-53B7D4163740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47C394-0283-40F2-A75A-1BDCDAB31F26}"/>
              </a:ext>
            </a:extLst>
          </p:cNvPr>
          <p:cNvSpPr txBox="1"/>
          <p:nvPr/>
        </p:nvSpPr>
        <p:spPr>
          <a:xfrm>
            <a:off x="755576" y="411510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思考：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986C90-005D-48B9-9055-AA16CADF02CB}"/>
              </a:ext>
            </a:extLst>
          </p:cNvPr>
          <p:cNvSpPr txBox="1"/>
          <p:nvPr/>
        </p:nvSpPr>
        <p:spPr>
          <a:xfrm>
            <a:off x="1259632" y="915566"/>
            <a:ext cx="756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      </a:t>
            </a:r>
            <a:r>
              <a:rPr lang="zh-CN" altLang="en-US" sz="1600" b="1" dirty="0">
                <a:solidFill>
                  <a:schemeClr val="bg1"/>
                </a:solidFill>
              </a:rPr>
              <a:t>你新到一个城市两眼一摸黑，哪都不认识。你向我问路，我告诉你向东</a:t>
            </a:r>
            <a:r>
              <a:rPr lang="en-US" altLang="zh-CN" sz="1600" b="1" dirty="0">
                <a:solidFill>
                  <a:schemeClr val="bg1"/>
                </a:solidFill>
              </a:rPr>
              <a:t>100</a:t>
            </a:r>
            <a:r>
              <a:rPr lang="zh-CN" altLang="en-US" sz="1600" b="1" dirty="0">
                <a:solidFill>
                  <a:schemeClr val="bg1"/>
                </a:solidFill>
              </a:rPr>
              <a:t>米，见十字路口向西</a:t>
            </a:r>
            <a:r>
              <a:rPr lang="en-US" altLang="zh-CN" sz="1600" b="1" dirty="0">
                <a:solidFill>
                  <a:schemeClr val="bg1"/>
                </a:solidFill>
              </a:rPr>
              <a:t>50</a:t>
            </a:r>
            <a:r>
              <a:rPr lang="zh-CN" altLang="en-US" sz="1600" b="1" dirty="0">
                <a:solidFill>
                  <a:schemeClr val="bg1"/>
                </a:solidFill>
              </a:rPr>
              <a:t>米，左转，看到</a:t>
            </a:r>
            <a:r>
              <a:rPr lang="en-US" altLang="zh-CN" sz="1600" b="1" dirty="0">
                <a:solidFill>
                  <a:schemeClr val="bg1"/>
                </a:solidFill>
              </a:rPr>
              <a:t>XXX</a:t>
            </a:r>
            <a:r>
              <a:rPr lang="zh-CN" altLang="en-US" sz="1600" b="1" dirty="0">
                <a:solidFill>
                  <a:schemeClr val="bg1"/>
                </a:solidFill>
              </a:rPr>
              <a:t>后向北</a:t>
            </a:r>
            <a:r>
              <a:rPr lang="en-US" altLang="zh-CN" sz="1600" b="1" dirty="0">
                <a:solidFill>
                  <a:schemeClr val="bg1"/>
                </a:solidFill>
              </a:rPr>
              <a:t>100</a:t>
            </a:r>
            <a:r>
              <a:rPr lang="zh-CN" altLang="en-US" sz="1600" b="1" dirty="0">
                <a:solidFill>
                  <a:schemeClr val="bg1"/>
                </a:solidFill>
              </a:rPr>
              <a:t>米就到了。 （</a:t>
            </a:r>
            <a:r>
              <a:rPr lang="zh-CN" altLang="en-US" sz="1600" b="1" dirty="0">
                <a:solidFill>
                  <a:srgbClr val="FF0000"/>
                </a:solidFill>
              </a:rPr>
              <a:t>阴天或是正好中午，手机上没有指南针程序你也没有指南针</a:t>
            </a:r>
            <a:r>
              <a:rPr lang="zh-CN" altLang="en-US" sz="1600" b="1" dirty="0">
                <a:solidFill>
                  <a:schemeClr val="bg1"/>
                </a:solidFill>
              </a:rPr>
              <a:t>），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5A0AE6-639D-4292-A66B-822501D4A2A6}"/>
              </a:ext>
            </a:extLst>
          </p:cNvPr>
          <p:cNvSpPr txBox="1"/>
          <p:nvPr/>
        </p:nvSpPr>
        <p:spPr>
          <a:xfrm>
            <a:off x="1331640" y="2279362"/>
            <a:ext cx="7560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      </a:t>
            </a:r>
            <a:r>
              <a:rPr lang="zh-CN" altLang="en-US" sz="1600" b="1" dirty="0">
                <a:solidFill>
                  <a:schemeClr val="bg1"/>
                </a:solidFill>
              </a:rPr>
              <a:t>如果我告诉你，向前，向后，向左，向右，是不是更明白一些？</a:t>
            </a:r>
          </a:p>
        </p:txBody>
      </p:sp>
    </p:spTree>
    <p:extLst>
      <p:ext uri="{BB962C8B-B14F-4D97-AF65-F5344CB8AC3E}">
        <p14:creationId xmlns:p14="http://schemas.microsoft.com/office/powerpoint/2010/main" val="107846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6B3C8B-22A3-49B7-BF8C-B48D9F74CA84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B6AFC1-D537-42AE-A6BF-62C0AC4F08DB}"/>
              </a:ext>
            </a:extLst>
          </p:cNvPr>
          <p:cNvSpPr txBox="1"/>
          <p:nvPr/>
        </p:nvSpPr>
        <p:spPr>
          <a:xfrm>
            <a:off x="467544" y="267494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什么是上下文</a:t>
            </a:r>
            <a:r>
              <a:rPr lang="zh-CN" altLang="en-US" sz="2400" b="1" dirty="0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065B7B-8D25-4064-A52F-1A30E4FDBD45}"/>
              </a:ext>
            </a:extLst>
          </p:cNvPr>
          <p:cNvSpPr txBox="1"/>
          <p:nvPr/>
        </p:nvSpPr>
        <p:spPr>
          <a:xfrm>
            <a:off x="683568" y="1059582"/>
            <a:ext cx="799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BI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中，表是由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行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构成的，我们的上下文也分为两种：</a:t>
            </a: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筛选上下文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行上下文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DC25B184-8544-41EA-AF52-E9BEF45CF3E1}"/>
              </a:ext>
            </a:extLst>
          </p:cNvPr>
          <p:cNvSpPr/>
          <p:nvPr/>
        </p:nvSpPr>
        <p:spPr>
          <a:xfrm>
            <a:off x="4139952" y="1982912"/>
            <a:ext cx="216024" cy="444822"/>
          </a:xfrm>
          <a:prstGeom prst="downArrow">
            <a:avLst/>
          </a:prstGeom>
          <a:solidFill>
            <a:schemeClr val="bg1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97106C43-C482-430C-B187-E745C1C96A88}"/>
              </a:ext>
            </a:extLst>
          </p:cNvPr>
          <p:cNvSpPr/>
          <p:nvPr/>
        </p:nvSpPr>
        <p:spPr>
          <a:xfrm>
            <a:off x="5292080" y="1982912"/>
            <a:ext cx="216024" cy="444822"/>
          </a:xfrm>
          <a:prstGeom prst="downArrow">
            <a:avLst/>
          </a:prstGeom>
          <a:solidFill>
            <a:schemeClr val="bg1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2C7B3C-2C87-45CD-A28C-B2A72A366FF5}"/>
              </a:ext>
            </a:extLst>
          </p:cNvPr>
          <p:cNvSpPr txBox="1"/>
          <p:nvPr/>
        </p:nvSpPr>
        <p:spPr>
          <a:xfrm>
            <a:off x="4040215" y="257175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88B756-B6C1-47CE-A4B3-DB30BEE4D5C7}"/>
              </a:ext>
            </a:extLst>
          </p:cNvPr>
          <p:cNvSpPr txBox="1"/>
          <p:nvPr/>
        </p:nvSpPr>
        <p:spPr>
          <a:xfrm>
            <a:off x="5192344" y="257175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718337-FA59-4E04-8488-FABE4F62BAE1}"/>
              </a:ext>
            </a:extLst>
          </p:cNvPr>
          <p:cNvSpPr txBox="1"/>
          <p:nvPr/>
        </p:nvSpPr>
        <p:spPr>
          <a:xfrm>
            <a:off x="1331640" y="3507854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我们之前接触的都是：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74F2A-1C1D-484F-95D1-86F28C5146C2}"/>
              </a:ext>
            </a:extLst>
          </p:cNvPr>
          <p:cNvSpPr txBox="1"/>
          <p:nvPr/>
        </p:nvSpPr>
        <p:spPr>
          <a:xfrm>
            <a:off x="4716016" y="3507853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B050"/>
                </a:solidFill>
              </a:rPr>
              <a:t>筛选上下文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3972C3-702F-4363-8239-5CCA2C25C3B2}"/>
              </a:ext>
            </a:extLst>
          </p:cNvPr>
          <p:cNvSpPr txBox="1"/>
          <p:nvPr/>
        </p:nvSpPr>
        <p:spPr>
          <a:xfrm>
            <a:off x="1360488" y="4004359"/>
            <a:ext cx="6091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提到“筛选条件”就是筛选上下文</a:t>
            </a:r>
          </a:p>
        </p:txBody>
      </p:sp>
    </p:spTree>
    <p:extLst>
      <p:ext uri="{BB962C8B-B14F-4D97-AF65-F5344CB8AC3E}">
        <p14:creationId xmlns:p14="http://schemas.microsoft.com/office/powerpoint/2010/main" val="172352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69825C-4364-44D5-9BA4-F1B9707AD18A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D0B8A2-F287-4083-B8DD-D0225148FE4F}"/>
              </a:ext>
            </a:extLst>
          </p:cNvPr>
          <p:cNvSpPr txBox="1"/>
          <p:nvPr/>
        </p:nvSpPr>
        <p:spPr>
          <a:xfrm>
            <a:off x="467544" y="267494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什么是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行上下文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950DD2-01CA-4055-A198-C39FE761AB75}"/>
              </a:ext>
            </a:extLst>
          </p:cNvPr>
          <p:cNvSpPr txBox="1"/>
          <p:nvPr/>
        </p:nvSpPr>
        <p:spPr>
          <a:xfrm>
            <a:off x="1259632" y="1059582"/>
            <a:ext cx="5472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翻译成中国话：就是当前所在行！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F2CA42-8070-41B4-82D4-F1261E6EEF44}"/>
              </a:ext>
            </a:extLst>
          </p:cNvPr>
          <p:cNvSpPr txBox="1"/>
          <p:nvPr/>
        </p:nvSpPr>
        <p:spPr>
          <a:xfrm>
            <a:off x="1494056" y="2135642"/>
            <a:ext cx="5272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例如：新建列，公式</a:t>
            </a:r>
            <a:r>
              <a:rPr lang="en-US" altLang="zh-CN" sz="2400" b="1" dirty="0">
                <a:solidFill>
                  <a:schemeClr val="bg1"/>
                </a:solidFill>
              </a:rPr>
              <a:t>=[</a:t>
            </a:r>
            <a:r>
              <a:rPr lang="zh-CN" altLang="en-US" sz="2400" b="1" dirty="0">
                <a:solidFill>
                  <a:schemeClr val="bg1"/>
                </a:solidFill>
              </a:rPr>
              <a:t>销售数量</a:t>
            </a:r>
            <a:r>
              <a:rPr lang="en-US" altLang="zh-CN" sz="2400" b="1" dirty="0">
                <a:solidFill>
                  <a:schemeClr val="bg1"/>
                </a:solidFill>
              </a:rPr>
              <a:t>]+10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BE0619-FBBA-4D55-84ED-DFCBF631C928}"/>
              </a:ext>
            </a:extLst>
          </p:cNvPr>
          <p:cNvSpPr txBox="1"/>
          <p:nvPr/>
        </p:nvSpPr>
        <p:spPr>
          <a:xfrm>
            <a:off x="1007206" y="3075806"/>
            <a:ext cx="6246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当前所在行，将每一行的销售数量都加上</a:t>
            </a:r>
            <a:r>
              <a:rPr lang="en-US" altLang="zh-CN" sz="2400" b="1" dirty="0">
                <a:solidFill>
                  <a:schemeClr val="bg1"/>
                </a:solidFill>
              </a:rPr>
              <a:t>10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5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02B512-FD36-4672-9A60-CD32B6BC0E3B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F61E8F-E48B-49DB-80B7-BEAB14607979}"/>
              </a:ext>
            </a:extLst>
          </p:cNvPr>
          <p:cNvSpPr txBox="1"/>
          <p:nvPr/>
        </p:nvSpPr>
        <p:spPr>
          <a:xfrm>
            <a:off x="323528" y="411510"/>
            <a:ext cx="806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我们把每节课都用到的度量值放在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新建列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试试：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21F3821-D58C-4F68-B566-E4C6D4EB6162}"/>
              </a:ext>
            </a:extLst>
          </p:cNvPr>
          <p:cNvSpPr txBox="1"/>
          <p:nvPr/>
        </p:nvSpPr>
        <p:spPr>
          <a:xfrm>
            <a:off x="1259632" y="120359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销售总量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SUM('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销售明细表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销量数量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3CBE39-08FE-481A-BCCE-413BB6C98780}"/>
              </a:ext>
            </a:extLst>
          </p:cNvPr>
          <p:cNvSpPr txBox="1"/>
          <p:nvPr/>
        </p:nvSpPr>
        <p:spPr>
          <a:xfrm>
            <a:off x="971600" y="2139702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b="1" dirty="0">
                <a:solidFill>
                  <a:srgbClr val="FF0000"/>
                </a:solidFill>
              </a:rPr>
              <a:t>行上下文</a:t>
            </a:r>
            <a:r>
              <a:rPr lang="zh-CN" altLang="en-US" b="1" dirty="0">
                <a:solidFill>
                  <a:schemeClr val="bg1"/>
                </a:solidFill>
              </a:rPr>
              <a:t>是</a:t>
            </a:r>
            <a:r>
              <a:rPr lang="zh-CN" altLang="en-US" b="1" dirty="0">
                <a:solidFill>
                  <a:srgbClr val="FF0000"/>
                </a:solidFill>
              </a:rPr>
              <a:t>商品表</a:t>
            </a:r>
            <a:r>
              <a:rPr lang="zh-CN" altLang="en-US" b="1" dirty="0">
                <a:solidFill>
                  <a:schemeClr val="bg1"/>
                </a:solidFill>
              </a:rPr>
              <a:t>中的</a:t>
            </a:r>
            <a:r>
              <a:rPr lang="zh-CN" altLang="en-US" b="1" dirty="0">
                <a:solidFill>
                  <a:srgbClr val="FF0000"/>
                </a:solidFill>
              </a:rPr>
              <a:t>当前行</a:t>
            </a:r>
            <a:r>
              <a:rPr lang="zh-CN" altLang="en-US" b="1" dirty="0">
                <a:solidFill>
                  <a:schemeClr val="bg1"/>
                </a:solidFill>
              </a:rPr>
              <a:t>，而</a:t>
            </a:r>
            <a:r>
              <a:rPr lang="zh-CN" altLang="en-US" b="1" dirty="0">
                <a:solidFill>
                  <a:srgbClr val="FF0000"/>
                </a:solidFill>
              </a:rPr>
              <a:t>销售总量</a:t>
            </a:r>
            <a:r>
              <a:rPr lang="zh-CN" altLang="en-US" b="1" dirty="0">
                <a:solidFill>
                  <a:schemeClr val="bg1"/>
                </a:solidFill>
              </a:rPr>
              <a:t>是</a:t>
            </a:r>
            <a:r>
              <a:rPr lang="zh-CN" altLang="en-US" b="1" dirty="0">
                <a:solidFill>
                  <a:srgbClr val="FF0000"/>
                </a:solidFill>
              </a:rPr>
              <a:t>销售明细表</a:t>
            </a:r>
            <a:r>
              <a:rPr lang="zh-CN" altLang="en-US" b="1" dirty="0">
                <a:solidFill>
                  <a:schemeClr val="bg1"/>
                </a:solidFill>
              </a:rPr>
              <a:t>中的</a:t>
            </a:r>
            <a:r>
              <a:rPr lang="zh-CN" altLang="en-US" b="1" dirty="0">
                <a:solidFill>
                  <a:srgbClr val="FF0000"/>
                </a:solidFill>
              </a:rPr>
              <a:t>销售数量那一列的总计</a:t>
            </a:r>
            <a:r>
              <a:rPr lang="zh-CN" altLang="en-US" b="1" dirty="0">
                <a:solidFill>
                  <a:schemeClr val="bg1"/>
                </a:solidFill>
              </a:rPr>
              <a:t>。它是两张表。</a:t>
            </a:r>
            <a:r>
              <a:rPr lang="zh-CN" altLang="en-US" b="1" dirty="0">
                <a:solidFill>
                  <a:srgbClr val="00B0F0"/>
                </a:solidFill>
              </a:rPr>
              <a:t>总结：</a:t>
            </a:r>
            <a:r>
              <a:rPr lang="zh-CN" altLang="en-US" b="1" dirty="0">
                <a:solidFill>
                  <a:schemeClr val="bg1"/>
                </a:solidFill>
              </a:rPr>
              <a:t>商品表的行上下文不影响销售明细表输出的销售数量合计的结果，所以这一列都是一个数字。回到模型中看一下商品表和销售明细表的关系是一对多。那为什么没有算出每个商品应有的销售数量呢？我们建立模型了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27F096-B956-4487-BD17-03FE454625B8}"/>
              </a:ext>
            </a:extLst>
          </p:cNvPr>
          <p:cNvSpPr txBox="1"/>
          <p:nvPr/>
        </p:nvSpPr>
        <p:spPr>
          <a:xfrm>
            <a:off x="971600" y="3860636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行上下文本身没有筛选功能，要达到筛选这个目的，必需借助我们的</a:t>
            </a:r>
            <a:r>
              <a:rPr lang="zh-CN" alt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引擎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</a:t>
            </a:r>
            <a:endParaRPr lang="en-US" altLang="zh-C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352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145E7D-DC1B-4C50-8F52-D96C4F94EE3E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1BC77C-CDED-485E-A42C-4E530EC2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39992"/>
            <a:ext cx="4213901" cy="4375974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FD19F7B-4480-4387-A57D-A90265C75C4A}"/>
              </a:ext>
            </a:extLst>
          </p:cNvPr>
          <p:cNvCxnSpPr/>
          <p:nvPr/>
        </p:nvCxnSpPr>
        <p:spPr>
          <a:xfrm>
            <a:off x="1331640" y="771550"/>
            <a:ext cx="360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791BC80-2986-40ED-A75B-D9CAFC4843BB}"/>
              </a:ext>
            </a:extLst>
          </p:cNvPr>
          <p:cNvSpPr txBox="1"/>
          <p:nvPr/>
        </p:nvSpPr>
        <p:spPr>
          <a:xfrm>
            <a:off x="5076056" y="586884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它的行上下文是当前所在行</a:t>
            </a:r>
          </a:p>
        </p:txBody>
      </p:sp>
      <p:sp>
        <p:nvSpPr>
          <p:cNvPr id="7" name="箭头: 圆角右 6">
            <a:extLst>
              <a:ext uri="{FF2B5EF4-FFF2-40B4-BE49-F238E27FC236}">
                <a16:creationId xmlns:a16="http://schemas.microsoft.com/office/drawing/2014/main" id="{2F334455-6A19-4368-8450-8F03F477677A}"/>
              </a:ext>
            </a:extLst>
          </p:cNvPr>
          <p:cNvSpPr/>
          <p:nvPr/>
        </p:nvSpPr>
        <p:spPr>
          <a:xfrm>
            <a:off x="3779912" y="267508"/>
            <a:ext cx="1152128" cy="216010"/>
          </a:xfrm>
          <a:prstGeom prst="bent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27C021-8E71-402A-9770-2EBCFDC92FD6}"/>
              </a:ext>
            </a:extLst>
          </p:cNvPr>
          <p:cNvSpPr txBox="1"/>
          <p:nvPr/>
        </p:nvSpPr>
        <p:spPr>
          <a:xfrm>
            <a:off x="5148064" y="114186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计算销售明细表中数量的</a:t>
            </a:r>
            <a:r>
              <a:rPr lang="zh-CN" altLang="en-US" b="1" dirty="0">
                <a:solidFill>
                  <a:srgbClr val="FF0000"/>
                </a:solidFill>
              </a:rPr>
              <a:t>总和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4D6D58-30D2-4593-AE2B-9EE7734526DB}"/>
              </a:ext>
            </a:extLst>
          </p:cNvPr>
          <p:cNvSpPr txBox="1"/>
          <p:nvPr/>
        </p:nvSpPr>
        <p:spPr>
          <a:xfrm>
            <a:off x="4932040" y="2211710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      所以：行上下文不会自动转换成筛选上下文。</a:t>
            </a:r>
          </a:p>
        </p:txBody>
      </p:sp>
    </p:spTree>
    <p:extLst>
      <p:ext uri="{BB962C8B-B14F-4D97-AF65-F5344CB8AC3E}">
        <p14:creationId xmlns:p14="http://schemas.microsoft.com/office/powerpoint/2010/main" val="326666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C7D240-D3A1-4C6A-A094-7ED6BD10A7E5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8A10BC-B1CD-4A9D-BDD9-9BDFAE27F62D}"/>
              </a:ext>
            </a:extLst>
          </p:cNvPr>
          <p:cNvSpPr txBox="1"/>
          <p:nvPr/>
        </p:nvSpPr>
        <p:spPr>
          <a:xfrm>
            <a:off x="683568" y="483518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借助我们的</a:t>
            </a:r>
            <a:r>
              <a:rPr lang="zh-CN" alt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引擎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FC9A1-A054-4DD2-A53A-27FC4034545E}"/>
              </a:ext>
            </a:extLst>
          </p:cNvPr>
          <p:cNvSpPr txBox="1"/>
          <p:nvPr/>
        </p:nvSpPr>
        <p:spPr>
          <a:xfrm>
            <a:off x="251520" y="1203598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新销售总量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SUM('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销售明细表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销量数量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</a:t>
            </a:r>
            <a:r>
              <a:rPr lang="en-US" altLang="zh-CN" sz="24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8636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6B3C8B-22A3-49B7-BF8C-B48D9F74CA84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2AE748-05C2-4A94-B6A3-C66450C4A46F}"/>
              </a:ext>
            </a:extLst>
          </p:cNvPr>
          <p:cNvSpPr txBox="1"/>
          <p:nvPr/>
        </p:nvSpPr>
        <p:spPr>
          <a:xfrm>
            <a:off x="683568" y="555526"/>
            <a:ext cx="8136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需求：每一天果汁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销售量大于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杯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zh-CN" altLang="en-US" sz="2400" b="1" dirty="0">
                <a:solidFill>
                  <a:srgbClr val="8E78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门店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E40976-AC17-47B1-BB59-E6D1F09D3CCD}"/>
              </a:ext>
            </a:extLst>
          </p:cNvPr>
          <p:cNvSpPr txBox="1"/>
          <p:nvPr/>
        </p:nvSpPr>
        <p:spPr>
          <a:xfrm>
            <a:off x="539552" y="1203598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如果你有销售量这个列，那就什么都不说了</a:t>
            </a:r>
            <a:r>
              <a:rPr lang="zh-CN" alt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！</a:t>
            </a:r>
            <a:r>
              <a:rPr lang="en-US" altLang="zh-C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@#</a:t>
            </a:r>
            <a:r>
              <a:rPr lang="zh-CN" alt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￥</a:t>
            </a:r>
            <a:r>
              <a:rPr lang="en-US" altLang="zh-C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%……</a:t>
            </a:r>
            <a:endParaRPr lang="zh-CN" alt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B8B525-5216-496F-AB86-1A424AF8781D}"/>
              </a:ext>
            </a:extLst>
          </p:cNvPr>
          <p:cNvSpPr txBox="1"/>
          <p:nvPr/>
        </p:nvSpPr>
        <p:spPr>
          <a:xfrm>
            <a:off x="611560" y="1759337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[</a:t>
            </a:r>
            <a:r>
              <a:rPr lang="zh-CN" altLang="en-US" b="1" dirty="0">
                <a:solidFill>
                  <a:schemeClr val="bg1"/>
                </a:solidFill>
              </a:rPr>
              <a:t>度量值</a:t>
            </a:r>
            <a:r>
              <a:rPr lang="en-US" altLang="zh-CN" b="1" dirty="0">
                <a:solidFill>
                  <a:schemeClr val="bg1"/>
                </a:solidFill>
              </a:rPr>
              <a:t>] &gt; </a:t>
            </a:r>
            <a:r>
              <a:rPr lang="zh-CN" altLang="en-US" b="1" dirty="0">
                <a:solidFill>
                  <a:schemeClr val="bg1"/>
                </a:solidFill>
              </a:rPr>
              <a:t>固定值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7A9BFE-C7F7-4DFC-94E9-AAF6FDAB8390}"/>
              </a:ext>
            </a:extLst>
          </p:cNvPr>
          <p:cNvSpPr txBox="1"/>
          <p:nvPr/>
        </p:nvSpPr>
        <p:spPr>
          <a:xfrm>
            <a:off x="683568" y="2548663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= CALCULATE([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],FILTER('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店名表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',[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]&gt;100 ))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B5F7B8-D874-4857-85A3-CA3AECEBA245}"/>
              </a:ext>
            </a:extLst>
          </p:cNvPr>
          <p:cNvSpPr txBox="1"/>
          <p:nvPr/>
        </p:nvSpPr>
        <p:spPr>
          <a:xfrm>
            <a:off x="683568" y="3138522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初始筛选条件：每一天，门店</a:t>
            </a: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059EF2-4CAE-49A1-BEA4-0DAA4C264C87}"/>
              </a:ext>
            </a:extLst>
          </p:cNvPr>
          <p:cNvSpPr txBox="1"/>
          <p:nvPr/>
        </p:nvSpPr>
        <p:spPr>
          <a:xfrm>
            <a:off x="628328" y="3852270"/>
            <a:ext cx="8136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= CALCULATE([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],FILTER(‘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店名表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‘,</a:t>
            </a:r>
            <a:r>
              <a:rPr lang="en-US" altLang="zh-CN" sz="1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sum('</a:t>
            </a:r>
            <a:r>
              <a:rPr lang="zh-CN" altLang="en-US" sz="1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销售明细表</a:t>
            </a:r>
            <a:r>
              <a:rPr lang="en-US" altLang="zh-CN" sz="1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 [</a:t>
            </a:r>
            <a:r>
              <a:rPr lang="zh-CN" altLang="en-US" sz="1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sz="1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])&gt;100 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))</a:t>
            </a:r>
          </a:p>
        </p:txBody>
      </p:sp>
      <p:sp>
        <p:nvSpPr>
          <p:cNvPr id="9" name="闪电形 8">
            <a:extLst>
              <a:ext uri="{FF2B5EF4-FFF2-40B4-BE49-F238E27FC236}">
                <a16:creationId xmlns:a16="http://schemas.microsoft.com/office/drawing/2014/main" id="{EBD1560B-3D55-4155-8701-7E3642092CAE}"/>
              </a:ext>
            </a:extLst>
          </p:cNvPr>
          <p:cNvSpPr/>
          <p:nvPr/>
        </p:nvSpPr>
        <p:spPr>
          <a:xfrm>
            <a:off x="6228184" y="3630729"/>
            <a:ext cx="576064" cy="720080"/>
          </a:xfrm>
          <a:prstGeom prst="lightningBol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946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86FCEA-7B8A-4761-A305-4312019C047D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14543D-FAEB-4C2F-9C87-D0BE2DED5A9D}"/>
              </a:ext>
            </a:extLst>
          </p:cNvPr>
          <p:cNvSpPr/>
          <p:nvPr/>
        </p:nvSpPr>
        <p:spPr>
          <a:xfrm>
            <a:off x="683568" y="339502"/>
            <a:ext cx="3372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函数是行上下文函数：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8BF546-41BE-4547-9000-E0E541BE695C}"/>
              </a:ext>
            </a:extLst>
          </p:cNvPr>
          <p:cNvSpPr txBox="1"/>
          <p:nvPr/>
        </p:nvSpPr>
        <p:spPr>
          <a:xfrm>
            <a:off x="971600" y="987574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b="1" dirty="0">
                <a:solidFill>
                  <a:srgbClr val="FF0000"/>
                </a:solidFill>
              </a:rPr>
              <a:t>行上下文</a:t>
            </a:r>
            <a:r>
              <a:rPr lang="zh-CN" altLang="en-US" b="1" dirty="0">
                <a:solidFill>
                  <a:srgbClr val="FEFEFE"/>
                </a:solidFill>
              </a:rPr>
              <a:t>不会自动转换成</a:t>
            </a:r>
            <a:r>
              <a:rPr lang="zh-CN" altLang="en-US" b="1" dirty="0">
                <a:solidFill>
                  <a:srgbClr val="FF0000"/>
                </a:solidFill>
              </a:rPr>
              <a:t>筛选上下文，</a:t>
            </a:r>
            <a:r>
              <a:rPr lang="zh-CN" altLang="en-US" b="1" dirty="0">
                <a:solidFill>
                  <a:srgbClr val="FEFEFE"/>
                </a:solidFill>
              </a:rPr>
              <a:t>所以公式</a:t>
            </a:r>
            <a:r>
              <a:rPr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sum(‘</a:t>
            </a:r>
            <a:r>
              <a:rPr lang="zh-CN" alt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销售明细表</a:t>
            </a:r>
            <a:r>
              <a:rPr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 [</a:t>
            </a:r>
            <a:r>
              <a:rPr lang="zh-CN" alt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])&gt;100 </a:t>
            </a:r>
            <a:r>
              <a:rPr lang="zh-CN" altLang="en-US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并没有受到行上下文的影响，它计算的是销售数量那一列的数量合计。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006A0F-B3DB-4C00-9379-A35785DC902D}"/>
              </a:ext>
            </a:extLst>
          </p:cNvPr>
          <p:cNvSpPr txBox="1"/>
          <p:nvPr/>
        </p:nvSpPr>
        <p:spPr>
          <a:xfrm>
            <a:off x="755576" y="2355726"/>
            <a:ext cx="7488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      孙兴华自己认为</a:t>
            </a:r>
            <a:r>
              <a:rPr lang="zh-CN" alt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专业人士请别喷：你们是专家，但是新手真的不容易理解。 </a:t>
            </a:r>
            <a:endParaRPr lang="en-US" altLang="zh-CN" sz="2400" b="1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36D2D4-F572-4AC8-B3A2-B59C280D7734}"/>
              </a:ext>
            </a:extLst>
          </p:cNvPr>
          <p:cNvSpPr/>
          <p:nvPr/>
        </p:nvSpPr>
        <p:spPr>
          <a:xfrm>
            <a:off x="827584" y="3380387"/>
            <a:ext cx="4314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sum(‘</a:t>
            </a:r>
            <a:r>
              <a:rPr lang="zh-CN" alt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销售明细表</a:t>
            </a:r>
            <a:r>
              <a:rPr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 [</a:t>
            </a:r>
            <a:r>
              <a:rPr lang="zh-CN" alt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])&gt;100 </a:t>
            </a:r>
            <a:endParaRPr lang="zh-CN" altLang="en-US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8B78BF5-BB2A-49F2-94DC-4EB8F7943B1C}"/>
              </a:ext>
            </a:extLst>
          </p:cNvPr>
          <p:cNvSpPr/>
          <p:nvPr/>
        </p:nvSpPr>
        <p:spPr>
          <a:xfrm>
            <a:off x="5292080" y="3435846"/>
            <a:ext cx="936104" cy="288032"/>
          </a:xfrm>
          <a:prstGeom prst="rightArrow">
            <a:avLst/>
          </a:prstGeom>
          <a:solidFill>
            <a:schemeClr val="bg1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05D702-3629-4504-80E1-C33E656DBD79}"/>
              </a:ext>
            </a:extLst>
          </p:cNvPr>
          <p:cNvSpPr txBox="1"/>
          <p:nvPr/>
        </p:nvSpPr>
        <p:spPr>
          <a:xfrm>
            <a:off x="6228184" y="3407701"/>
            <a:ext cx="2561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就好比计算列，值固定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F05A80-B433-4BB0-A0B2-6EC6DAB38F94}"/>
              </a:ext>
            </a:extLst>
          </p:cNvPr>
          <p:cNvSpPr/>
          <p:nvPr/>
        </p:nvSpPr>
        <p:spPr>
          <a:xfrm>
            <a:off x="1907704" y="4119384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销售总数量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665EE9DF-981C-4724-9060-825AAD8176F7}"/>
              </a:ext>
            </a:extLst>
          </p:cNvPr>
          <p:cNvSpPr/>
          <p:nvPr/>
        </p:nvSpPr>
        <p:spPr>
          <a:xfrm>
            <a:off x="2627784" y="3855317"/>
            <a:ext cx="288033" cy="234877"/>
          </a:xfrm>
          <a:prstGeom prst="downArrow">
            <a:avLst/>
          </a:prstGeom>
          <a:solidFill>
            <a:srgbClr val="C0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C5C43E44-1F23-404A-B0F9-CB9C91275782}"/>
              </a:ext>
            </a:extLst>
          </p:cNvPr>
          <p:cNvSpPr/>
          <p:nvPr/>
        </p:nvSpPr>
        <p:spPr>
          <a:xfrm>
            <a:off x="4031940" y="4134058"/>
            <a:ext cx="1980220" cy="288032"/>
          </a:xfrm>
          <a:prstGeom prst="rightArrow">
            <a:avLst/>
          </a:prstGeom>
          <a:solidFill>
            <a:schemeClr val="bg1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C72AEC-1AC6-4DA1-B5DB-8B9FF2AE21C9}"/>
              </a:ext>
            </a:extLst>
          </p:cNvPr>
          <p:cNvSpPr txBox="1"/>
          <p:nvPr/>
        </p:nvSpPr>
        <p:spPr>
          <a:xfrm>
            <a:off x="6276303" y="4119051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值是动态的，适应筛选</a:t>
            </a:r>
          </a:p>
        </p:txBody>
      </p:sp>
    </p:spTree>
    <p:extLst>
      <p:ext uri="{BB962C8B-B14F-4D97-AF65-F5344CB8AC3E}">
        <p14:creationId xmlns:p14="http://schemas.microsoft.com/office/powerpoint/2010/main" val="344436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263787-46A4-4746-807E-302C4ADD3FE6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4FCC39-0EE3-46E9-B4BD-00A0E678FA77}"/>
              </a:ext>
            </a:extLst>
          </p:cNvPr>
          <p:cNvSpPr txBox="1"/>
          <p:nvPr/>
        </p:nvSpPr>
        <p:spPr>
          <a:xfrm>
            <a:off x="971600" y="483518"/>
            <a:ext cx="1584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切记：</a:t>
            </a:r>
            <a:endParaRPr lang="en-US" altLang="zh-CN" sz="48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659C0B-05E7-4D13-B393-154A504FB988}"/>
              </a:ext>
            </a:extLst>
          </p:cNvPr>
          <p:cNvSpPr txBox="1"/>
          <p:nvPr/>
        </p:nvSpPr>
        <p:spPr>
          <a:xfrm>
            <a:off x="1259632" y="1314515"/>
            <a:ext cx="72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度量值都自带</a:t>
            </a:r>
            <a:r>
              <a:rPr lang="en-US" altLang="zh-CN" sz="2000" b="1" dirty="0">
                <a:solidFill>
                  <a:schemeClr val="bg1"/>
                </a:solidFill>
              </a:rPr>
              <a:t>Calculate</a:t>
            </a:r>
            <a:r>
              <a:rPr lang="zh-CN" altLang="en-US" sz="2000" b="1" dirty="0">
                <a:solidFill>
                  <a:schemeClr val="bg1"/>
                </a:solidFill>
              </a:rPr>
              <a:t>函数的功能！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973665-0215-4FAB-BC03-C24E91A9226A}"/>
              </a:ext>
            </a:extLst>
          </p:cNvPr>
          <p:cNvSpPr txBox="1"/>
          <p:nvPr/>
        </p:nvSpPr>
        <p:spPr>
          <a:xfrm>
            <a:off x="1235903" y="2123551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销售总量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SUM('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销售明细表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销量数量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459CBE-A0FA-45FC-9810-5DC6011EBEEB}"/>
              </a:ext>
            </a:extLst>
          </p:cNvPr>
          <p:cNvSpPr txBox="1"/>
          <p:nvPr/>
        </p:nvSpPr>
        <p:spPr>
          <a:xfrm>
            <a:off x="1259632" y="2763309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总金额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总毛利额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4CF4CA-5AB7-45EF-A86B-00E6879F3D48}"/>
              </a:ext>
            </a:extLst>
          </p:cNvPr>
          <p:cNvSpPr txBox="1"/>
          <p:nvPr/>
        </p:nvSpPr>
        <p:spPr>
          <a:xfrm>
            <a:off x="0" y="3784158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Calculate(SUM('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销售明细表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销量数量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))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231137-9CBC-424B-897B-3138AC40CF5D}"/>
              </a:ext>
            </a:extLst>
          </p:cNvPr>
          <p:cNvSpPr txBox="1"/>
          <p:nvPr/>
        </p:nvSpPr>
        <p:spPr>
          <a:xfrm>
            <a:off x="1259632" y="3290939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等同于</a:t>
            </a:r>
            <a:endParaRPr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046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D4822E-56A0-4C9C-A55B-C221D2C827AD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BE4343-0DC0-4FF6-8E7F-CF3522A4250F}"/>
              </a:ext>
            </a:extLst>
          </p:cNvPr>
          <p:cNvSpPr txBox="1"/>
          <p:nvPr/>
        </p:nvSpPr>
        <p:spPr>
          <a:xfrm>
            <a:off x="971600" y="483518"/>
            <a:ext cx="1584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总结：</a:t>
            </a:r>
            <a:endParaRPr lang="en-US" altLang="zh-CN" sz="48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D97093-0E76-4F70-8110-78BC2C019B4B}"/>
              </a:ext>
            </a:extLst>
          </p:cNvPr>
          <p:cNvSpPr txBox="1"/>
          <p:nvPr/>
        </p:nvSpPr>
        <p:spPr>
          <a:xfrm>
            <a:off x="1907704" y="1635646"/>
            <a:ext cx="59766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1.</a:t>
            </a:r>
            <a:r>
              <a:rPr lang="zh-CN" altLang="en-US" sz="2000" b="1" dirty="0">
                <a:solidFill>
                  <a:schemeClr val="bg1"/>
                </a:solidFill>
              </a:rPr>
              <a:t>行上下文不会自动转换筛选上下文，要转换，必需套一个</a:t>
            </a:r>
            <a:r>
              <a:rPr lang="en-US" altLang="zh-CN" sz="2000" b="1" dirty="0">
                <a:solidFill>
                  <a:schemeClr val="bg1"/>
                </a:solidFill>
              </a:rPr>
              <a:t>Calculate</a:t>
            </a:r>
            <a:r>
              <a:rPr lang="zh-CN" altLang="en-US" sz="2000" b="1" dirty="0">
                <a:solidFill>
                  <a:schemeClr val="bg1"/>
                </a:solidFill>
              </a:rPr>
              <a:t>引擎。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endParaRPr lang="en-US" altLang="zh-CN" sz="2000" b="1" dirty="0">
              <a:solidFill>
                <a:schemeClr val="bg1"/>
              </a:solidFill>
            </a:endParaRPr>
          </a:p>
          <a:p>
            <a:r>
              <a:rPr lang="en-US" altLang="zh-CN" sz="2000" b="1" dirty="0">
                <a:solidFill>
                  <a:schemeClr val="bg1"/>
                </a:solidFill>
              </a:rPr>
              <a:t>2.</a:t>
            </a:r>
            <a:r>
              <a:rPr lang="zh-CN" altLang="en-US" sz="2000" b="1" dirty="0">
                <a:solidFill>
                  <a:schemeClr val="bg1"/>
                </a:solidFill>
              </a:rPr>
              <a:t>度量值天生就是</a:t>
            </a:r>
            <a:r>
              <a:rPr lang="en-US" altLang="zh-CN" sz="2000" b="1" dirty="0">
                <a:solidFill>
                  <a:schemeClr val="bg1"/>
                </a:solidFill>
              </a:rPr>
              <a:t>Calculate</a:t>
            </a:r>
            <a:r>
              <a:rPr lang="zh-CN" altLang="en-US" sz="2000" b="1" dirty="0">
                <a:solidFill>
                  <a:schemeClr val="bg1"/>
                </a:solidFill>
              </a:rPr>
              <a:t>函数。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9689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6078</TotalTime>
  <Words>628</Words>
  <Application>Microsoft Office PowerPoint</Application>
  <PresentationFormat>全屏显示(16:9)</PresentationFormat>
  <Paragraphs>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1139</cp:revision>
  <dcterms:created xsi:type="dcterms:W3CDTF">2014-02-28T09:23:05Z</dcterms:created>
  <dcterms:modified xsi:type="dcterms:W3CDTF">2020-03-14T12:30:52Z</dcterms:modified>
</cp:coreProperties>
</file>