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377" r:id="rId2"/>
    <p:sldId id="378" r:id="rId3"/>
  </p:sldIdLst>
  <p:sldSz cx="9144000" cy="5143500" type="screen16x9"/>
  <p:notesSz cx="6858000" cy="9144000"/>
  <p:custDataLst>
    <p:tags r:id="rId6"/>
  </p:custData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5511" userDrawn="1">
          <p15:clr>
            <a:srgbClr val="A4A3A4"/>
          </p15:clr>
        </p15:guide>
        <p15:guide id="7" pos="612" userDrawn="1">
          <p15:clr>
            <a:srgbClr val="A4A3A4"/>
          </p15:clr>
        </p15:guide>
        <p15:guide id="8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78F4"/>
    <a:srgbClr val="C5C5C5"/>
    <a:srgbClr val="192834"/>
    <a:srgbClr val="FBE9EC"/>
    <a:srgbClr val="FEE4F6"/>
    <a:srgbClr val="FEFEFE"/>
    <a:srgbClr val="D5DBDE"/>
    <a:srgbClr val="DDE5ED"/>
    <a:srgbClr val="C6D0D6"/>
    <a:srgbClr val="D6DF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11" autoAdjust="0"/>
    <p:restoredTop sz="95013" autoAdjust="0"/>
  </p:normalViewPr>
  <p:slideViewPr>
    <p:cSldViewPr>
      <p:cViewPr varScale="1">
        <p:scale>
          <a:sx n="150" d="100"/>
          <a:sy n="150" d="100"/>
        </p:scale>
        <p:origin x="432" y="120"/>
      </p:cViewPr>
      <p:guideLst>
        <p:guide pos="5511"/>
        <p:guide pos="612"/>
        <p:guide orient="horz" pos="1620"/>
      </p:guideLst>
    </p:cSldViewPr>
  </p:slideViewPr>
  <p:outlineViewPr>
    <p:cViewPr>
      <p:scale>
        <a:sx n="33" d="100"/>
        <a:sy n="33" d="100"/>
      </p:scale>
      <p:origin x="0" y="-440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136"/>
    </p:cViewPr>
  </p:sorterViewPr>
  <p:notesViewPr>
    <p:cSldViewPr showGuides="1">
      <p:cViewPr varScale="1">
        <p:scale>
          <a:sx n="120" d="100"/>
          <a:sy n="120" d="100"/>
        </p:scale>
        <p:origin x="3834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C304B3-FA9F-49C1-859E-2458D1B84048}" type="datetimeFigureOut">
              <a:rPr lang="zh-CN" altLang="en-US" smtClean="0"/>
              <a:t>2020/3/14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B05DBC-4E0E-43E3-A060-4938178F15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58614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4EB415-5FD7-4318-806E-930189874889}" type="datetimeFigureOut">
              <a:rPr lang="zh-CN" altLang="en-US" smtClean="0"/>
              <a:t>2020/3/14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2A4CF9-9236-450D-BC13-91858061C6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6472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色有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2332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ko-KR" altLang="en-US" dirty="0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57200" y="4803998"/>
            <a:ext cx="1217000" cy="246221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spcBef>
                <a:spcPct val="0"/>
              </a:spcBef>
              <a:buNone/>
              <a:defRPr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lvl="0"/>
            <a:r>
              <a:rPr lang="en-US" altLang="zh-CN" sz="1000" dirty="0">
                <a:solidFill>
                  <a:schemeClr val="bg1">
                    <a:lumMod val="75000"/>
                  </a:schemeClr>
                </a:solidFill>
              </a:rPr>
              <a:t>www.pptmall.net</a:t>
            </a:r>
            <a:endParaRPr lang="zh-CN" alt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7781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黑色有标题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124EB12D-71AA-4797-9E53-6CDD91A37DC7}"/>
              </a:ext>
            </a:extLst>
          </p:cNvPr>
          <p:cNvSpPr txBox="1"/>
          <p:nvPr userDrawn="1"/>
        </p:nvSpPr>
        <p:spPr>
          <a:xfrm>
            <a:off x="409220" y="4731990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>
                <a:solidFill>
                  <a:srgbClr val="C5C5C5"/>
                </a:solidFill>
              </a:rPr>
              <a:t>主讲：孙兴华</a:t>
            </a:r>
          </a:p>
        </p:txBody>
      </p:sp>
    </p:spTree>
    <p:extLst>
      <p:ext uri="{BB962C8B-B14F-4D97-AF65-F5344CB8AC3E}">
        <p14:creationId xmlns:p14="http://schemas.microsoft.com/office/powerpoint/2010/main" val="326619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2762BF6-6E3F-433B-AB39-F4DEF76FD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787EF-A92C-4F47-B9B3-48D91E515FA5}" type="datetimeFigureOut">
              <a:rPr lang="zh-CN" altLang="en-US" smtClean="0"/>
              <a:t>2020/3/14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4014B5B-56D1-4541-8470-F1DD30F29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BF0C11-692D-4D1E-B3C9-068673586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AF675-5BB6-4475-9536-7FDBB62290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5068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bg1">
                <a:lumMod val="85000"/>
                <a:alpha val="60000"/>
              </a:schemeClr>
            </a:gs>
            <a:gs pos="0">
              <a:schemeClr val="bg1">
                <a:lumMod val="85000"/>
                <a:alpha val="60000"/>
              </a:schemeClr>
            </a:gs>
            <a:gs pos="50000">
              <a:schemeClr val="bg1"/>
            </a:gs>
            <a:gs pos="73000">
              <a:schemeClr val="bg1"/>
            </a:gs>
            <a:gs pos="26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5230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2" r:id="rId2"/>
    <p:sldLayoutId id="2147483701" r:id="rId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24D8941-8B4E-415F-B890-B0624D956058}"/>
              </a:ext>
            </a:extLst>
          </p:cNvPr>
          <p:cNvSpPr txBox="1"/>
          <p:nvPr/>
        </p:nvSpPr>
        <p:spPr>
          <a:xfrm>
            <a:off x="755576" y="339502"/>
            <a:ext cx="201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>
                <a:solidFill>
                  <a:schemeClr val="bg1"/>
                </a:solidFill>
              </a:rPr>
              <a:t>001.HR</a:t>
            </a:r>
            <a:r>
              <a:rPr lang="zh-CN" altLang="en-US" sz="1200" b="1">
                <a:solidFill>
                  <a:schemeClr val="bg1"/>
                </a:solidFill>
              </a:rPr>
              <a:t>考勤统计（初级）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29106FE-EE2D-4BA8-99AC-B65107C12FBC}"/>
              </a:ext>
            </a:extLst>
          </p:cNvPr>
          <p:cNvSpPr txBox="1"/>
          <p:nvPr/>
        </p:nvSpPr>
        <p:spPr>
          <a:xfrm>
            <a:off x="1547664" y="843558"/>
            <a:ext cx="59766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>
                <a:solidFill>
                  <a:schemeClr val="bg1"/>
                </a:solidFill>
              </a:rPr>
              <a:t>1</a:t>
            </a:r>
            <a:r>
              <a:rPr lang="zh-CN" altLang="en-US" sz="1200" b="1">
                <a:solidFill>
                  <a:schemeClr val="bg1"/>
                </a:solidFill>
              </a:rPr>
              <a:t>、</a:t>
            </a:r>
            <a:r>
              <a:rPr lang="en-US" altLang="zh-CN" sz="1200" b="1">
                <a:solidFill>
                  <a:schemeClr val="bg1"/>
                </a:solidFill>
              </a:rPr>
              <a:t>DAY('</a:t>
            </a:r>
            <a:r>
              <a:rPr lang="zh-CN" altLang="en-US" sz="1200" b="1">
                <a:solidFill>
                  <a:schemeClr val="bg1"/>
                </a:solidFill>
              </a:rPr>
              <a:t>表</a:t>
            </a:r>
            <a:r>
              <a:rPr lang="en-US" altLang="zh-CN" sz="1200" b="1">
                <a:solidFill>
                  <a:schemeClr val="bg1"/>
                </a:solidFill>
              </a:rPr>
              <a:t>'[</a:t>
            </a:r>
            <a:r>
              <a:rPr lang="zh-CN" altLang="en-US" sz="1200" b="1">
                <a:solidFill>
                  <a:schemeClr val="bg1"/>
                </a:solidFill>
              </a:rPr>
              <a:t>日期</a:t>
            </a:r>
            <a:r>
              <a:rPr lang="en-US" altLang="zh-CN" sz="1200" b="1">
                <a:solidFill>
                  <a:schemeClr val="bg1"/>
                </a:solidFill>
              </a:rPr>
              <a:t>])                          </a:t>
            </a:r>
            <a:r>
              <a:rPr lang="zh-CN" altLang="en-US" sz="1200" b="1">
                <a:solidFill>
                  <a:schemeClr val="bg1"/>
                </a:solidFill>
              </a:rPr>
              <a:t>返回这个日期的天，例如</a:t>
            </a:r>
            <a:r>
              <a:rPr lang="en-US" altLang="zh-CN" sz="1200" b="1">
                <a:solidFill>
                  <a:schemeClr val="bg1"/>
                </a:solidFill>
              </a:rPr>
              <a:t>2020/1/5  </a:t>
            </a:r>
            <a:r>
              <a:rPr lang="zh-CN" altLang="en-US" sz="1200" b="1">
                <a:solidFill>
                  <a:schemeClr val="bg1"/>
                </a:solidFill>
              </a:rPr>
              <a:t>返回</a:t>
            </a:r>
            <a:r>
              <a:rPr lang="en-US" altLang="zh-CN" sz="1200" b="1">
                <a:solidFill>
                  <a:schemeClr val="bg1"/>
                </a:solidFill>
              </a:rPr>
              <a:t>5</a:t>
            </a:r>
          </a:p>
          <a:p>
            <a:r>
              <a:rPr lang="en-US" altLang="zh-CN" sz="1200" b="1">
                <a:solidFill>
                  <a:schemeClr val="bg1"/>
                </a:solidFill>
              </a:rPr>
              <a:t>2</a:t>
            </a:r>
            <a:r>
              <a:rPr lang="zh-CN" altLang="en-US" sz="1200" b="1">
                <a:solidFill>
                  <a:schemeClr val="bg1"/>
                </a:solidFill>
              </a:rPr>
              <a:t>、</a:t>
            </a:r>
            <a:r>
              <a:rPr lang="en-US" altLang="zh-CN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Firstnonblank('</a:t>
            </a:r>
            <a:r>
              <a:rPr lang="zh-CN" altLang="en-US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表</a:t>
            </a:r>
            <a:r>
              <a:rPr lang="en-US" altLang="zh-CN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'[</a:t>
            </a:r>
            <a:r>
              <a:rPr lang="zh-CN" altLang="en-US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列名</a:t>
            </a:r>
            <a:r>
              <a:rPr lang="en-US" altLang="zh-CN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],1</a:t>
            </a:r>
            <a:r>
              <a:rPr lang="zh-CN" altLang="en-US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     返回第一个值</a:t>
            </a:r>
            <a:endParaRPr lang="en-US" altLang="zh-CN" sz="1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CN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zh-CN" altLang="en-US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en-US" altLang="zh-CN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Lastnonblank ('</a:t>
            </a:r>
            <a:r>
              <a:rPr lang="zh-CN" altLang="en-US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表</a:t>
            </a:r>
            <a:r>
              <a:rPr lang="en-US" altLang="zh-CN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'[</a:t>
            </a:r>
            <a:r>
              <a:rPr lang="zh-CN" altLang="en-US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列名</a:t>
            </a:r>
            <a:r>
              <a:rPr lang="en-US" altLang="zh-CN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],1</a:t>
            </a:r>
            <a:r>
              <a:rPr lang="zh-CN" altLang="en-US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    返回最后一个值</a:t>
            </a:r>
            <a:endParaRPr lang="en-US" altLang="zh-CN" sz="1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CN" sz="1200" b="1">
                <a:solidFill>
                  <a:schemeClr val="bg1"/>
                </a:solidFill>
              </a:rPr>
              <a:t>4</a:t>
            </a:r>
            <a:r>
              <a:rPr lang="zh-CN" altLang="en-US" sz="1200" b="1">
                <a:solidFill>
                  <a:schemeClr val="bg1"/>
                </a:solidFill>
              </a:rPr>
              <a:t>、</a:t>
            </a:r>
            <a:r>
              <a:rPr lang="en-US" altLang="zh-CN" sz="1200" b="1">
                <a:solidFill>
                  <a:schemeClr val="bg1"/>
                </a:solidFill>
              </a:rPr>
              <a:t>Hour('</a:t>
            </a:r>
            <a:r>
              <a:rPr lang="zh-CN" altLang="en-US" sz="1200" b="1">
                <a:solidFill>
                  <a:schemeClr val="bg1"/>
                </a:solidFill>
              </a:rPr>
              <a:t>表</a:t>
            </a:r>
            <a:r>
              <a:rPr lang="en-US" altLang="zh-CN" sz="1200" b="1">
                <a:solidFill>
                  <a:schemeClr val="bg1"/>
                </a:solidFill>
              </a:rPr>
              <a:t>'[</a:t>
            </a:r>
            <a:r>
              <a:rPr lang="zh-CN" altLang="en-US" sz="1200" b="1">
                <a:solidFill>
                  <a:schemeClr val="bg1"/>
                </a:solidFill>
              </a:rPr>
              <a:t>时间</a:t>
            </a:r>
            <a:r>
              <a:rPr lang="en-US" altLang="zh-CN" sz="1200" b="1">
                <a:solidFill>
                  <a:schemeClr val="bg1"/>
                </a:solidFill>
              </a:rPr>
              <a:t>])                        </a:t>
            </a:r>
            <a:r>
              <a:rPr lang="zh-CN" altLang="en-US" sz="1200" b="1">
                <a:solidFill>
                  <a:schemeClr val="bg1"/>
                </a:solidFill>
              </a:rPr>
              <a:t>返回时间中的小时数    例如</a:t>
            </a:r>
            <a:r>
              <a:rPr lang="en-US" altLang="zh-CN" sz="1200" b="1">
                <a:solidFill>
                  <a:schemeClr val="bg1"/>
                </a:solidFill>
              </a:rPr>
              <a:t>7:30:52  </a:t>
            </a:r>
            <a:r>
              <a:rPr lang="zh-CN" altLang="en-US" sz="1200" b="1">
                <a:solidFill>
                  <a:schemeClr val="bg1"/>
                </a:solidFill>
              </a:rPr>
              <a:t>就返回</a:t>
            </a:r>
            <a:r>
              <a:rPr lang="en-US" altLang="zh-CN" sz="1200" b="1">
                <a:solidFill>
                  <a:schemeClr val="bg1"/>
                </a:solidFill>
              </a:rPr>
              <a:t>7</a:t>
            </a:r>
          </a:p>
          <a:p>
            <a:r>
              <a:rPr lang="en-US" altLang="zh-CN" sz="1200" b="1">
                <a:solidFill>
                  <a:schemeClr val="bg1"/>
                </a:solidFill>
              </a:rPr>
              <a:t>5</a:t>
            </a:r>
            <a:r>
              <a:rPr lang="zh-CN" altLang="en-US" sz="1200" b="1">
                <a:solidFill>
                  <a:schemeClr val="bg1"/>
                </a:solidFill>
              </a:rPr>
              <a:t>、</a:t>
            </a:r>
            <a:r>
              <a:rPr lang="en-US" altLang="zh-CN" sz="1200" b="1">
                <a:solidFill>
                  <a:schemeClr val="bg1"/>
                </a:solidFill>
              </a:rPr>
              <a:t>Minute ('</a:t>
            </a:r>
            <a:r>
              <a:rPr lang="zh-CN" altLang="en-US" sz="1200" b="1">
                <a:solidFill>
                  <a:schemeClr val="bg1"/>
                </a:solidFill>
              </a:rPr>
              <a:t>表</a:t>
            </a:r>
            <a:r>
              <a:rPr lang="en-US" altLang="zh-CN" sz="1200" b="1">
                <a:solidFill>
                  <a:schemeClr val="bg1"/>
                </a:solidFill>
              </a:rPr>
              <a:t>'[</a:t>
            </a:r>
            <a:r>
              <a:rPr lang="zh-CN" altLang="en-US" sz="1200" b="1">
                <a:solidFill>
                  <a:schemeClr val="bg1"/>
                </a:solidFill>
              </a:rPr>
              <a:t>时间</a:t>
            </a:r>
            <a:r>
              <a:rPr lang="en-US" altLang="zh-CN" sz="1200" b="1">
                <a:solidFill>
                  <a:schemeClr val="bg1"/>
                </a:solidFill>
              </a:rPr>
              <a:t>])                   </a:t>
            </a:r>
            <a:r>
              <a:rPr lang="zh-CN" altLang="en-US" sz="1200" b="1">
                <a:solidFill>
                  <a:schemeClr val="bg1"/>
                </a:solidFill>
              </a:rPr>
              <a:t>返回时间中的分钟数    例如</a:t>
            </a:r>
            <a:r>
              <a:rPr lang="en-US" altLang="zh-CN" sz="1200" b="1">
                <a:solidFill>
                  <a:schemeClr val="bg1"/>
                </a:solidFill>
              </a:rPr>
              <a:t>7:30:52  </a:t>
            </a:r>
            <a:r>
              <a:rPr lang="zh-CN" altLang="en-US" sz="1200" b="1">
                <a:solidFill>
                  <a:schemeClr val="bg1"/>
                </a:solidFill>
              </a:rPr>
              <a:t>就返回</a:t>
            </a:r>
            <a:r>
              <a:rPr lang="en-US" altLang="zh-CN" sz="1200" b="1">
                <a:solidFill>
                  <a:schemeClr val="bg1"/>
                </a:solidFill>
              </a:rPr>
              <a:t>30</a:t>
            </a:r>
          </a:p>
          <a:p>
            <a:r>
              <a:rPr lang="en-US" altLang="zh-CN" sz="1200" b="1">
                <a:solidFill>
                  <a:schemeClr val="bg1"/>
                </a:solidFill>
              </a:rPr>
              <a:t>6</a:t>
            </a:r>
            <a:r>
              <a:rPr lang="zh-CN" altLang="en-US" sz="1200" b="1">
                <a:solidFill>
                  <a:schemeClr val="bg1"/>
                </a:solidFill>
              </a:rPr>
              <a:t>、</a:t>
            </a:r>
            <a:r>
              <a:rPr lang="en-US" altLang="zh-CN" sz="1200" b="1">
                <a:solidFill>
                  <a:schemeClr val="bg1"/>
                </a:solidFill>
              </a:rPr>
              <a:t>Second ('</a:t>
            </a:r>
            <a:r>
              <a:rPr lang="zh-CN" altLang="en-US" sz="1200" b="1">
                <a:solidFill>
                  <a:schemeClr val="bg1"/>
                </a:solidFill>
              </a:rPr>
              <a:t>表</a:t>
            </a:r>
            <a:r>
              <a:rPr lang="en-US" altLang="zh-CN" sz="1200" b="1">
                <a:solidFill>
                  <a:schemeClr val="bg1"/>
                </a:solidFill>
              </a:rPr>
              <a:t>'[</a:t>
            </a:r>
            <a:r>
              <a:rPr lang="zh-CN" altLang="en-US" sz="1200" b="1">
                <a:solidFill>
                  <a:schemeClr val="bg1"/>
                </a:solidFill>
              </a:rPr>
              <a:t>时间</a:t>
            </a:r>
            <a:r>
              <a:rPr lang="en-US" altLang="zh-CN" sz="1200" b="1">
                <a:solidFill>
                  <a:schemeClr val="bg1"/>
                </a:solidFill>
              </a:rPr>
              <a:t>])                   </a:t>
            </a:r>
            <a:r>
              <a:rPr lang="zh-CN" altLang="en-US" sz="1200" b="1">
                <a:solidFill>
                  <a:schemeClr val="bg1"/>
                </a:solidFill>
              </a:rPr>
              <a:t>返回时间中的秒数       例如</a:t>
            </a:r>
            <a:r>
              <a:rPr lang="en-US" altLang="zh-CN" sz="1200" b="1">
                <a:solidFill>
                  <a:schemeClr val="bg1"/>
                </a:solidFill>
              </a:rPr>
              <a:t>7:30:52</a:t>
            </a:r>
            <a:r>
              <a:rPr lang="zh-CN" altLang="en-US" sz="1200" b="1">
                <a:solidFill>
                  <a:schemeClr val="bg1"/>
                </a:solidFill>
              </a:rPr>
              <a:t>  就返回</a:t>
            </a:r>
            <a:r>
              <a:rPr lang="en-US" altLang="zh-CN" sz="1200" b="1">
                <a:solidFill>
                  <a:schemeClr val="bg1"/>
                </a:solidFill>
              </a:rPr>
              <a:t>52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867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E7C482F-C1F2-4617-9992-FD4095C196D5}"/>
              </a:ext>
            </a:extLst>
          </p:cNvPr>
          <p:cNvSpPr txBox="1"/>
          <p:nvPr/>
        </p:nvSpPr>
        <p:spPr>
          <a:xfrm>
            <a:off x="755576" y="339502"/>
            <a:ext cx="44644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>
                <a:solidFill>
                  <a:schemeClr val="bg1"/>
                </a:solidFill>
              </a:rPr>
              <a:t>002.</a:t>
            </a:r>
            <a:r>
              <a:rPr lang="zh-CN" altLang="en-US" sz="1200" b="1">
                <a:solidFill>
                  <a:schemeClr val="bg1"/>
                </a:solidFill>
              </a:rPr>
              <a:t>购物篮分析（关联商品销售分析）  </a:t>
            </a:r>
            <a:r>
              <a:rPr lang="zh-CN" altLang="en-US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体验</a:t>
            </a:r>
            <a:r>
              <a:rPr lang="en-US" altLang="zh-CN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DAX</a:t>
            </a:r>
            <a:r>
              <a:rPr lang="zh-CN" altLang="en-US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查询语言</a:t>
            </a:r>
            <a:endParaRPr lang="zh-CN" altLang="en-US" sz="12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770E673-02E3-416C-AEA3-016A82AE8961}"/>
              </a:ext>
            </a:extLst>
          </p:cNvPr>
          <p:cNvSpPr txBox="1"/>
          <p:nvPr/>
        </p:nvSpPr>
        <p:spPr>
          <a:xfrm>
            <a:off x="1187624" y="843558"/>
            <a:ext cx="73448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>
                <a:solidFill>
                  <a:schemeClr val="bg1"/>
                </a:solidFill>
              </a:rPr>
              <a:t>1</a:t>
            </a:r>
            <a:r>
              <a:rPr lang="zh-CN" altLang="en-US" sz="1200" b="1">
                <a:solidFill>
                  <a:schemeClr val="bg1"/>
                </a:solidFill>
              </a:rPr>
              <a:t>、</a:t>
            </a:r>
            <a:r>
              <a:rPr lang="en-US" altLang="zh-CN" sz="1200" b="1">
                <a:solidFill>
                  <a:schemeClr val="bg1"/>
                </a:solidFill>
              </a:rPr>
              <a:t>Calculatetable(</a:t>
            </a:r>
            <a:r>
              <a:rPr lang="zh-CN" altLang="en-US" sz="1200" b="1">
                <a:solidFill>
                  <a:schemeClr val="bg1"/>
                </a:solidFill>
              </a:rPr>
              <a:t>表，筛选条件） 可以使用关系模型启动，实现多表动作筛选</a:t>
            </a:r>
            <a:endParaRPr lang="en-US" altLang="zh-CN" sz="1200" b="1">
              <a:solidFill>
                <a:schemeClr val="bg1"/>
              </a:solidFill>
            </a:endParaRPr>
          </a:p>
          <a:p>
            <a:endParaRPr lang="en-US" altLang="zh-CN" sz="1200" b="1">
              <a:solidFill>
                <a:schemeClr val="bg1"/>
              </a:solidFill>
            </a:endParaRPr>
          </a:p>
          <a:p>
            <a:r>
              <a:rPr lang="en-US" altLang="zh-CN" sz="1200" b="1">
                <a:solidFill>
                  <a:schemeClr val="bg1"/>
                </a:solidFill>
              </a:rPr>
              <a:t>2</a:t>
            </a:r>
            <a:r>
              <a:rPr lang="zh-CN" altLang="en-US" sz="1200" b="1">
                <a:solidFill>
                  <a:schemeClr val="bg1"/>
                </a:solidFill>
              </a:rPr>
              <a:t>、</a:t>
            </a:r>
            <a:r>
              <a:rPr lang="en-US" altLang="zh-CN" sz="1200" b="1">
                <a:solidFill>
                  <a:schemeClr val="bg1"/>
                </a:solidFill>
              </a:rPr>
              <a:t>Userelationship('</a:t>
            </a:r>
            <a:r>
              <a:rPr lang="zh-CN" altLang="en-US" sz="1200" b="1">
                <a:solidFill>
                  <a:schemeClr val="bg1"/>
                </a:solidFill>
              </a:rPr>
              <a:t>关联表</a:t>
            </a:r>
            <a:r>
              <a:rPr lang="en-US" altLang="zh-CN" sz="1200" b="1">
                <a:solidFill>
                  <a:schemeClr val="bg1"/>
                </a:solidFill>
              </a:rPr>
              <a:t>'[</a:t>
            </a:r>
            <a:r>
              <a:rPr lang="zh-CN" altLang="en-US" sz="1200" b="1">
                <a:solidFill>
                  <a:schemeClr val="bg1"/>
                </a:solidFill>
              </a:rPr>
              <a:t>列</a:t>
            </a:r>
            <a:r>
              <a:rPr lang="en-US" altLang="zh-CN" sz="1200" b="1">
                <a:solidFill>
                  <a:schemeClr val="bg1"/>
                </a:solidFill>
              </a:rPr>
              <a:t>],'</a:t>
            </a:r>
            <a:r>
              <a:rPr lang="zh-CN" altLang="en-US" sz="1200" b="1">
                <a:solidFill>
                  <a:schemeClr val="bg1"/>
                </a:solidFill>
              </a:rPr>
              <a:t>表</a:t>
            </a:r>
            <a:r>
              <a:rPr lang="en-US" altLang="zh-CN" sz="1200" b="1">
                <a:solidFill>
                  <a:schemeClr val="bg1"/>
                </a:solidFill>
              </a:rPr>
              <a:t>'[</a:t>
            </a:r>
            <a:r>
              <a:rPr lang="zh-CN" altLang="en-US" sz="1200" b="1">
                <a:solidFill>
                  <a:schemeClr val="bg1"/>
                </a:solidFill>
              </a:rPr>
              <a:t>列</a:t>
            </a:r>
            <a:r>
              <a:rPr lang="en-US" altLang="zh-CN" sz="1200" b="1">
                <a:solidFill>
                  <a:schemeClr val="bg1"/>
                </a:solidFill>
              </a:rPr>
              <a:t>])  </a:t>
            </a:r>
            <a:r>
              <a:rPr lang="zh-CN" altLang="en-US" sz="1200" b="1">
                <a:solidFill>
                  <a:schemeClr val="bg1"/>
                </a:solidFill>
              </a:rPr>
              <a:t>虚线关系要用这个函数激活，虚线代表没有激活</a:t>
            </a:r>
            <a:endParaRPr lang="en-US" altLang="zh-CN" sz="1200" b="1">
              <a:solidFill>
                <a:schemeClr val="bg1"/>
              </a:solidFill>
            </a:endParaRPr>
          </a:p>
          <a:p>
            <a:endParaRPr lang="en-US" altLang="zh-CN" sz="1200" b="1">
              <a:solidFill>
                <a:schemeClr val="bg1"/>
              </a:solidFill>
            </a:endParaRPr>
          </a:p>
          <a:p>
            <a:r>
              <a:rPr lang="en-US" altLang="zh-CN" sz="1200" b="1">
                <a:solidFill>
                  <a:schemeClr val="bg1"/>
                </a:solidFill>
              </a:rPr>
              <a:t>3</a:t>
            </a:r>
            <a:r>
              <a:rPr lang="zh-CN" altLang="en-US" sz="1200" b="1">
                <a:solidFill>
                  <a:schemeClr val="bg1"/>
                </a:solidFill>
              </a:rPr>
              <a:t>、</a:t>
            </a:r>
            <a:r>
              <a:rPr lang="en-US" altLang="zh-CN" sz="1200" b="1">
                <a:solidFill>
                  <a:schemeClr val="bg1"/>
                </a:solidFill>
              </a:rPr>
              <a:t>Naturalinnerjoin('</a:t>
            </a:r>
            <a:r>
              <a:rPr lang="zh-CN" altLang="en-US" sz="1200" b="1">
                <a:solidFill>
                  <a:schemeClr val="bg1"/>
                </a:solidFill>
              </a:rPr>
              <a:t>关联表</a:t>
            </a:r>
            <a:r>
              <a:rPr lang="en-US" altLang="zh-CN" sz="1200" b="1">
                <a:solidFill>
                  <a:schemeClr val="bg1"/>
                </a:solidFill>
              </a:rPr>
              <a:t>'[</a:t>
            </a:r>
            <a:r>
              <a:rPr lang="zh-CN" altLang="en-US" sz="1200" b="1">
                <a:solidFill>
                  <a:schemeClr val="bg1"/>
                </a:solidFill>
              </a:rPr>
              <a:t>列</a:t>
            </a:r>
            <a:r>
              <a:rPr lang="en-US" altLang="zh-CN" sz="1200" b="1">
                <a:solidFill>
                  <a:schemeClr val="bg1"/>
                </a:solidFill>
              </a:rPr>
              <a:t>],'</a:t>
            </a:r>
            <a:r>
              <a:rPr lang="zh-CN" altLang="en-US" sz="1200" b="1">
                <a:solidFill>
                  <a:schemeClr val="bg1"/>
                </a:solidFill>
              </a:rPr>
              <a:t>表</a:t>
            </a:r>
            <a:r>
              <a:rPr lang="en-US" altLang="zh-CN" sz="1200" b="1">
                <a:solidFill>
                  <a:schemeClr val="bg1"/>
                </a:solidFill>
              </a:rPr>
              <a:t>'[</a:t>
            </a:r>
            <a:r>
              <a:rPr lang="zh-CN" altLang="en-US" sz="1200" b="1">
                <a:solidFill>
                  <a:schemeClr val="bg1"/>
                </a:solidFill>
              </a:rPr>
              <a:t>列</a:t>
            </a:r>
            <a:r>
              <a:rPr lang="en-US" altLang="zh-CN" sz="1200" b="1">
                <a:solidFill>
                  <a:schemeClr val="bg1"/>
                </a:solidFill>
              </a:rPr>
              <a:t>])  </a:t>
            </a:r>
            <a:r>
              <a:rPr lang="zh-CN" altLang="en-US" sz="1200" b="1">
                <a:solidFill>
                  <a:schemeClr val="bg1"/>
                </a:solidFill>
              </a:rPr>
              <a:t>找出两个列表的交集，例如同时购买了这两种产品的客户。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30720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无&quot;,&quot;HeaderHeight&quot;:0.0,&quot;FooterHeight&quot;:0.0,&quot;SideMargin&quot;:0.0,&quot;TopMargin&quot;:0.0,&quot;BottomMargin&quot;:0.0,&quot;IntervalMargin&quot;:0.0,&quot;SettingType&quot;:&quot;System&quot;}"/>
</p:tagLst>
</file>

<file path=ppt/theme/theme1.xml><?xml version="1.0" encoding="utf-8"?>
<a:theme xmlns:a="http://schemas.openxmlformats.org/drawingml/2006/main" name="Office Theme">
  <a:themeElements>
    <a:clrScheme name="x2m0mzta">
      <a:dk1>
        <a:srgbClr val="000000"/>
      </a:dk1>
      <a:lt1>
        <a:srgbClr val="FFFFFF"/>
      </a:lt1>
      <a:dk2>
        <a:srgbClr val="FAB220"/>
      </a:dk2>
      <a:lt2>
        <a:srgbClr val="FA7901"/>
      </a:lt2>
      <a:accent1>
        <a:srgbClr val="CB2332"/>
      </a:accent1>
      <a:accent2>
        <a:srgbClr val="A6325B"/>
      </a:accent2>
      <a:accent3>
        <a:srgbClr val="0B4366"/>
      </a:accent3>
      <a:accent4>
        <a:srgbClr val="21A0D3"/>
      </a:accent4>
      <a:accent5>
        <a:srgbClr val="3CC5D1"/>
      </a:accent5>
      <a:accent6>
        <a:srgbClr val="4CC9A9"/>
      </a:accent6>
      <a:hlink>
        <a:srgbClr val="3B424C"/>
      </a:hlink>
      <a:folHlink>
        <a:srgbClr val="1C171E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cap="rnd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ctr">
          <a:defRPr sz="4800" b="1" dirty="0" smtClean="0">
            <a:solidFill>
              <a:schemeClr val="bg1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6921</TotalTime>
  <Words>203</Words>
  <Application>Microsoft Office PowerPoint</Application>
  <PresentationFormat>全屏显示(16:9)</PresentationFormat>
  <Paragraphs>13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微软雅黑</vt:lpstr>
      <vt:lpstr>Arial</vt:lpstr>
      <vt:lpstr>Office Theme</vt:lpstr>
      <vt:lpstr>PowerPoint 演示文稿</vt:lpstr>
      <vt:lpstr>PowerPoint 演示文稿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pptmall.net</dc:title>
  <dc:creator>pptmall.net</dc:creator>
  <cp:lastModifiedBy>孙艺航</cp:lastModifiedBy>
  <cp:revision>1262</cp:revision>
  <dcterms:created xsi:type="dcterms:W3CDTF">2014-02-28T09:23:05Z</dcterms:created>
  <dcterms:modified xsi:type="dcterms:W3CDTF">2020-03-14T12:33:14Z</dcterms:modified>
</cp:coreProperties>
</file>