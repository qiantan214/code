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84" r:id="rId2"/>
    <p:sldId id="385" r:id="rId3"/>
    <p:sldId id="390" r:id="rId4"/>
    <p:sldId id="386" r:id="rId5"/>
    <p:sldId id="387" r:id="rId6"/>
    <p:sldId id="388" r:id="rId7"/>
    <p:sldId id="391" r:id="rId8"/>
    <p:sldId id="392" r:id="rId9"/>
  </p:sldIdLst>
  <p:sldSz cx="9144000" cy="5143500" type="screen16x9"/>
  <p:notesSz cx="6858000" cy="9144000"/>
  <p:custDataLst>
    <p:tags r:id="rId12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7" pos="612" userDrawn="1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8F4"/>
    <a:srgbClr val="C5C5C5"/>
    <a:srgbClr val="192834"/>
    <a:srgbClr val="FBE9EC"/>
    <a:srgbClr val="FEE4F6"/>
    <a:srgbClr val="FEFEFE"/>
    <a:srgbClr val="D5DBDE"/>
    <a:srgbClr val="DDE5ED"/>
    <a:srgbClr val="C6D0D6"/>
    <a:srgbClr val="D6D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4" autoAdjust="0"/>
    <p:restoredTop sz="95013" autoAdjust="0"/>
  </p:normalViewPr>
  <p:slideViewPr>
    <p:cSldViewPr>
      <p:cViewPr varScale="1">
        <p:scale>
          <a:sx n="150" d="100"/>
          <a:sy n="150" d="100"/>
        </p:scale>
        <p:origin x="420" y="120"/>
      </p:cViewPr>
      <p:guideLst>
        <p:guide pos="5511"/>
        <p:guide pos="612"/>
        <p:guide orient="horz" pos="1620"/>
      </p:guideLst>
    </p:cSldViewPr>
  </p:slideViewPr>
  <p:outlineViewPr>
    <p:cViewPr>
      <p:scale>
        <a:sx n="33" d="100"/>
        <a:sy n="33" d="100"/>
      </p:scale>
      <p:origin x="0" y="-440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36"/>
    </p:cViewPr>
  </p:sorterViewPr>
  <p:notesViewPr>
    <p:cSldViewPr showGuides="1">
      <p:cViewPr varScale="1">
        <p:scale>
          <a:sx n="120" d="100"/>
          <a:sy n="120" d="100"/>
        </p:scale>
        <p:origin x="38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04B3-FA9F-49C1-859E-2458D1B84048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05DBC-4E0E-43E3-A060-4938178F1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1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B415-5FD7-4318-806E-930189874889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4CF9-9236-450D-BC13-91858061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47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有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23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ko-KR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7200" y="4803998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0"/>
              </a:spcBef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www.pptmall.net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色有标题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4EB12D-71AA-4797-9E53-6CDD91A37DC7}"/>
              </a:ext>
            </a:extLst>
          </p:cNvPr>
          <p:cNvSpPr txBox="1"/>
          <p:nvPr userDrawn="1"/>
        </p:nvSpPr>
        <p:spPr>
          <a:xfrm>
            <a:off x="409220" y="473199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5C5C5"/>
                </a:solidFill>
              </a:rPr>
              <a:t>主讲：孙兴华</a:t>
            </a:r>
          </a:p>
        </p:txBody>
      </p:sp>
    </p:spTree>
    <p:extLst>
      <p:ext uri="{BB962C8B-B14F-4D97-AF65-F5344CB8AC3E}">
        <p14:creationId xmlns:p14="http://schemas.microsoft.com/office/powerpoint/2010/main" val="3266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62BF6-6E3F-433B-AB39-F4DEF76F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87EF-A92C-4F47-B9B3-48D91E515FA5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014B5B-56D1-4541-8470-F1DD30F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F0C11-692D-4D1E-B3C9-06867358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F675-5BB6-4475-9536-7FDBB6229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  <a:alpha val="60000"/>
              </a:schemeClr>
            </a:gs>
            <a:gs pos="0">
              <a:schemeClr val="bg1">
                <a:lumMod val="85000"/>
                <a:alpha val="60000"/>
              </a:schemeClr>
            </a:gs>
            <a:gs pos="50000">
              <a:schemeClr val="bg1"/>
            </a:gs>
            <a:gs pos="73000">
              <a:schemeClr val="bg1"/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23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70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4C2F70-7DAD-4B62-8ED4-F5EB5A2C0DED}"/>
              </a:ext>
            </a:extLst>
          </p:cNvPr>
          <p:cNvSpPr txBox="1"/>
          <p:nvPr/>
        </p:nvSpPr>
        <p:spPr>
          <a:xfrm>
            <a:off x="2710240" y="699542"/>
            <a:ext cx="3723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Filter(‘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’,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筛选条件）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A66185-C9DA-47AB-8C74-F7D08DEE77AB}"/>
              </a:ext>
            </a:extLst>
          </p:cNvPr>
          <p:cNvSpPr txBox="1"/>
          <p:nvPr/>
        </p:nvSpPr>
        <p:spPr>
          <a:xfrm>
            <a:off x="1475656" y="679237"/>
            <a:ext cx="1107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语法：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818A15-7FDC-4334-B2D4-513686D123D1}"/>
              </a:ext>
            </a:extLst>
          </p:cNvPr>
          <p:cNvSpPr txBox="1"/>
          <p:nvPr/>
        </p:nvSpPr>
        <p:spPr>
          <a:xfrm>
            <a:off x="1475656" y="1275606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返回：表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2014-0220-48E3-A7E0-C2780E69C909}"/>
              </a:ext>
            </a:extLst>
          </p:cNvPr>
          <p:cNvSpPr txBox="1"/>
          <p:nvPr/>
        </p:nvSpPr>
        <p:spPr>
          <a:xfrm>
            <a:off x="1763688" y="2340917"/>
            <a:ext cx="5357942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Countrows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(Filter(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表，筛选条件））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4BD595-55C7-46CA-B4B3-5D1DEA9C78EF}"/>
              </a:ext>
            </a:extLst>
          </p:cNvPr>
          <p:cNvSpPr txBox="1"/>
          <p:nvPr/>
        </p:nvSpPr>
        <p:spPr>
          <a:xfrm>
            <a:off x="611560" y="3175395"/>
            <a:ext cx="8330807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Calculate(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表达式（度量值），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Filter(‘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’,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筛选条件））</a:t>
            </a: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03437C1A-8A33-41D0-A56E-C346E8D93198}"/>
              </a:ext>
            </a:extLst>
          </p:cNvPr>
          <p:cNvSpPr/>
          <p:nvPr/>
        </p:nvSpPr>
        <p:spPr>
          <a:xfrm>
            <a:off x="6300192" y="3637060"/>
            <a:ext cx="133568" cy="230834"/>
          </a:xfrm>
          <a:prstGeom prst="dow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B50444-4559-431D-A745-E208230B68C0}"/>
              </a:ext>
            </a:extLst>
          </p:cNvPr>
          <p:cNvSpPr txBox="1"/>
          <p:nvPr/>
        </p:nvSpPr>
        <p:spPr>
          <a:xfrm>
            <a:off x="5362534" y="3871373"/>
            <a:ext cx="2008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</a:t>
            </a:r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一家三口返回的都是表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85C3BAE5-9624-4DEA-8793-7B3EEFB1418C}"/>
              </a:ext>
            </a:extLst>
          </p:cNvPr>
          <p:cNvSpPr/>
          <p:nvPr/>
        </p:nvSpPr>
        <p:spPr>
          <a:xfrm>
            <a:off x="6300192" y="4148372"/>
            <a:ext cx="133568" cy="230834"/>
          </a:xfrm>
          <a:prstGeom prst="downArrow">
            <a:avLst/>
          </a:prstGeom>
          <a:solidFill>
            <a:srgbClr val="00B05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F8B7FF-00E0-4318-91EC-586FB1E2FE36}"/>
              </a:ext>
            </a:extLst>
          </p:cNvPr>
          <p:cNvSpPr txBox="1"/>
          <p:nvPr/>
        </p:nvSpPr>
        <p:spPr>
          <a:xfrm>
            <a:off x="5615362" y="4379206"/>
            <a:ext cx="1503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也可以是</a:t>
            </a:r>
            <a:r>
              <a:rPr lang="en-US" altLang="zh-CN" sz="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</a:t>
            </a:r>
            <a:r>
              <a:rPr lang="zh-CN" altLang="en-US" sz="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嵌套</a:t>
            </a:r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2CF1DF14-C1F8-4410-8607-2752E2AE2ACE}"/>
              </a:ext>
            </a:extLst>
          </p:cNvPr>
          <p:cNvSpPr/>
          <p:nvPr/>
        </p:nvSpPr>
        <p:spPr>
          <a:xfrm>
            <a:off x="7668344" y="2959371"/>
            <a:ext cx="144016" cy="216024"/>
          </a:xfrm>
          <a:prstGeom prst="upArrow">
            <a:avLst/>
          </a:prstGeom>
          <a:solidFill>
            <a:srgbClr val="92D05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58B083-A8EB-4352-9A7C-3F424AA73B60}"/>
              </a:ext>
            </a:extLst>
          </p:cNvPr>
          <p:cNvSpPr txBox="1"/>
          <p:nvPr/>
        </p:nvSpPr>
        <p:spPr>
          <a:xfrm>
            <a:off x="6878577" y="2682372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结果为真或假的表达式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FEFA4F-8314-43C6-B72E-ED08FB78B98C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32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05C6AE-12D5-4848-9AF2-9A9DEA7F8A03}"/>
              </a:ext>
            </a:extLst>
          </p:cNvPr>
          <p:cNvSpPr txBox="1"/>
          <p:nvPr/>
        </p:nvSpPr>
        <p:spPr>
          <a:xfrm>
            <a:off x="611560" y="3175395"/>
            <a:ext cx="8330807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Calculate(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表达式（度量值），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Filter(‘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’,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筛选条件））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486E5A-85DE-4087-8084-F3CF05D9223F}"/>
              </a:ext>
            </a:extLst>
          </p:cNvPr>
          <p:cNvSpPr txBox="1"/>
          <p:nvPr/>
        </p:nvSpPr>
        <p:spPr>
          <a:xfrm>
            <a:off x="610849" y="1937468"/>
            <a:ext cx="8236807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Calculate(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表达式（度量值），筛选条件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，筛选条件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2…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10CE73-AD93-4D4A-8CED-DC2109ACAFE6}"/>
              </a:ext>
            </a:extLst>
          </p:cNvPr>
          <p:cNvSpPr txBox="1"/>
          <p:nvPr/>
        </p:nvSpPr>
        <p:spPr>
          <a:xfrm>
            <a:off x="3094672" y="627534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有什么区别呢？？？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FA0067-8366-4E07-A69C-4D0E79B05E41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77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6474BC-BE35-4388-83FB-031DCBA14103}"/>
              </a:ext>
            </a:extLst>
          </p:cNvPr>
          <p:cNvSpPr txBox="1"/>
          <p:nvPr/>
        </p:nvSpPr>
        <p:spPr>
          <a:xfrm>
            <a:off x="17748" y="1275606"/>
            <a:ext cx="910850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 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SUM('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销售明细表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销量数量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)</a:t>
            </a:r>
          </a:p>
          <a:p>
            <a:pPr algn="ctr"/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销量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= 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([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1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</a:t>
            </a:r>
            <a:r>
              <a:rPr lang="zh-CN" altLang="en-US" sz="1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sz="1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</a:t>
            </a:r>
            <a:r>
              <a:rPr lang="zh-CN" alt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类别</a:t>
            </a:r>
            <a:r>
              <a:rPr lang="en-US" altLang="zh-CN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]="</a:t>
            </a:r>
            <a:r>
              <a:rPr lang="zh-CN" alt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蔬菜</a:t>
            </a:r>
            <a:r>
              <a:rPr lang="en-US" altLang="zh-CN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 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&amp;&amp;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</a:t>
            </a:r>
            <a:r>
              <a:rPr lang="zh-CN" alt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规格</a:t>
            </a:r>
            <a:r>
              <a:rPr lang="en-US" altLang="zh-CN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]="</a:t>
            </a:r>
            <a:r>
              <a:rPr lang="zh-CN" altLang="en-US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盒</a:t>
            </a:r>
            <a:r>
              <a:rPr lang="en-US" altLang="zh-CN" sz="1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))</a:t>
            </a:r>
          </a:p>
          <a:p>
            <a:pPr algn="ctr"/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销量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 = CALCULATE([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],'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类别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]="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蔬菜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",'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规格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]="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盒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6B293F-E541-4297-9116-C286F9A74678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C363FD-FCA1-48CE-8D21-1E41436032E8}"/>
              </a:ext>
            </a:extLst>
          </p:cNvPr>
          <p:cNvSpPr txBox="1"/>
          <p:nvPr/>
        </p:nvSpPr>
        <p:spPr>
          <a:xfrm>
            <a:off x="2411760" y="627534"/>
            <a:ext cx="4052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什么时候使用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函数呢？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B207DE-1D5D-48BF-B67D-78306A994FBD}"/>
              </a:ext>
            </a:extLst>
          </p:cNvPr>
          <p:cNvSpPr txBox="1"/>
          <p:nvPr/>
        </p:nvSpPr>
        <p:spPr>
          <a:xfrm>
            <a:off x="855224" y="1563638"/>
            <a:ext cx="7749494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函数中的直接筛选条件里，我们只能输入：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8C06B8-53B5-49AD-87F2-0371A9974643}"/>
              </a:ext>
            </a:extLst>
          </p:cNvPr>
          <p:cNvSpPr txBox="1"/>
          <p:nvPr/>
        </p:nvSpPr>
        <p:spPr>
          <a:xfrm>
            <a:off x="1143899" y="2268909"/>
            <a:ext cx="7172156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‘表’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=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固定值      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‘表’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&lt;&gt;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固定值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E1415C-3A37-4329-8725-1EF612AA709D}"/>
              </a:ext>
            </a:extLst>
          </p:cNvPr>
          <p:cNvSpPr txBox="1"/>
          <p:nvPr/>
        </p:nvSpPr>
        <p:spPr>
          <a:xfrm>
            <a:off x="1163932" y="2859782"/>
            <a:ext cx="7132082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‘表’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&gt;=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固定值   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‘表’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&lt;=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固定值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3EF7C7-859B-45C9-9CFF-F6EE2240C798}"/>
              </a:ext>
            </a:extLst>
          </p:cNvPr>
          <p:cNvSpPr txBox="1"/>
          <p:nvPr/>
        </p:nvSpPr>
        <p:spPr>
          <a:xfrm>
            <a:off x="1331999" y="3450655"/>
            <a:ext cx="6806671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‘表’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&gt;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固定值    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‘表’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&lt;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固定值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D75D9E-DF3C-4CAB-91C6-EA3D626A6834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63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AC638E-89C8-49FA-8CA1-647765573E26}"/>
              </a:ext>
            </a:extLst>
          </p:cNvPr>
          <p:cNvSpPr txBox="1"/>
          <p:nvPr/>
        </p:nvSpPr>
        <p:spPr>
          <a:xfrm>
            <a:off x="2267744" y="64951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如果筛选条件是这样时你怎么办？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A978AF-4792-4A91-B833-9B8467D79122}"/>
              </a:ext>
            </a:extLst>
          </p:cNvPr>
          <p:cNvSpPr txBox="1"/>
          <p:nvPr/>
        </p:nvSpPr>
        <p:spPr>
          <a:xfrm>
            <a:off x="615339" y="1574626"/>
            <a:ext cx="7913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</a:rPr>
              <a:t>列</a:t>
            </a:r>
            <a:r>
              <a:rPr lang="en-US" altLang="zh-CN" sz="2400" b="1" dirty="0">
                <a:solidFill>
                  <a:schemeClr val="bg1"/>
                </a:solidFill>
              </a:rPr>
              <a:t>]=[</a:t>
            </a:r>
            <a:r>
              <a:rPr lang="zh-CN" altLang="en-US" sz="2400" b="1" dirty="0">
                <a:solidFill>
                  <a:schemeClr val="bg1"/>
                </a:solidFill>
              </a:rPr>
              <a:t>度量值</a:t>
            </a:r>
            <a:r>
              <a:rPr lang="en-US" altLang="zh-CN" sz="2400" b="1" dirty="0">
                <a:solidFill>
                  <a:schemeClr val="bg1"/>
                </a:solidFill>
              </a:rPr>
              <a:t>]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 [</a:t>
            </a:r>
            <a:r>
              <a:rPr lang="zh-CN" altLang="en-US" sz="2400" b="1" dirty="0">
                <a:solidFill>
                  <a:schemeClr val="bg1"/>
                </a:solidFill>
              </a:rPr>
              <a:t>列</a:t>
            </a:r>
            <a:r>
              <a:rPr lang="en-US" altLang="zh-CN" sz="2400" b="1" dirty="0">
                <a:solidFill>
                  <a:schemeClr val="bg1"/>
                </a:solidFill>
              </a:rPr>
              <a:t>]=</a:t>
            </a:r>
            <a:r>
              <a:rPr lang="zh-CN" altLang="en-US" sz="2400" b="1" dirty="0">
                <a:solidFill>
                  <a:schemeClr val="bg1"/>
                </a:solidFill>
              </a:rPr>
              <a:t>公式、</a:t>
            </a:r>
            <a:r>
              <a:rPr lang="en-US" altLang="zh-CN" sz="2400" b="1" dirty="0">
                <a:solidFill>
                  <a:schemeClr val="bg1"/>
                </a:solidFill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</a:rPr>
              <a:t>列</a:t>
            </a:r>
            <a:r>
              <a:rPr lang="en-US" altLang="zh-CN" sz="2400" b="1" dirty="0">
                <a:solidFill>
                  <a:schemeClr val="bg1"/>
                </a:solidFill>
              </a:rPr>
              <a:t>]=[</a:t>
            </a:r>
            <a:r>
              <a:rPr lang="zh-CN" altLang="en-US" sz="2400" b="1" dirty="0">
                <a:solidFill>
                  <a:schemeClr val="bg1"/>
                </a:solidFill>
              </a:rPr>
              <a:t>列</a:t>
            </a:r>
            <a:r>
              <a:rPr lang="en-US" altLang="zh-CN" sz="2400" b="1" dirty="0">
                <a:solidFill>
                  <a:schemeClr val="bg1"/>
                </a:solidFill>
              </a:rPr>
              <a:t>]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E43784-E682-4DF1-87B6-927A199F046F}"/>
              </a:ext>
            </a:extLst>
          </p:cNvPr>
          <p:cNvSpPr txBox="1"/>
          <p:nvPr/>
        </p:nvSpPr>
        <p:spPr>
          <a:xfrm>
            <a:off x="755576" y="2499742"/>
            <a:ext cx="7913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</a:rPr>
              <a:t>度量值</a:t>
            </a:r>
            <a:r>
              <a:rPr lang="en-US" altLang="zh-CN" sz="2400" b="1" dirty="0">
                <a:solidFill>
                  <a:schemeClr val="bg1"/>
                </a:solidFill>
              </a:rPr>
              <a:t>]=[</a:t>
            </a:r>
            <a:r>
              <a:rPr lang="zh-CN" altLang="en-US" sz="2400" b="1" dirty="0">
                <a:solidFill>
                  <a:schemeClr val="bg1"/>
                </a:solidFill>
              </a:rPr>
              <a:t>度量值</a:t>
            </a:r>
            <a:r>
              <a:rPr lang="en-US" altLang="zh-CN" sz="2400" b="1" dirty="0">
                <a:solidFill>
                  <a:schemeClr val="bg1"/>
                </a:solidFill>
              </a:rPr>
              <a:t>]</a:t>
            </a:r>
            <a:r>
              <a:rPr lang="zh-CN" altLang="en-US" sz="2400" b="1" dirty="0">
                <a:solidFill>
                  <a:schemeClr val="bg1"/>
                </a:solidFill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</a:rPr>
              <a:t> [</a:t>
            </a:r>
            <a:r>
              <a:rPr lang="zh-CN" altLang="en-US" sz="2400" b="1" dirty="0">
                <a:solidFill>
                  <a:schemeClr val="bg1"/>
                </a:solidFill>
              </a:rPr>
              <a:t>度量值</a:t>
            </a:r>
            <a:r>
              <a:rPr lang="en-US" altLang="zh-CN" sz="2400" b="1" dirty="0">
                <a:solidFill>
                  <a:schemeClr val="bg1"/>
                </a:solidFill>
              </a:rPr>
              <a:t>]=</a:t>
            </a:r>
            <a:r>
              <a:rPr lang="zh-CN" altLang="en-US" sz="2400" b="1" dirty="0">
                <a:solidFill>
                  <a:schemeClr val="bg1"/>
                </a:solidFill>
              </a:rPr>
              <a:t>公式、</a:t>
            </a:r>
            <a:r>
              <a:rPr lang="en-US" altLang="zh-CN" sz="2400" b="1" dirty="0">
                <a:solidFill>
                  <a:schemeClr val="bg1"/>
                </a:solidFill>
              </a:rPr>
              <a:t>[</a:t>
            </a:r>
            <a:r>
              <a:rPr lang="zh-CN" altLang="en-US" sz="2400" b="1" dirty="0">
                <a:solidFill>
                  <a:schemeClr val="bg1"/>
                </a:solidFill>
              </a:rPr>
              <a:t>度量值</a:t>
            </a:r>
            <a:r>
              <a:rPr lang="en-US" altLang="zh-CN" sz="2400" b="1" dirty="0">
                <a:solidFill>
                  <a:schemeClr val="bg1"/>
                </a:solidFill>
              </a:rPr>
              <a:t>]=</a:t>
            </a:r>
            <a:r>
              <a:rPr lang="zh-CN" altLang="en-US" sz="2400" b="1" dirty="0">
                <a:solidFill>
                  <a:schemeClr val="bg1"/>
                </a:solidFill>
              </a:rPr>
              <a:t>固定值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D98398-74D7-433B-ADEC-D693BF484BB6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231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6B3C8B-22A3-49B7-BF8C-B48D9F74CA84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2AE748-05C2-4A94-B6A3-C66450C4A46F}"/>
              </a:ext>
            </a:extLst>
          </p:cNvPr>
          <p:cNvSpPr txBox="1"/>
          <p:nvPr/>
        </p:nvSpPr>
        <p:spPr>
          <a:xfrm>
            <a:off x="683568" y="555526"/>
            <a:ext cx="8136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需求：每一天果汁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销售量大于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杯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r>
              <a:rPr lang="zh-CN" altLang="en-US" sz="2400" b="1" dirty="0">
                <a:solidFill>
                  <a:srgbClr val="8E78F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门店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E40976-AC17-47B1-BB59-E6D1F09D3CCD}"/>
              </a:ext>
            </a:extLst>
          </p:cNvPr>
          <p:cNvSpPr txBox="1"/>
          <p:nvPr/>
        </p:nvSpPr>
        <p:spPr>
          <a:xfrm>
            <a:off x="539552" y="1203598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如果你有销售量这个列，那就什么都不说了</a:t>
            </a:r>
            <a:r>
              <a:rPr lang="zh-CN" alt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！</a:t>
            </a:r>
            <a:r>
              <a:rPr lang="en-US" altLang="zh-C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@#</a:t>
            </a:r>
            <a:r>
              <a:rPr lang="zh-CN" alt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￥</a:t>
            </a:r>
            <a:r>
              <a:rPr lang="en-US" altLang="zh-C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%……</a:t>
            </a:r>
            <a:endParaRPr lang="zh-CN" alt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B8B525-5216-496F-AB86-1A424AF8781D}"/>
              </a:ext>
            </a:extLst>
          </p:cNvPr>
          <p:cNvSpPr txBox="1"/>
          <p:nvPr/>
        </p:nvSpPr>
        <p:spPr>
          <a:xfrm>
            <a:off x="611560" y="1759337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[</a:t>
            </a:r>
            <a:r>
              <a:rPr lang="zh-CN" altLang="en-US" b="1" dirty="0">
                <a:solidFill>
                  <a:schemeClr val="bg1"/>
                </a:solidFill>
              </a:rPr>
              <a:t>度量值</a:t>
            </a:r>
            <a:r>
              <a:rPr lang="en-US" altLang="zh-CN" b="1" dirty="0">
                <a:solidFill>
                  <a:schemeClr val="bg1"/>
                </a:solidFill>
              </a:rPr>
              <a:t>] &gt; </a:t>
            </a:r>
            <a:r>
              <a:rPr lang="zh-CN" altLang="en-US" b="1" dirty="0">
                <a:solidFill>
                  <a:schemeClr val="bg1"/>
                </a:solidFill>
              </a:rPr>
              <a:t>固定值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7A9BFE-C7F7-4DFC-94E9-AAF6FDAB8390}"/>
              </a:ext>
            </a:extLst>
          </p:cNvPr>
          <p:cNvSpPr txBox="1"/>
          <p:nvPr/>
        </p:nvSpPr>
        <p:spPr>
          <a:xfrm>
            <a:off x="683568" y="2548663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= CALCULATE([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],FILTER('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店名表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',[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]&gt;100 ))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B5F7B8-D874-4857-85A3-CA3AECEBA245}"/>
              </a:ext>
            </a:extLst>
          </p:cNvPr>
          <p:cNvSpPr txBox="1"/>
          <p:nvPr/>
        </p:nvSpPr>
        <p:spPr>
          <a:xfrm>
            <a:off x="683568" y="3138522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初始筛选条件：每一天，门店</a:t>
            </a: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059EF2-4CAE-49A1-BEA4-0DAA4C264C87}"/>
              </a:ext>
            </a:extLst>
          </p:cNvPr>
          <p:cNvSpPr txBox="1"/>
          <p:nvPr/>
        </p:nvSpPr>
        <p:spPr>
          <a:xfrm>
            <a:off x="628328" y="3852270"/>
            <a:ext cx="8136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= CALCULATE([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],FILTER(‘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店名表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‘,</a:t>
            </a:r>
            <a:r>
              <a:rPr lang="en-US" altLang="zh-CN" sz="1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sum('</a:t>
            </a:r>
            <a:r>
              <a:rPr lang="zh-CN" altLang="en-US" sz="1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销售明细表</a:t>
            </a:r>
            <a:r>
              <a:rPr lang="en-US" altLang="zh-CN" sz="1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 [</a:t>
            </a:r>
            <a:r>
              <a:rPr lang="zh-CN" altLang="en-US" sz="1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销售数量</a:t>
            </a:r>
            <a:r>
              <a:rPr lang="en-US" altLang="zh-CN" sz="1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])&gt;100 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))</a:t>
            </a:r>
          </a:p>
        </p:txBody>
      </p:sp>
      <p:sp>
        <p:nvSpPr>
          <p:cNvPr id="9" name="闪电形 8">
            <a:extLst>
              <a:ext uri="{FF2B5EF4-FFF2-40B4-BE49-F238E27FC236}">
                <a16:creationId xmlns:a16="http://schemas.microsoft.com/office/drawing/2014/main" id="{EBD1560B-3D55-4155-8701-7E3642092CAE}"/>
              </a:ext>
            </a:extLst>
          </p:cNvPr>
          <p:cNvSpPr/>
          <p:nvPr/>
        </p:nvSpPr>
        <p:spPr>
          <a:xfrm>
            <a:off x="6228184" y="3630729"/>
            <a:ext cx="576064" cy="720080"/>
          </a:xfrm>
          <a:prstGeom prst="lightningBol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528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3780B7-ACD9-48E7-B25F-C23682FA1042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BD7031-8F54-46EC-82E7-D074D5420065}"/>
              </a:ext>
            </a:extLst>
          </p:cNvPr>
          <p:cNvSpPr txBox="1"/>
          <p:nvPr/>
        </p:nvSpPr>
        <p:spPr>
          <a:xfrm>
            <a:off x="151269" y="411510"/>
            <a:ext cx="3662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在使用</a:t>
            </a:r>
            <a:r>
              <a:rPr lang="en-US" altLang="zh-CN" sz="2000" b="1" dirty="0">
                <a:solidFill>
                  <a:schemeClr val="bg1"/>
                </a:solidFill>
              </a:rPr>
              <a:t>Filter</a:t>
            </a:r>
            <a:r>
              <a:rPr lang="zh-CN" altLang="en-US" sz="2000" b="1" dirty="0">
                <a:solidFill>
                  <a:schemeClr val="bg1"/>
                </a:solidFill>
              </a:rPr>
              <a:t>函数时格外注意：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403AA3-E1F1-4AF5-B8AE-3756BEFC8BBB}"/>
              </a:ext>
            </a:extLst>
          </p:cNvPr>
          <p:cNvSpPr txBox="1"/>
          <p:nvPr/>
        </p:nvSpPr>
        <p:spPr>
          <a:xfrm>
            <a:off x="1259632" y="1491630"/>
            <a:ext cx="7416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、尽量在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Lookup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表里使用，不要在数据表里用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、如果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直接筛选能完成的工作，不要炫技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97833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61B22C-934B-437A-A75D-ABDCE19AC1E3}"/>
              </a:ext>
            </a:extLst>
          </p:cNvPr>
          <p:cNvSpPr/>
          <p:nvPr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086FE2-62D3-40CA-A3A1-30511D14EEF5}"/>
              </a:ext>
            </a:extLst>
          </p:cNvPr>
          <p:cNvSpPr txBox="1"/>
          <p:nvPr/>
        </p:nvSpPr>
        <p:spPr>
          <a:xfrm>
            <a:off x="971600" y="373200"/>
            <a:ext cx="71287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	</a:t>
            </a:r>
            <a:r>
              <a:rPr lang="zh-CN" altLang="en-US" sz="2400" b="1" dirty="0">
                <a:solidFill>
                  <a:schemeClr val="bg1"/>
                </a:solidFill>
              </a:rPr>
              <a:t>下节课很重要，如果你听不懂，之前的都白学了！如果知乎、简书上面入门学习文章你看不懂，就是因为下节课的内容你不懂。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endParaRPr lang="en-US" altLang="zh-CN" sz="2400" b="1" dirty="0">
              <a:solidFill>
                <a:schemeClr val="bg1"/>
              </a:solidFill>
            </a:endParaRPr>
          </a:p>
          <a:p>
            <a:r>
              <a:rPr lang="en-US" altLang="zh-CN" sz="2400" b="1" dirty="0">
                <a:solidFill>
                  <a:schemeClr val="bg1"/>
                </a:solidFill>
              </a:rPr>
              <a:t>	</a:t>
            </a:r>
            <a:r>
              <a:rPr lang="zh-CN" altLang="en-US" sz="2400" b="1" dirty="0">
                <a:solidFill>
                  <a:schemeClr val="bg1"/>
                </a:solidFill>
              </a:rPr>
              <a:t>既然已经走到这里了，就不要放弃，下节课听不懂就多听几遍！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endParaRPr lang="en-US" altLang="zh-CN" sz="24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4800" b="1" dirty="0">
                <a:solidFill>
                  <a:srgbClr val="00B0F0"/>
                </a:solidFill>
              </a:rPr>
              <a:t>我相信你！</a:t>
            </a:r>
            <a:r>
              <a:rPr lang="zh-CN" altLang="en-US" sz="4800" b="1" dirty="0">
                <a:solidFill>
                  <a:srgbClr val="FF0000"/>
                </a:solidFill>
              </a:rPr>
              <a:t>你一定行！</a:t>
            </a:r>
          </a:p>
        </p:txBody>
      </p:sp>
    </p:spTree>
    <p:extLst>
      <p:ext uri="{BB962C8B-B14F-4D97-AF65-F5344CB8AC3E}">
        <p14:creationId xmlns:p14="http://schemas.microsoft.com/office/powerpoint/2010/main" val="40304219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x2m0mzta">
      <a:dk1>
        <a:srgbClr val="000000"/>
      </a:dk1>
      <a:lt1>
        <a:srgbClr val="FFFFFF"/>
      </a:lt1>
      <a:dk2>
        <a:srgbClr val="FAB220"/>
      </a:dk2>
      <a:lt2>
        <a:srgbClr val="FA7901"/>
      </a:lt2>
      <a:accent1>
        <a:srgbClr val="CB2332"/>
      </a:accent1>
      <a:accent2>
        <a:srgbClr val="A6325B"/>
      </a:accent2>
      <a:accent3>
        <a:srgbClr val="0B4366"/>
      </a:accent3>
      <a:accent4>
        <a:srgbClr val="21A0D3"/>
      </a:accent4>
      <a:accent5>
        <a:srgbClr val="3CC5D1"/>
      </a:accent5>
      <a:accent6>
        <a:srgbClr val="4CC9A9"/>
      </a:accent6>
      <a:hlink>
        <a:srgbClr val="3B424C"/>
      </a:hlink>
      <a:folHlink>
        <a:srgbClr val="1C171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cap="rnd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4800" b="1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6030</TotalTime>
  <Words>464</Words>
  <Application>Microsoft Office PowerPoint</Application>
  <PresentationFormat>全屏显示(16:9)</PresentationFormat>
  <Paragraphs>39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pptmall.net</dc:title>
  <dc:creator>pptmall.net</dc:creator>
  <cp:lastModifiedBy>孙艺航</cp:lastModifiedBy>
  <cp:revision>1109</cp:revision>
  <dcterms:created xsi:type="dcterms:W3CDTF">2014-02-28T09:23:05Z</dcterms:created>
  <dcterms:modified xsi:type="dcterms:W3CDTF">2020-03-14T12:30:41Z</dcterms:modified>
</cp:coreProperties>
</file>