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388" r:id="rId2"/>
    <p:sldId id="390" r:id="rId3"/>
    <p:sldId id="389" r:id="rId4"/>
    <p:sldId id="391" r:id="rId5"/>
    <p:sldId id="392" r:id="rId6"/>
    <p:sldId id="393" r:id="rId7"/>
  </p:sldIdLst>
  <p:sldSz cx="9144000" cy="5143500" type="screen16x9"/>
  <p:notesSz cx="6858000" cy="9144000"/>
  <p:custDataLst>
    <p:tags r:id="rId10"/>
  </p:custData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5511" userDrawn="1">
          <p15:clr>
            <a:srgbClr val="A4A3A4"/>
          </p15:clr>
        </p15:guide>
        <p15:guide id="7" pos="612" userDrawn="1">
          <p15:clr>
            <a:srgbClr val="A4A3A4"/>
          </p15:clr>
        </p15:guide>
        <p15:guide id="8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78F4"/>
    <a:srgbClr val="C5C5C5"/>
    <a:srgbClr val="192834"/>
    <a:srgbClr val="FBE9EC"/>
    <a:srgbClr val="FEE4F6"/>
    <a:srgbClr val="FEFEFE"/>
    <a:srgbClr val="D5DBDE"/>
    <a:srgbClr val="DDE5ED"/>
    <a:srgbClr val="C6D0D6"/>
    <a:srgbClr val="D6DF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11" autoAdjust="0"/>
    <p:restoredTop sz="95013" autoAdjust="0"/>
  </p:normalViewPr>
  <p:slideViewPr>
    <p:cSldViewPr>
      <p:cViewPr varScale="1">
        <p:scale>
          <a:sx n="150" d="100"/>
          <a:sy n="150" d="100"/>
        </p:scale>
        <p:origin x="432" y="120"/>
      </p:cViewPr>
      <p:guideLst>
        <p:guide pos="5511"/>
        <p:guide pos="612"/>
        <p:guide orient="horz" pos="1620"/>
      </p:guideLst>
    </p:cSldViewPr>
  </p:slideViewPr>
  <p:outlineViewPr>
    <p:cViewPr>
      <p:scale>
        <a:sx n="33" d="100"/>
        <a:sy n="33" d="100"/>
      </p:scale>
      <p:origin x="0" y="-440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136"/>
    </p:cViewPr>
  </p:sorterViewPr>
  <p:notesViewPr>
    <p:cSldViewPr showGuides="1">
      <p:cViewPr varScale="1">
        <p:scale>
          <a:sx n="120" d="100"/>
          <a:sy n="120" d="100"/>
        </p:scale>
        <p:origin x="3834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C304B3-FA9F-49C1-859E-2458D1B84048}" type="datetimeFigureOut">
              <a:rPr lang="zh-CN" altLang="en-US" smtClean="0"/>
              <a:t>2020/3/14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B05DBC-4E0E-43E3-A060-4938178F15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8614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4EB415-5FD7-4318-806E-930189874889}" type="datetimeFigureOut">
              <a:rPr lang="zh-CN" altLang="en-US" smtClean="0"/>
              <a:t>2020/3/14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2A4CF9-9236-450D-BC13-91858061C6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472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色有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2332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ko-KR" altLang="en-US" dirty="0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57200" y="4803998"/>
            <a:ext cx="1217000" cy="246221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spcBef>
                <a:spcPct val="0"/>
              </a:spcBef>
              <a:buNone/>
              <a:defRPr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lvl="0"/>
            <a:r>
              <a:rPr lang="en-US" altLang="zh-CN" sz="1000" dirty="0">
                <a:solidFill>
                  <a:schemeClr val="bg1">
                    <a:lumMod val="75000"/>
                  </a:schemeClr>
                </a:solidFill>
              </a:rPr>
              <a:t>www.pptmall.net</a:t>
            </a:r>
            <a:endParaRPr lang="zh-CN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7781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黑色有标题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124EB12D-71AA-4797-9E53-6CDD91A37DC7}"/>
              </a:ext>
            </a:extLst>
          </p:cNvPr>
          <p:cNvSpPr txBox="1"/>
          <p:nvPr userDrawn="1"/>
        </p:nvSpPr>
        <p:spPr>
          <a:xfrm>
            <a:off x="409220" y="4731990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rgbClr val="C5C5C5"/>
                </a:solidFill>
              </a:rPr>
              <a:t>主讲：孙兴华</a:t>
            </a:r>
          </a:p>
        </p:txBody>
      </p:sp>
    </p:spTree>
    <p:extLst>
      <p:ext uri="{BB962C8B-B14F-4D97-AF65-F5344CB8AC3E}">
        <p14:creationId xmlns:p14="http://schemas.microsoft.com/office/powerpoint/2010/main" val="326619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2762BF6-6E3F-433B-AB39-F4DEF76FD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787EF-A92C-4F47-B9B3-48D91E515FA5}" type="datetimeFigureOut">
              <a:rPr lang="zh-CN" altLang="en-US" smtClean="0"/>
              <a:t>2020/3/14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4014B5B-56D1-4541-8470-F1DD30F29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BF0C11-692D-4D1E-B3C9-068673586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AF675-5BB6-4475-9536-7FDBB62290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068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bg1">
                <a:lumMod val="85000"/>
                <a:alpha val="60000"/>
              </a:schemeClr>
            </a:gs>
            <a:gs pos="0">
              <a:schemeClr val="bg1">
                <a:lumMod val="85000"/>
                <a:alpha val="60000"/>
              </a:schemeClr>
            </a:gs>
            <a:gs pos="50000">
              <a:schemeClr val="bg1"/>
            </a:gs>
            <a:gs pos="73000">
              <a:schemeClr val="bg1"/>
            </a:gs>
            <a:gs pos="26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5230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2" r:id="rId2"/>
    <p:sldLayoutId id="2147483701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22D9F3B-5487-4C5E-90DE-AA39DBFC8031}"/>
              </a:ext>
            </a:extLst>
          </p:cNvPr>
          <p:cNvSpPr txBox="1"/>
          <p:nvPr/>
        </p:nvSpPr>
        <p:spPr>
          <a:xfrm>
            <a:off x="251520" y="339502"/>
            <a:ext cx="22322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</a:rPr>
              <a:t>Earlier</a:t>
            </a:r>
            <a:r>
              <a:rPr lang="zh-CN" altLang="en-US" sz="1600" b="1" dirty="0">
                <a:solidFill>
                  <a:schemeClr val="bg1"/>
                </a:solidFill>
              </a:rPr>
              <a:t>函数：当前行</a:t>
            </a:r>
            <a:endParaRPr lang="zh-CN" altLang="en-US" sz="1600" b="1" dirty="0">
              <a:solidFill>
                <a:srgbClr val="FFFF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F359363-0299-4689-BC0F-3650EC6FF68A}"/>
              </a:ext>
            </a:extLst>
          </p:cNvPr>
          <p:cNvSpPr txBox="1"/>
          <p:nvPr/>
        </p:nvSpPr>
        <p:spPr>
          <a:xfrm>
            <a:off x="2555776" y="339502"/>
            <a:ext cx="22322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FF00"/>
                </a:solidFill>
              </a:rPr>
              <a:t>【</a:t>
            </a:r>
            <a:r>
              <a:rPr lang="zh-CN" altLang="en-US" sz="1600" b="1" dirty="0">
                <a:solidFill>
                  <a:srgbClr val="FFFF00"/>
                </a:solidFill>
              </a:rPr>
              <a:t>行上下文</a:t>
            </a:r>
            <a:r>
              <a:rPr lang="en-US" altLang="zh-CN" sz="1600" b="1" dirty="0">
                <a:solidFill>
                  <a:srgbClr val="FFFF00"/>
                </a:solidFill>
              </a:rPr>
              <a:t>】</a:t>
            </a:r>
            <a:endParaRPr lang="zh-CN" altLang="en-US" sz="1600" b="1" dirty="0">
              <a:solidFill>
                <a:srgbClr val="FFFF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467D487-6EC8-4391-B165-26A2CD33B3E2}"/>
              </a:ext>
            </a:extLst>
          </p:cNvPr>
          <p:cNvSpPr txBox="1"/>
          <p:nvPr/>
        </p:nvSpPr>
        <p:spPr>
          <a:xfrm>
            <a:off x="1218010" y="831689"/>
            <a:ext cx="56166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</a:rPr>
              <a:t>作用：使用</a:t>
            </a:r>
            <a:r>
              <a:rPr lang="en-US" altLang="zh-CN" sz="1600" b="1" dirty="0">
                <a:solidFill>
                  <a:schemeClr val="bg1"/>
                </a:solidFill>
              </a:rPr>
              <a:t>Earlier</a:t>
            </a:r>
            <a:r>
              <a:rPr lang="zh-CN" altLang="en-US" sz="1600" b="1">
                <a:solidFill>
                  <a:schemeClr val="bg1"/>
                </a:solidFill>
              </a:rPr>
              <a:t>函数得到当前行</a:t>
            </a:r>
            <a:endParaRPr lang="zh-CN" altLang="en-US" sz="1600" b="1" dirty="0">
              <a:solidFill>
                <a:srgbClr val="FFFF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9BCDCCD-B647-41CD-9277-CC06FBC33665}"/>
              </a:ext>
            </a:extLst>
          </p:cNvPr>
          <p:cNvSpPr txBox="1"/>
          <p:nvPr/>
        </p:nvSpPr>
        <p:spPr>
          <a:xfrm>
            <a:off x="1196306" y="1323876"/>
            <a:ext cx="56166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rgbClr val="FFFF00"/>
                </a:solidFill>
              </a:rPr>
              <a:t>经典语句：</a:t>
            </a:r>
            <a:endParaRPr lang="en-US" altLang="zh-CN" sz="1200" b="1">
              <a:solidFill>
                <a:srgbClr val="FFFF00"/>
              </a:solidFill>
            </a:endParaRPr>
          </a:p>
          <a:p>
            <a:endParaRPr lang="en-US" altLang="zh-CN" sz="1200" b="1">
              <a:solidFill>
                <a:srgbClr val="FFFF00"/>
              </a:solidFill>
            </a:endParaRPr>
          </a:p>
          <a:p>
            <a:r>
              <a:rPr lang="en-US" altLang="zh-CN" sz="1200" b="1">
                <a:solidFill>
                  <a:srgbClr val="FFFF00"/>
                </a:solidFill>
              </a:rPr>
              <a:t>Calculate([</a:t>
            </a:r>
            <a:r>
              <a:rPr lang="zh-CN" altLang="en-US" sz="1200" b="1">
                <a:solidFill>
                  <a:srgbClr val="FFFF00"/>
                </a:solidFill>
              </a:rPr>
              <a:t>度量值</a:t>
            </a:r>
            <a:r>
              <a:rPr lang="en-US" altLang="zh-CN" sz="1200" b="1">
                <a:solidFill>
                  <a:srgbClr val="FFFF00"/>
                </a:solidFill>
              </a:rPr>
              <a:t>],Filter('</a:t>
            </a:r>
            <a:r>
              <a:rPr lang="zh-CN" altLang="en-US" sz="1200" b="1">
                <a:solidFill>
                  <a:srgbClr val="FFFF00"/>
                </a:solidFill>
              </a:rPr>
              <a:t>表名</a:t>
            </a:r>
            <a:r>
              <a:rPr lang="en-US" altLang="zh-CN" sz="1200" b="1">
                <a:solidFill>
                  <a:srgbClr val="FFFF00"/>
                </a:solidFill>
              </a:rPr>
              <a:t>',[</a:t>
            </a:r>
            <a:r>
              <a:rPr lang="zh-CN" altLang="en-US" sz="1200" b="1">
                <a:solidFill>
                  <a:srgbClr val="FFFF00"/>
                </a:solidFill>
              </a:rPr>
              <a:t>列名</a:t>
            </a:r>
            <a:r>
              <a:rPr lang="en-US" altLang="zh-CN" sz="1200" b="1">
                <a:solidFill>
                  <a:srgbClr val="FFFF00"/>
                </a:solidFill>
              </a:rPr>
              <a:t>]=Earlier([</a:t>
            </a:r>
            <a:r>
              <a:rPr lang="zh-CN" altLang="en-US" sz="1200" b="1">
                <a:solidFill>
                  <a:srgbClr val="FFFF00"/>
                </a:solidFill>
              </a:rPr>
              <a:t>列</a:t>
            </a:r>
            <a:r>
              <a:rPr lang="en-US" altLang="zh-CN" sz="1200" b="1">
                <a:solidFill>
                  <a:srgbClr val="FFFF00"/>
                </a:solidFill>
              </a:rPr>
              <a:t>]))</a:t>
            </a:r>
          </a:p>
          <a:p>
            <a:endParaRPr lang="en-US" altLang="zh-CN" sz="1200" b="1">
              <a:solidFill>
                <a:srgbClr val="FFFF00"/>
              </a:solidFill>
            </a:endParaRPr>
          </a:p>
          <a:p>
            <a:r>
              <a:rPr lang="zh-CN" altLang="en-US" sz="1200" b="1">
                <a:solidFill>
                  <a:srgbClr val="FFFF00"/>
                </a:solidFill>
              </a:rPr>
              <a:t>它与索引列结合起来，可以去关联上一行或上几行</a:t>
            </a:r>
            <a:endParaRPr lang="en-US" altLang="zh-CN" sz="1200" b="1">
              <a:solidFill>
                <a:srgbClr val="FFFF00"/>
              </a:solidFill>
            </a:endParaRPr>
          </a:p>
          <a:p>
            <a:endParaRPr lang="en-US" altLang="zh-CN" sz="1200" b="1">
              <a:solidFill>
                <a:srgbClr val="FFFF00"/>
              </a:solidFill>
            </a:endParaRPr>
          </a:p>
          <a:p>
            <a:r>
              <a:rPr lang="en-US" altLang="zh-CN" sz="1200" b="1">
                <a:solidFill>
                  <a:srgbClr val="FFFF00"/>
                </a:solidFill>
              </a:rPr>
              <a:t>Calculate([</a:t>
            </a:r>
            <a:r>
              <a:rPr lang="zh-CN" altLang="en-US" sz="1200" b="1">
                <a:solidFill>
                  <a:srgbClr val="FFFF00"/>
                </a:solidFill>
              </a:rPr>
              <a:t>度量值</a:t>
            </a:r>
            <a:r>
              <a:rPr lang="en-US" altLang="zh-CN" sz="1200" b="1">
                <a:solidFill>
                  <a:srgbClr val="FFFF00"/>
                </a:solidFill>
              </a:rPr>
              <a:t>],Filter('</a:t>
            </a:r>
            <a:r>
              <a:rPr lang="zh-CN" altLang="en-US" sz="1200" b="1">
                <a:solidFill>
                  <a:srgbClr val="FFFF00"/>
                </a:solidFill>
              </a:rPr>
              <a:t>表名</a:t>
            </a:r>
            <a:r>
              <a:rPr lang="en-US" altLang="zh-CN" sz="1200" b="1">
                <a:solidFill>
                  <a:srgbClr val="FFFF00"/>
                </a:solidFill>
              </a:rPr>
              <a:t>',[</a:t>
            </a:r>
            <a:r>
              <a:rPr lang="zh-CN" altLang="en-US" sz="1200" b="1">
                <a:solidFill>
                  <a:srgbClr val="FFFF00"/>
                </a:solidFill>
              </a:rPr>
              <a:t>索引</a:t>
            </a:r>
            <a:r>
              <a:rPr lang="en-US" altLang="zh-CN" sz="1200" b="1">
                <a:solidFill>
                  <a:srgbClr val="FFFF00"/>
                </a:solidFill>
              </a:rPr>
              <a:t>]=Earlier([</a:t>
            </a:r>
            <a:r>
              <a:rPr lang="zh-CN" altLang="en-US" sz="1200" b="1">
                <a:solidFill>
                  <a:srgbClr val="FFFF00"/>
                </a:solidFill>
              </a:rPr>
              <a:t>索引</a:t>
            </a:r>
            <a:r>
              <a:rPr lang="en-US" altLang="zh-CN" sz="1200" b="1">
                <a:solidFill>
                  <a:srgbClr val="FFFF00"/>
                </a:solidFill>
              </a:rPr>
              <a:t>]-1))</a:t>
            </a:r>
          </a:p>
          <a:p>
            <a:endParaRPr lang="zh-CN" altLang="en-US" sz="1200" b="1" dirty="0">
              <a:solidFill>
                <a:srgbClr val="FFFF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629DD56-7B50-414E-B738-24FFD5FF3F9F}"/>
              </a:ext>
            </a:extLst>
          </p:cNvPr>
          <p:cNvSpPr txBox="1"/>
          <p:nvPr/>
        </p:nvSpPr>
        <p:spPr>
          <a:xfrm>
            <a:off x="1218010" y="2893536"/>
            <a:ext cx="78184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rgbClr val="00B0F0"/>
                </a:solidFill>
              </a:rPr>
              <a:t>应用：观察新建列的数值是什么</a:t>
            </a:r>
            <a:r>
              <a:rPr lang="en-US" altLang="zh-CN" sz="1200" b="1">
                <a:solidFill>
                  <a:srgbClr val="00B0F0"/>
                </a:solidFill>
              </a:rPr>
              <a:t>?</a:t>
            </a:r>
            <a:r>
              <a:rPr lang="zh-CN" altLang="en-US" sz="1200" b="1">
                <a:solidFill>
                  <a:srgbClr val="00B0F0"/>
                </a:solidFill>
              </a:rPr>
              <a:t>整个国产的销量</a:t>
            </a:r>
            <a:endParaRPr lang="en-US" altLang="zh-CN" sz="1200" b="1">
              <a:solidFill>
                <a:srgbClr val="00B0F0"/>
              </a:solidFill>
            </a:endParaRPr>
          </a:p>
          <a:p>
            <a:r>
              <a:rPr lang="zh-CN" altLang="en-US" sz="1200" b="1">
                <a:solidFill>
                  <a:srgbClr val="FF0000"/>
                </a:solidFill>
              </a:rPr>
              <a:t>度量值</a:t>
            </a:r>
            <a:r>
              <a:rPr lang="en-US" altLang="zh-CN" sz="1200" b="1">
                <a:solidFill>
                  <a:srgbClr val="FF0000"/>
                </a:solidFill>
              </a:rPr>
              <a:t>·</a:t>
            </a:r>
            <a:r>
              <a:rPr lang="zh-CN" altLang="en-US" sz="1200" b="1">
                <a:solidFill>
                  <a:srgbClr val="FF0000"/>
                </a:solidFill>
              </a:rPr>
              <a:t>   </a:t>
            </a:r>
            <a:r>
              <a:rPr lang="zh-CN" altLang="en-US" sz="105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销售量 </a:t>
            </a:r>
            <a:r>
              <a:rPr lang="en-US" altLang="zh-CN" sz="105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SUM('</a:t>
            </a:r>
            <a:r>
              <a:rPr lang="zh-CN" altLang="en-US" sz="105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销售表</a:t>
            </a:r>
            <a:r>
              <a:rPr lang="en-US" altLang="zh-CN" sz="105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'[</a:t>
            </a:r>
            <a:r>
              <a:rPr lang="zh-CN" altLang="en-US" sz="105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销售数量</a:t>
            </a:r>
            <a:r>
              <a:rPr lang="en-US" altLang="zh-CN" sz="105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 )</a:t>
            </a:r>
          </a:p>
          <a:p>
            <a:r>
              <a:rPr lang="zh-CN" altLang="en-US" sz="1200" b="1">
                <a:solidFill>
                  <a:srgbClr val="FFFF00"/>
                </a:solidFill>
              </a:rPr>
              <a:t>新建列</a:t>
            </a:r>
            <a:r>
              <a:rPr lang="en-US" altLang="zh-CN" sz="1200" b="1">
                <a:solidFill>
                  <a:srgbClr val="FFFF00"/>
                </a:solidFill>
              </a:rPr>
              <a:t>·   </a:t>
            </a:r>
            <a:r>
              <a:rPr lang="zh-CN" altLang="en-US" sz="105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列 </a:t>
            </a:r>
            <a:r>
              <a:rPr lang="en-US" altLang="zh-CN" sz="105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CALCULATE([</a:t>
            </a:r>
            <a:r>
              <a:rPr lang="zh-CN" altLang="en-US" sz="105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销售量</a:t>
            </a:r>
            <a:r>
              <a:rPr lang="en-US" altLang="zh-CN" sz="105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],FILTER('</a:t>
            </a:r>
            <a:r>
              <a:rPr lang="zh-CN" altLang="en-US" sz="105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产品表</a:t>
            </a:r>
            <a:r>
              <a:rPr lang="en-US" altLang="zh-CN" sz="105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','</a:t>
            </a:r>
            <a:r>
              <a:rPr lang="zh-CN" altLang="en-US" sz="105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产品表</a:t>
            </a:r>
            <a:r>
              <a:rPr lang="en-US" altLang="zh-CN" sz="105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'[</a:t>
            </a:r>
            <a:r>
              <a:rPr lang="zh-CN" altLang="en-US" sz="105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巧克力种类</a:t>
            </a:r>
            <a:r>
              <a:rPr lang="en-US" altLang="zh-CN" sz="105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]=EARLIER('</a:t>
            </a:r>
            <a:r>
              <a:rPr lang="zh-CN" altLang="en-US" sz="105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产品表</a:t>
            </a:r>
            <a:r>
              <a:rPr lang="en-US" altLang="zh-CN" sz="105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'[</a:t>
            </a:r>
            <a:r>
              <a:rPr lang="zh-CN" altLang="en-US" sz="105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巧克力种类</a:t>
            </a:r>
            <a:r>
              <a:rPr lang="en-US" altLang="zh-CN" sz="105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])))</a:t>
            </a:r>
          </a:p>
          <a:p>
            <a:endParaRPr lang="zh-CN" altLang="en-US" sz="1200" b="1" dirty="0">
              <a:solidFill>
                <a:srgbClr val="FFFF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D27E8C-B21F-4137-971D-8BA6C5127528}"/>
              </a:ext>
            </a:extLst>
          </p:cNvPr>
          <p:cNvSpPr txBox="1"/>
          <p:nvPr/>
        </p:nvSpPr>
        <p:spPr>
          <a:xfrm>
            <a:off x="1218010" y="3867894"/>
            <a:ext cx="64503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zh-CN" altLang="en-US" sz="1200" b="1">
                <a:solidFill>
                  <a:schemeClr val="bg1"/>
                </a:solidFill>
              </a:rPr>
              <a:t>这个函数需要在实践中不断体验，如果你觉得不好理解，没关系，下节课我们讲</a:t>
            </a:r>
            <a:r>
              <a:rPr lang="en-US" altLang="zh-CN" sz="1200" b="1">
                <a:solidFill>
                  <a:schemeClr val="bg1"/>
                </a:solidFill>
              </a:rPr>
              <a:t>VAR</a:t>
            </a:r>
            <a:r>
              <a:rPr lang="zh-CN" altLang="en-US" sz="1200" b="1">
                <a:solidFill>
                  <a:schemeClr val="bg1"/>
                </a:solidFill>
              </a:rPr>
              <a:t>函数时会介绍一种可以取代</a:t>
            </a:r>
            <a:r>
              <a:rPr lang="en-US" altLang="zh-CN" sz="1200" b="1">
                <a:solidFill>
                  <a:schemeClr val="bg1"/>
                </a:solidFill>
              </a:rPr>
              <a:t>Earlier</a:t>
            </a:r>
            <a:r>
              <a:rPr lang="zh-CN" altLang="en-US" sz="1200" b="1">
                <a:solidFill>
                  <a:schemeClr val="bg1"/>
                </a:solidFill>
              </a:rPr>
              <a:t>函数的方法。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0063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32966CF-199A-4F91-A911-905672F32D84}"/>
              </a:ext>
            </a:extLst>
          </p:cNvPr>
          <p:cNvSpPr txBox="1"/>
          <p:nvPr/>
        </p:nvSpPr>
        <p:spPr>
          <a:xfrm>
            <a:off x="971600" y="411510"/>
            <a:ext cx="64503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zh-CN" altLang="en-US" b="1">
                <a:solidFill>
                  <a:schemeClr val="bg1"/>
                </a:solidFill>
              </a:rPr>
              <a:t>计算同一顾客多次购买的情况：</a:t>
            </a:r>
            <a:endParaRPr lang="en-US" altLang="zh-CN" b="1">
              <a:solidFill>
                <a:schemeClr val="bg1"/>
              </a:solidFill>
            </a:endParaRPr>
          </a:p>
          <a:p>
            <a:pPr indent="457200"/>
            <a:endParaRPr lang="en-US" altLang="zh-CN" sz="1200" b="1">
              <a:solidFill>
                <a:schemeClr val="bg1"/>
              </a:solidFill>
            </a:endParaRPr>
          </a:p>
          <a:p>
            <a:pPr indent="457200"/>
            <a:r>
              <a:rPr lang="zh-CN" altLang="en-US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表</a:t>
            </a:r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= FILTER('</a:t>
            </a:r>
            <a:r>
              <a:rPr lang="zh-CN" altLang="en-US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销售表</a:t>
            </a:r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','</a:t>
            </a:r>
            <a:r>
              <a:rPr lang="zh-CN" altLang="en-US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销售表</a:t>
            </a:r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'[</a:t>
            </a:r>
            <a:r>
              <a:rPr lang="zh-CN" altLang="en-US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顾客</a:t>
            </a:r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ID]=9527 ) </a:t>
            </a:r>
          </a:p>
          <a:p>
            <a:pPr indent="457200"/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B86C4D-9326-48C5-86E4-B6C27E296657}"/>
              </a:ext>
            </a:extLst>
          </p:cNvPr>
          <p:cNvSpPr txBox="1"/>
          <p:nvPr/>
        </p:nvSpPr>
        <p:spPr>
          <a:xfrm>
            <a:off x="971600" y="1491630"/>
            <a:ext cx="645033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zh-CN" altLang="en-US" b="1">
                <a:solidFill>
                  <a:schemeClr val="bg1"/>
                </a:solidFill>
              </a:rPr>
              <a:t>想知道每笔订单客户第几次购买：自动更新序号</a:t>
            </a:r>
            <a:endParaRPr lang="en-US" altLang="zh-CN" b="1">
              <a:solidFill>
                <a:schemeClr val="bg1"/>
              </a:solidFill>
            </a:endParaRPr>
          </a:p>
          <a:p>
            <a:pPr indent="457200"/>
            <a:endParaRPr lang="en-US" altLang="zh-CN" sz="1200" b="1">
              <a:solidFill>
                <a:schemeClr val="bg1"/>
              </a:solidFill>
            </a:endParaRPr>
          </a:p>
          <a:p>
            <a:pPr indent="457200"/>
            <a:r>
              <a:rPr lang="zh-CN" altLang="en-US" sz="1200" b="1">
                <a:solidFill>
                  <a:schemeClr val="bg1"/>
                </a:solidFill>
              </a:rPr>
              <a:t>借助索引列</a:t>
            </a:r>
            <a:endParaRPr lang="en-US" altLang="zh-CN" sz="1200" b="1">
              <a:solidFill>
                <a:schemeClr val="bg1"/>
              </a:solidFill>
            </a:endParaRPr>
          </a:p>
          <a:p>
            <a:pPr indent="457200"/>
            <a:endParaRPr lang="en-US" altLang="zh-CN" sz="1200" b="1">
              <a:solidFill>
                <a:schemeClr val="bg1"/>
              </a:solidFill>
            </a:endParaRPr>
          </a:p>
          <a:p>
            <a:pPr lvl="1"/>
            <a:r>
              <a:rPr lang="zh-CN" altLang="en-US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第几次购买 </a:t>
            </a:r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COUNTROWS(</a:t>
            </a:r>
          </a:p>
          <a:p>
            <a:pPr lvl="1"/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filter('</a:t>
            </a:r>
            <a:r>
              <a:rPr lang="zh-CN" altLang="en-US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销售表</a:t>
            </a:r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',</a:t>
            </a:r>
          </a:p>
          <a:p>
            <a:pPr lvl="1"/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</a:t>
            </a:r>
            <a:r>
              <a:rPr lang="zh-CN" altLang="en-US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销售表</a:t>
            </a:r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'[</a:t>
            </a:r>
            <a:r>
              <a:rPr lang="zh-CN" altLang="en-US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顾客</a:t>
            </a:r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ID]=EARLIER('</a:t>
            </a:r>
            <a:r>
              <a:rPr lang="zh-CN" altLang="en-US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销售表</a:t>
            </a:r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'[</a:t>
            </a:r>
            <a:r>
              <a:rPr lang="zh-CN" altLang="en-US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顾客</a:t>
            </a:r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ID])</a:t>
            </a:r>
          </a:p>
          <a:p>
            <a:pPr lvl="1"/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&amp;&amp;</a:t>
            </a:r>
          </a:p>
          <a:p>
            <a:pPr lvl="1"/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</a:t>
            </a:r>
            <a:r>
              <a:rPr lang="zh-CN" altLang="en-US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销售表</a:t>
            </a:r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'[</a:t>
            </a:r>
            <a:r>
              <a:rPr lang="zh-CN" altLang="en-US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索引</a:t>
            </a:r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]&lt;=EARLIER('</a:t>
            </a:r>
            <a:r>
              <a:rPr lang="zh-CN" altLang="en-US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销售表</a:t>
            </a:r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'[</a:t>
            </a:r>
            <a:r>
              <a:rPr lang="zh-CN" altLang="en-US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索引</a:t>
            </a:r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</a:p>
          <a:p>
            <a:pPr lvl="1"/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))</a:t>
            </a:r>
          </a:p>
          <a:p>
            <a:pPr indent="457200"/>
            <a:endParaRPr lang="en-US" altLang="zh-CN" sz="1200" b="1">
              <a:solidFill>
                <a:schemeClr val="bg1"/>
              </a:solidFill>
            </a:endParaRPr>
          </a:p>
          <a:p>
            <a:pPr indent="457200"/>
            <a:endParaRPr lang="zh-CN" alt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5773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367F143-CC90-4190-A9BD-B15C680ABA64}"/>
              </a:ext>
            </a:extLst>
          </p:cNvPr>
          <p:cNvSpPr txBox="1"/>
          <p:nvPr/>
        </p:nvSpPr>
        <p:spPr>
          <a:xfrm>
            <a:off x="251520" y="339502"/>
            <a:ext cx="42484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solidFill>
                  <a:schemeClr val="bg1"/>
                </a:solidFill>
              </a:rPr>
              <a:t>RankX</a:t>
            </a:r>
            <a:r>
              <a:rPr lang="zh-CN" altLang="en-US" sz="1600" b="1">
                <a:solidFill>
                  <a:schemeClr val="bg1"/>
                </a:solidFill>
              </a:rPr>
              <a:t>和</a:t>
            </a:r>
            <a:r>
              <a:rPr lang="en-US" altLang="zh-CN" sz="1600" b="1">
                <a:solidFill>
                  <a:schemeClr val="bg1"/>
                </a:solidFill>
              </a:rPr>
              <a:t>TopN</a:t>
            </a:r>
            <a:r>
              <a:rPr lang="zh-CN" altLang="en-US" sz="1600" b="1">
                <a:solidFill>
                  <a:schemeClr val="bg1"/>
                </a:solidFill>
              </a:rPr>
              <a:t>函数：排名     </a:t>
            </a:r>
            <a:r>
              <a:rPr lang="en-US" altLang="zh-CN" sz="1600" b="1">
                <a:solidFill>
                  <a:schemeClr val="bg1"/>
                </a:solidFill>
              </a:rPr>
              <a:t>【</a:t>
            </a:r>
            <a:r>
              <a:rPr lang="zh-CN" altLang="en-US" sz="1600" b="1">
                <a:solidFill>
                  <a:srgbClr val="FFFF00"/>
                </a:solidFill>
              </a:rPr>
              <a:t>行上下文</a:t>
            </a:r>
            <a:r>
              <a:rPr lang="en-US" altLang="zh-CN" sz="1600" b="1">
                <a:solidFill>
                  <a:schemeClr val="bg1"/>
                </a:solidFill>
              </a:rPr>
              <a:t>】</a:t>
            </a:r>
            <a:endParaRPr lang="zh-CN" altLang="en-US" sz="1600" b="1" dirty="0">
              <a:solidFill>
                <a:srgbClr val="FFFF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558A632-7C63-4BD8-8913-DBDB09A320C3}"/>
              </a:ext>
            </a:extLst>
          </p:cNvPr>
          <p:cNvSpPr txBox="1"/>
          <p:nvPr/>
        </p:nvSpPr>
        <p:spPr>
          <a:xfrm>
            <a:off x="1475656" y="987574"/>
            <a:ext cx="3600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solidFill>
                  <a:schemeClr val="bg1"/>
                </a:solidFill>
              </a:rPr>
              <a:t>RankX</a:t>
            </a:r>
            <a:r>
              <a:rPr lang="zh-CN" altLang="en-US" sz="1600" b="1">
                <a:solidFill>
                  <a:schemeClr val="bg1"/>
                </a:solidFill>
              </a:rPr>
              <a:t>（表名，表达式或度量值）</a:t>
            </a:r>
            <a:endParaRPr lang="zh-CN" altLang="en-US" sz="1600" b="1" dirty="0">
              <a:solidFill>
                <a:srgbClr val="FFFF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92CB4C0-F4F8-4596-82BA-738073253BA2}"/>
              </a:ext>
            </a:extLst>
          </p:cNvPr>
          <p:cNvSpPr txBox="1"/>
          <p:nvPr/>
        </p:nvSpPr>
        <p:spPr>
          <a:xfrm>
            <a:off x="1763688" y="1635646"/>
            <a:ext cx="45365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solidFill>
                  <a:schemeClr val="bg1"/>
                </a:solidFill>
              </a:rPr>
              <a:t>RankX</a:t>
            </a:r>
            <a:r>
              <a:rPr lang="zh-CN" altLang="en-US" sz="1600" b="1">
                <a:solidFill>
                  <a:schemeClr val="bg1"/>
                </a:solidFill>
              </a:rPr>
              <a:t>（</a:t>
            </a:r>
            <a:r>
              <a:rPr lang="en-US" altLang="zh-CN" sz="1600" b="1">
                <a:solidFill>
                  <a:schemeClr val="bg1"/>
                </a:solidFill>
              </a:rPr>
              <a:t>all('</a:t>
            </a:r>
            <a:r>
              <a:rPr lang="zh-CN" altLang="en-US" sz="1600" b="1">
                <a:solidFill>
                  <a:schemeClr val="bg1"/>
                </a:solidFill>
              </a:rPr>
              <a:t>门店信息表</a:t>
            </a:r>
            <a:r>
              <a:rPr lang="en-US" altLang="zh-CN" sz="1600" b="1">
                <a:solidFill>
                  <a:schemeClr val="bg1"/>
                </a:solidFill>
              </a:rPr>
              <a:t>')</a:t>
            </a:r>
            <a:r>
              <a:rPr lang="zh-CN" altLang="en-US" sz="1600" b="1">
                <a:solidFill>
                  <a:schemeClr val="bg1"/>
                </a:solidFill>
              </a:rPr>
              <a:t>，</a:t>
            </a:r>
            <a:r>
              <a:rPr lang="en-US" altLang="zh-CN" sz="1600" b="1">
                <a:solidFill>
                  <a:schemeClr val="bg1"/>
                </a:solidFill>
              </a:rPr>
              <a:t>[</a:t>
            </a:r>
            <a:r>
              <a:rPr lang="zh-CN" altLang="en-US" sz="1600" b="1">
                <a:solidFill>
                  <a:schemeClr val="bg1"/>
                </a:solidFill>
              </a:rPr>
              <a:t>销售总量</a:t>
            </a:r>
            <a:r>
              <a:rPr lang="en-US" altLang="zh-CN" sz="1600" b="1">
                <a:solidFill>
                  <a:schemeClr val="bg1"/>
                </a:solidFill>
              </a:rPr>
              <a:t>]</a:t>
            </a:r>
            <a:r>
              <a:rPr lang="zh-CN" altLang="en-US" sz="1600" b="1">
                <a:solidFill>
                  <a:schemeClr val="bg1"/>
                </a:solidFill>
              </a:rPr>
              <a:t>）</a:t>
            </a:r>
            <a:endParaRPr lang="zh-CN" altLang="en-US" sz="1600" b="1" dirty="0">
              <a:solidFill>
                <a:srgbClr val="FFFF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7C1829D-E469-461E-8C09-F1C0C7038DAF}"/>
              </a:ext>
            </a:extLst>
          </p:cNvPr>
          <p:cNvSpPr txBox="1"/>
          <p:nvPr/>
        </p:nvSpPr>
        <p:spPr>
          <a:xfrm>
            <a:off x="1907704" y="2310904"/>
            <a:ext cx="45365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chemeClr val="bg1"/>
                </a:solidFill>
              </a:rPr>
              <a:t>应用：店铺的销售量排名</a:t>
            </a:r>
            <a:endParaRPr lang="en-US" altLang="zh-CN" sz="1600" b="1">
              <a:solidFill>
                <a:schemeClr val="bg1"/>
              </a:solidFill>
            </a:endParaRPr>
          </a:p>
          <a:p>
            <a:endParaRPr lang="en-US" altLang="zh-CN" sz="1600" b="1">
              <a:solidFill>
                <a:schemeClr val="bg1"/>
              </a:solidFill>
            </a:endParaRPr>
          </a:p>
          <a:p>
            <a:r>
              <a:rPr lang="zh-CN" altLang="en-US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销售量 </a:t>
            </a:r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SUM('</a:t>
            </a:r>
            <a:r>
              <a:rPr lang="zh-CN" altLang="en-US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销售表</a:t>
            </a:r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'[</a:t>
            </a:r>
            <a:r>
              <a:rPr lang="zh-CN" altLang="en-US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销售数量</a:t>
            </a:r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])</a:t>
            </a:r>
          </a:p>
          <a:p>
            <a:endParaRPr lang="en-US" altLang="zh-CN" sz="1200" b="1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销售量排名 </a:t>
            </a:r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RANKX(ALL('</a:t>
            </a:r>
            <a:r>
              <a:rPr lang="zh-CN" altLang="en-US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店号</a:t>
            </a:r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'),[</a:t>
            </a:r>
            <a:r>
              <a:rPr lang="zh-CN" altLang="en-US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销售量</a:t>
            </a:r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 )</a:t>
            </a:r>
          </a:p>
          <a:p>
            <a:endParaRPr lang="en-US" altLang="zh-CN" sz="1200" b="1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zh-CN" altLang="en-US" sz="16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0912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5AB2F67-B65A-4ED0-B10F-C17258F17C7B}"/>
              </a:ext>
            </a:extLst>
          </p:cNvPr>
          <p:cNvSpPr txBox="1"/>
          <p:nvPr/>
        </p:nvSpPr>
        <p:spPr>
          <a:xfrm>
            <a:off x="539552" y="483518"/>
            <a:ext cx="52565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solidFill>
                  <a:schemeClr val="bg1"/>
                </a:solidFill>
              </a:rPr>
              <a:t>RankX</a:t>
            </a:r>
            <a:r>
              <a:rPr lang="zh-CN" altLang="en-US" sz="1600" b="1">
                <a:solidFill>
                  <a:schemeClr val="bg1"/>
                </a:solidFill>
              </a:rPr>
              <a:t>（表名</a:t>
            </a:r>
            <a:r>
              <a:rPr lang="en-US" altLang="zh-CN" sz="1600" b="1">
                <a:solidFill>
                  <a:schemeClr val="bg1"/>
                </a:solidFill>
              </a:rPr>
              <a:t>,</a:t>
            </a:r>
            <a:r>
              <a:rPr lang="zh-CN" altLang="en-US" sz="1600" b="1">
                <a:solidFill>
                  <a:schemeClr val="bg1"/>
                </a:solidFill>
              </a:rPr>
              <a:t>算术表达式</a:t>
            </a:r>
            <a:r>
              <a:rPr lang="en-US" altLang="zh-CN" sz="1600" b="1">
                <a:solidFill>
                  <a:schemeClr val="bg1"/>
                </a:solidFill>
              </a:rPr>
              <a:t>,</a:t>
            </a:r>
            <a:r>
              <a:rPr lang="zh-CN" altLang="en-US" sz="1600" b="1">
                <a:solidFill>
                  <a:srgbClr val="00B0F0"/>
                </a:solidFill>
              </a:rPr>
              <a:t>值</a:t>
            </a:r>
            <a:r>
              <a:rPr lang="en-US" altLang="zh-CN" sz="1600" b="1">
                <a:solidFill>
                  <a:srgbClr val="00B0F0"/>
                </a:solidFill>
              </a:rPr>
              <a:t>,</a:t>
            </a:r>
            <a:r>
              <a:rPr lang="zh-CN" altLang="en-US" sz="1600" b="1">
                <a:solidFill>
                  <a:srgbClr val="00B0F0"/>
                </a:solidFill>
              </a:rPr>
              <a:t>顺序</a:t>
            </a:r>
            <a:r>
              <a:rPr lang="en-US" altLang="zh-CN" sz="1600" b="1">
                <a:solidFill>
                  <a:srgbClr val="00B0F0"/>
                </a:solidFill>
              </a:rPr>
              <a:t>0</a:t>
            </a:r>
            <a:r>
              <a:rPr lang="zh-CN" altLang="en-US" sz="1600" b="1">
                <a:solidFill>
                  <a:srgbClr val="00B0F0"/>
                </a:solidFill>
              </a:rPr>
              <a:t>或</a:t>
            </a:r>
            <a:r>
              <a:rPr lang="en-US" altLang="zh-CN" sz="1600" b="1">
                <a:solidFill>
                  <a:srgbClr val="00B0F0"/>
                </a:solidFill>
              </a:rPr>
              <a:t>1,</a:t>
            </a:r>
            <a:r>
              <a:rPr lang="zh-CN" altLang="en-US" sz="1600" b="1">
                <a:solidFill>
                  <a:srgbClr val="00B0F0"/>
                </a:solidFill>
              </a:rPr>
              <a:t>排序方法</a:t>
            </a:r>
            <a:r>
              <a:rPr lang="zh-CN" altLang="en-US" sz="1600" b="1">
                <a:solidFill>
                  <a:schemeClr val="bg1"/>
                </a:solidFill>
              </a:rPr>
              <a:t>）</a:t>
            </a:r>
            <a:endParaRPr lang="zh-CN" altLang="en-US" sz="1600" b="1" dirty="0">
              <a:solidFill>
                <a:srgbClr val="FFFF00"/>
              </a:solidFill>
            </a:endParaRPr>
          </a:p>
        </p:txBody>
      </p:sp>
      <p:sp>
        <p:nvSpPr>
          <p:cNvPr id="3" name="箭头: 下 2">
            <a:extLst>
              <a:ext uri="{FF2B5EF4-FFF2-40B4-BE49-F238E27FC236}">
                <a16:creationId xmlns:a16="http://schemas.microsoft.com/office/drawing/2014/main" id="{CEDF1889-A974-4D9A-94D6-1DDA6B3F234B}"/>
              </a:ext>
            </a:extLst>
          </p:cNvPr>
          <p:cNvSpPr/>
          <p:nvPr/>
        </p:nvSpPr>
        <p:spPr>
          <a:xfrm>
            <a:off x="3059832" y="822072"/>
            <a:ext cx="144016" cy="165502"/>
          </a:xfrm>
          <a:prstGeom prst="downArrow">
            <a:avLst/>
          </a:prstGeom>
          <a:solidFill>
            <a:srgbClr val="FF0000"/>
          </a:soli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FC05B0-6B25-4DFC-B311-3746A7CD502A}"/>
              </a:ext>
            </a:extLst>
          </p:cNvPr>
          <p:cNvSpPr txBox="1"/>
          <p:nvPr/>
        </p:nvSpPr>
        <p:spPr>
          <a:xfrm>
            <a:off x="2483768" y="987574"/>
            <a:ext cx="11521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>
                <a:solidFill>
                  <a:schemeClr val="bg1"/>
                </a:solidFill>
              </a:rPr>
              <a:t>一般为空</a:t>
            </a:r>
            <a:endParaRPr lang="en-US" altLang="zh-CN" sz="1000" b="1">
              <a:solidFill>
                <a:schemeClr val="bg1"/>
              </a:solidFill>
            </a:endParaRPr>
          </a:p>
        </p:txBody>
      </p:sp>
      <p:sp>
        <p:nvSpPr>
          <p:cNvPr id="5" name="箭头: 下 4">
            <a:extLst>
              <a:ext uri="{FF2B5EF4-FFF2-40B4-BE49-F238E27FC236}">
                <a16:creationId xmlns:a16="http://schemas.microsoft.com/office/drawing/2014/main" id="{BAFC3CB9-0F5E-4461-98F3-934CEE4E0624}"/>
              </a:ext>
            </a:extLst>
          </p:cNvPr>
          <p:cNvSpPr/>
          <p:nvPr/>
        </p:nvSpPr>
        <p:spPr>
          <a:xfrm>
            <a:off x="3730784" y="985450"/>
            <a:ext cx="144016" cy="578188"/>
          </a:xfrm>
          <a:prstGeom prst="downArrow">
            <a:avLst/>
          </a:prstGeom>
          <a:solidFill>
            <a:srgbClr val="FF0000"/>
          </a:soli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150530-4EC0-45B8-849F-0593DE131331}"/>
              </a:ext>
            </a:extLst>
          </p:cNvPr>
          <p:cNvSpPr txBox="1"/>
          <p:nvPr/>
        </p:nvSpPr>
        <p:spPr>
          <a:xfrm>
            <a:off x="3167844" y="1565762"/>
            <a:ext cx="12645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>
                <a:solidFill>
                  <a:schemeClr val="bg1"/>
                </a:solidFill>
              </a:rPr>
              <a:t>默认</a:t>
            </a:r>
            <a:r>
              <a:rPr lang="en-US" altLang="zh-CN" sz="1000" b="1">
                <a:solidFill>
                  <a:schemeClr val="bg1"/>
                </a:solidFill>
              </a:rPr>
              <a:t>0</a:t>
            </a:r>
            <a:r>
              <a:rPr lang="zh-CN" altLang="en-US" sz="1000" b="1">
                <a:solidFill>
                  <a:schemeClr val="bg1"/>
                </a:solidFill>
              </a:rPr>
              <a:t>降序，升序</a:t>
            </a:r>
            <a:r>
              <a:rPr lang="en-US" altLang="zh-CN" sz="10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7" name="箭头: 下 6">
            <a:extLst>
              <a:ext uri="{FF2B5EF4-FFF2-40B4-BE49-F238E27FC236}">
                <a16:creationId xmlns:a16="http://schemas.microsoft.com/office/drawing/2014/main" id="{1CD42E2D-AE06-4936-BD35-3F7C83594116}"/>
              </a:ext>
            </a:extLst>
          </p:cNvPr>
          <p:cNvSpPr/>
          <p:nvPr/>
        </p:nvSpPr>
        <p:spPr>
          <a:xfrm>
            <a:off x="4691452" y="822072"/>
            <a:ext cx="144016" cy="1317630"/>
          </a:xfrm>
          <a:prstGeom prst="downArrow">
            <a:avLst/>
          </a:prstGeom>
          <a:solidFill>
            <a:srgbClr val="FF0000"/>
          </a:soli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FEDA0F4-0461-48B1-9163-51195A70F242}"/>
              </a:ext>
            </a:extLst>
          </p:cNvPr>
          <p:cNvSpPr txBox="1"/>
          <p:nvPr/>
        </p:nvSpPr>
        <p:spPr>
          <a:xfrm>
            <a:off x="3698242" y="2139702"/>
            <a:ext cx="21602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>
                <a:solidFill>
                  <a:schemeClr val="bg1"/>
                </a:solidFill>
              </a:rPr>
              <a:t>默认</a:t>
            </a:r>
            <a:r>
              <a:rPr lang="en-US" altLang="zh-CN" sz="1000" b="1">
                <a:solidFill>
                  <a:schemeClr val="bg1"/>
                </a:solidFill>
              </a:rPr>
              <a:t>Skip</a:t>
            </a:r>
            <a:r>
              <a:rPr lang="zh-CN" altLang="en-US" sz="1000" b="1">
                <a:solidFill>
                  <a:schemeClr val="bg1"/>
                </a:solidFill>
              </a:rPr>
              <a:t>跳过，</a:t>
            </a:r>
            <a:r>
              <a:rPr lang="en-US" altLang="zh-CN" sz="1000" b="1">
                <a:solidFill>
                  <a:schemeClr val="bg1"/>
                </a:solidFill>
              </a:rPr>
              <a:t>Dense</a:t>
            </a:r>
            <a:r>
              <a:rPr lang="zh-CN" altLang="en-US" sz="1000" b="1">
                <a:solidFill>
                  <a:schemeClr val="bg1"/>
                </a:solidFill>
              </a:rPr>
              <a:t>为紧凑型</a:t>
            </a:r>
            <a:endParaRPr lang="en-US" altLang="zh-CN" sz="1000" b="1">
              <a:solidFill>
                <a:schemeClr val="bg1"/>
              </a:solidFill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93526E2-DC8A-4952-9980-247F16157F36}"/>
              </a:ext>
            </a:extLst>
          </p:cNvPr>
          <p:cNvSpPr/>
          <p:nvPr/>
        </p:nvSpPr>
        <p:spPr>
          <a:xfrm>
            <a:off x="3275856" y="265370"/>
            <a:ext cx="864096" cy="720080"/>
          </a:xfrm>
          <a:prstGeom prst="ellipse">
            <a:avLst/>
          </a:prstGeom>
          <a:noFill/>
          <a:ln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DB56BF7-EDC9-4D4F-904A-92B905F95E22}"/>
              </a:ext>
            </a:extLst>
          </p:cNvPr>
          <p:cNvSpPr txBox="1"/>
          <p:nvPr/>
        </p:nvSpPr>
        <p:spPr>
          <a:xfrm>
            <a:off x="1115616" y="2498745"/>
            <a:ext cx="45365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chemeClr val="bg1"/>
                </a:solidFill>
              </a:rPr>
              <a:t>应用：试试把刚才的例子升序排列</a:t>
            </a:r>
            <a:endParaRPr lang="en-US" altLang="zh-CN" sz="1600" b="1">
              <a:solidFill>
                <a:schemeClr val="bg1"/>
              </a:solidFill>
            </a:endParaRPr>
          </a:p>
          <a:p>
            <a:endParaRPr lang="en-US" altLang="zh-CN" sz="1600" b="1">
              <a:solidFill>
                <a:schemeClr val="bg1"/>
              </a:solidFill>
            </a:endParaRPr>
          </a:p>
          <a:p>
            <a:r>
              <a:rPr lang="zh-CN" altLang="en-US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销售量 </a:t>
            </a:r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SUM('</a:t>
            </a:r>
            <a:r>
              <a:rPr lang="zh-CN" altLang="en-US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销售表</a:t>
            </a:r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'[</a:t>
            </a:r>
            <a:r>
              <a:rPr lang="zh-CN" altLang="en-US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销售数量</a:t>
            </a:r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])</a:t>
            </a:r>
          </a:p>
          <a:p>
            <a:endParaRPr lang="en-US" altLang="zh-CN" sz="1200" b="1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销售量排名 </a:t>
            </a:r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RANKX(ALL('</a:t>
            </a:r>
            <a:r>
              <a:rPr lang="zh-CN" altLang="en-US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店号</a:t>
            </a:r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'),[</a:t>
            </a:r>
            <a:r>
              <a:rPr lang="zh-CN" altLang="en-US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销售量</a:t>
            </a:r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],,</a:t>
            </a:r>
            <a:r>
              <a:rPr lang="en-US" altLang="zh-CN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)</a:t>
            </a:r>
          </a:p>
          <a:p>
            <a:endParaRPr lang="en-US" altLang="zh-CN" sz="1200" b="1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zh-CN" altLang="en-US" sz="16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0785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3EE4E6C-7674-47CD-9BC2-F48D4F3081F6}"/>
              </a:ext>
            </a:extLst>
          </p:cNvPr>
          <p:cNvSpPr txBox="1"/>
          <p:nvPr/>
        </p:nvSpPr>
        <p:spPr>
          <a:xfrm>
            <a:off x="2339752" y="483518"/>
            <a:ext cx="52565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solidFill>
                  <a:schemeClr val="bg1"/>
                </a:solidFill>
              </a:rPr>
              <a:t>TopN</a:t>
            </a:r>
            <a:r>
              <a:rPr lang="zh-CN" altLang="en-US" sz="1600" b="1">
                <a:solidFill>
                  <a:schemeClr val="bg1"/>
                </a:solidFill>
              </a:rPr>
              <a:t>（</a:t>
            </a:r>
            <a:r>
              <a:rPr lang="en-US" altLang="zh-CN" sz="1600" b="1">
                <a:solidFill>
                  <a:schemeClr val="bg1"/>
                </a:solidFill>
              </a:rPr>
              <a:t>N</a:t>
            </a:r>
            <a:r>
              <a:rPr lang="zh-CN" altLang="en-US" sz="1600" b="1">
                <a:solidFill>
                  <a:schemeClr val="bg1"/>
                </a:solidFill>
              </a:rPr>
              <a:t>值</a:t>
            </a:r>
            <a:r>
              <a:rPr lang="en-US" altLang="zh-CN" sz="1600" b="1">
                <a:solidFill>
                  <a:schemeClr val="bg1"/>
                </a:solidFill>
              </a:rPr>
              <a:t>,</a:t>
            </a:r>
            <a:r>
              <a:rPr lang="zh-CN" altLang="en-US" sz="1600" b="1">
                <a:solidFill>
                  <a:schemeClr val="bg1"/>
                </a:solidFill>
              </a:rPr>
              <a:t>表名</a:t>
            </a:r>
            <a:r>
              <a:rPr lang="en-US" altLang="zh-CN" sz="1600" b="1">
                <a:solidFill>
                  <a:schemeClr val="bg1"/>
                </a:solidFill>
              </a:rPr>
              <a:t>,[</a:t>
            </a:r>
            <a:r>
              <a:rPr lang="zh-CN" altLang="en-US" sz="1600" b="1">
                <a:solidFill>
                  <a:schemeClr val="bg1"/>
                </a:solidFill>
              </a:rPr>
              <a:t>表达式</a:t>
            </a:r>
            <a:r>
              <a:rPr lang="en-US" altLang="zh-CN" sz="1600" b="1">
                <a:solidFill>
                  <a:schemeClr val="bg1"/>
                </a:solidFill>
              </a:rPr>
              <a:t>],[</a:t>
            </a:r>
            <a:r>
              <a:rPr lang="zh-CN" altLang="en-US" sz="1600" b="1">
                <a:solidFill>
                  <a:schemeClr val="bg1"/>
                </a:solidFill>
              </a:rPr>
              <a:t>顺序可选项</a:t>
            </a:r>
            <a:r>
              <a:rPr lang="en-US" altLang="zh-CN" sz="1600" b="1">
                <a:solidFill>
                  <a:schemeClr val="bg1"/>
                </a:solidFill>
              </a:rPr>
              <a:t>]</a:t>
            </a:r>
            <a:r>
              <a:rPr lang="zh-CN" altLang="en-US" sz="1600" b="1">
                <a:solidFill>
                  <a:schemeClr val="bg1"/>
                </a:solidFill>
              </a:rPr>
              <a:t>）</a:t>
            </a:r>
            <a:endParaRPr lang="zh-CN" altLang="en-US" sz="1600" b="1" dirty="0">
              <a:solidFill>
                <a:srgbClr val="FFFF00"/>
              </a:solidFill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F9AF9477-CC8E-48BD-A233-169122A38BE9}"/>
              </a:ext>
            </a:extLst>
          </p:cNvPr>
          <p:cNvCxnSpPr/>
          <p:nvPr/>
        </p:nvCxnSpPr>
        <p:spPr>
          <a:xfrm>
            <a:off x="3347864" y="822072"/>
            <a:ext cx="0" cy="2375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32644F22-0C93-4B2F-837A-8D4895072DFE}"/>
              </a:ext>
            </a:extLst>
          </p:cNvPr>
          <p:cNvSpPr txBox="1"/>
          <p:nvPr/>
        </p:nvSpPr>
        <p:spPr>
          <a:xfrm>
            <a:off x="2944548" y="1073495"/>
            <a:ext cx="8066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b="1">
                <a:solidFill>
                  <a:schemeClr val="bg1"/>
                </a:solidFill>
              </a:rPr>
              <a:t>排名前</a:t>
            </a:r>
            <a:r>
              <a:rPr lang="en-US" altLang="zh-CN" sz="1000" b="1">
                <a:solidFill>
                  <a:schemeClr val="bg1"/>
                </a:solidFill>
              </a:rPr>
              <a:t>N</a:t>
            </a:r>
            <a:r>
              <a:rPr lang="zh-CN" altLang="en-US" sz="1000" b="1">
                <a:solidFill>
                  <a:schemeClr val="bg1"/>
                </a:solidFill>
              </a:rPr>
              <a:t>位</a:t>
            </a:r>
            <a:endParaRPr lang="zh-CN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221AC33C-3A78-4B7B-8F46-D5F10EBB3417}"/>
              </a:ext>
            </a:extLst>
          </p:cNvPr>
          <p:cNvCxnSpPr/>
          <p:nvPr/>
        </p:nvCxnSpPr>
        <p:spPr>
          <a:xfrm>
            <a:off x="3751179" y="822072"/>
            <a:ext cx="0" cy="8135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0B578548-456D-45BA-9BF5-329B2E95D000}"/>
              </a:ext>
            </a:extLst>
          </p:cNvPr>
          <p:cNvSpPr txBox="1"/>
          <p:nvPr/>
        </p:nvSpPr>
        <p:spPr>
          <a:xfrm>
            <a:off x="3258097" y="1649559"/>
            <a:ext cx="9861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b="1">
                <a:solidFill>
                  <a:schemeClr val="bg1"/>
                </a:solidFill>
              </a:rPr>
              <a:t>想要提取的表</a:t>
            </a:r>
            <a:endParaRPr lang="zh-CN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A0497C96-27EC-4EDD-B76B-4FD2D9B42B89}"/>
              </a:ext>
            </a:extLst>
          </p:cNvPr>
          <p:cNvCxnSpPr/>
          <p:nvPr/>
        </p:nvCxnSpPr>
        <p:spPr>
          <a:xfrm>
            <a:off x="4499992" y="822072"/>
            <a:ext cx="0" cy="1317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582D61E2-6D9F-47BB-9B00-119A657EFDDA}"/>
              </a:ext>
            </a:extLst>
          </p:cNvPr>
          <p:cNvSpPr txBox="1"/>
          <p:nvPr/>
        </p:nvSpPr>
        <p:spPr>
          <a:xfrm>
            <a:off x="3766463" y="2157290"/>
            <a:ext cx="14670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b="1">
                <a:solidFill>
                  <a:schemeClr val="bg1"/>
                </a:solidFill>
              </a:rPr>
              <a:t>按什么度量值来排序？</a:t>
            </a:r>
            <a:endParaRPr lang="zh-CN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3EA9B235-D630-43DB-8942-D383D0263007}"/>
              </a:ext>
            </a:extLst>
          </p:cNvPr>
          <p:cNvCxnSpPr/>
          <p:nvPr/>
        </p:nvCxnSpPr>
        <p:spPr>
          <a:xfrm>
            <a:off x="5652120" y="822072"/>
            <a:ext cx="0" cy="20377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4A84467C-2D9A-485D-9BA9-C128683E84A4}"/>
              </a:ext>
            </a:extLst>
          </p:cNvPr>
          <p:cNvSpPr txBox="1"/>
          <p:nvPr/>
        </p:nvSpPr>
        <p:spPr>
          <a:xfrm>
            <a:off x="5214470" y="2859782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b="1">
                <a:solidFill>
                  <a:schemeClr val="bg1"/>
                </a:solidFill>
              </a:rPr>
              <a:t>0</a:t>
            </a:r>
            <a:r>
              <a:rPr lang="zh-CN" altLang="en-US" sz="1000" b="1">
                <a:solidFill>
                  <a:schemeClr val="bg1"/>
                </a:solidFill>
              </a:rPr>
              <a:t>降序，</a:t>
            </a:r>
            <a:r>
              <a:rPr lang="en-US" altLang="zh-CN" sz="1000" b="1">
                <a:solidFill>
                  <a:schemeClr val="bg1"/>
                </a:solidFill>
              </a:rPr>
              <a:t>1</a:t>
            </a:r>
            <a:r>
              <a:rPr lang="zh-CN" altLang="en-US" sz="1000" b="1">
                <a:solidFill>
                  <a:schemeClr val="bg1"/>
                </a:solidFill>
              </a:rPr>
              <a:t>升序</a:t>
            </a:r>
            <a:endParaRPr lang="zh-CN" altLang="en-US" sz="1000" b="1" dirty="0">
              <a:solidFill>
                <a:schemeClr val="bg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8AAD6C1-A6E7-4CA4-B2AC-1697C9122CA9}"/>
              </a:ext>
            </a:extLst>
          </p:cNvPr>
          <p:cNvSpPr txBox="1"/>
          <p:nvPr/>
        </p:nvSpPr>
        <p:spPr>
          <a:xfrm>
            <a:off x="683568" y="3291830"/>
            <a:ext cx="83529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>
                <a:solidFill>
                  <a:schemeClr val="bg1"/>
                </a:solidFill>
              </a:rPr>
              <a:t>应用</a:t>
            </a:r>
            <a:r>
              <a:rPr lang="en-US" altLang="zh-CN" sz="1000" b="1">
                <a:solidFill>
                  <a:schemeClr val="bg1"/>
                </a:solidFill>
              </a:rPr>
              <a:t>1</a:t>
            </a:r>
            <a:r>
              <a:rPr lang="zh-CN" altLang="en-US" sz="1000" b="1">
                <a:solidFill>
                  <a:schemeClr val="bg1"/>
                </a:solidFill>
              </a:rPr>
              <a:t>：销售前</a:t>
            </a:r>
            <a:r>
              <a:rPr lang="en-US" altLang="zh-CN" sz="1000" b="1">
                <a:solidFill>
                  <a:schemeClr val="bg1"/>
                </a:solidFill>
              </a:rPr>
              <a:t>3</a:t>
            </a:r>
            <a:r>
              <a:rPr lang="zh-CN" altLang="en-US" sz="1000" b="1">
                <a:solidFill>
                  <a:schemeClr val="bg1"/>
                </a:solidFill>
              </a:rPr>
              <a:t>名门店的销售量</a:t>
            </a:r>
            <a:endParaRPr lang="en-US" altLang="zh-CN" sz="1000" b="1">
              <a:solidFill>
                <a:schemeClr val="bg1"/>
              </a:solidFill>
            </a:endParaRPr>
          </a:p>
          <a:p>
            <a:endParaRPr lang="en-US" altLang="zh-CN" sz="1000" b="1">
              <a:solidFill>
                <a:schemeClr val="bg1"/>
              </a:solidFill>
            </a:endParaRPr>
          </a:p>
          <a:p>
            <a:r>
              <a:rPr lang="en-US" altLang="zh-CN" sz="1000" b="1">
                <a:solidFill>
                  <a:srgbClr val="FFFF00"/>
                </a:solidFill>
              </a:rPr>
              <a:t>TopN = calculate([</a:t>
            </a:r>
            <a:r>
              <a:rPr lang="zh-CN" altLang="en-US" sz="1000" b="1">
                <a:solidFill>
                  <a:srgbClr val="FFFF00"/>
                </a:solidFill>
              </a:rPr>
              <a:t>销售量</a:t>
            </a:r>
            <a:r>
              <a:rPr lang="en-US" altLang="zh-CN" sz="1000" b="1">
                <a:solidFill>
                  <a:srgbClr val="FFFF00"/>
                </a:solidFill>
              </a:rPr>
              <a:t>],TopN(3,all('</a:t>
            </a:r>
            <a:r>
              <a:rPr lang="zh-CN" altLang="en-US" sz="1000" b="1">
                <a:solidFill>
                  <a:srgbClr val="FFFF00"/>
                </a:solidFill>
              </a:rPr>
              <a:t>店号</a:t>
            </a:r>
            <a:r>
              <a:rPr lang="en-US" altLang="zh-CN" sz="1000" b="1">
                <a:solidFill>
                  <a:srgbClr val="FFFF00"/>
                </a:solidFill>
              </a:rPr>
              <a:t>'),[</a:t>
            </a:r>
            <a:r>
              <a:rPr lang="zh-CN" altLang="en-US" sz="1000" b="1">
                <a:solidFill>
                  <a:srgbClr val="FFFF00"/>
                </a:solidFill>
              </a:rPr>
              <a:t>销售量</a:t>
            </a:r>
            <a:r>
              <a:rPr lang="en-US" altLang="zh-CN" sz="1000" b="1">
                <a:solidFill>
                  <a:srgbClr val="FFFF00"/>
                </a:solidFill>
              </a:rPr>
              <a:t>],1)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139EC72-8CDB-4F37-9564-9D2EA820C335}"/>
              </a:ext>
            </a:extLst>
          </p:cNvPr>
          <p:cNvSpPr txBox="1"/>
          <p:nvPr/>
        </p:nvSpPr>
        <p:spPr>
          <a:xfrm>
            <a:off x="683568" y="3994322"/>
            <a:ext cx="83529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>
                <a:solidFill>
                  <a:schemeClr val="bg1"/>
                </a:solidFill>
              </a:rPr>
              <a:t>应用</a:t>
            </a:r>
            <a:r>
              <a:rPr lang="en-US" altLang="zh-CN" sz="1000" b="1">
                <a:solidFill>
                  <a:schemeClr val="bg1"/>
                </a:solidFill>
              </a:rPr>
              <a:t>2</a:t>
            </a:r>
            <a:r>
              <a:rPr lang="zh-CN" altLang="en-US" sz="1000" b="1">
                <a:solidFill>
                  <a:schemeClr val="bg1"/>
                </a:solidFill>
              </a:rPr>
              <a:t>：前</a:t>
            </a:r>
            <a:r>
              <a:rPr lang="en-US" altLang="zh-CN" sz="1000" b="1">
                <a:solidFill>
                  <a:schemeClr val="bg1"/>
                </a:solidFill>
              </a:rPr>
              <a:t>3</a:t>
            </a:r>
            <a:r>
              <a:rPr lang="zh-CN" altLang="en-US" sz="1000" b="1">
                <a:solidFill>
                  <a:schemeClr val="bg1"/>
                </a:solidFill>
              </a:rPr>
              <a:t>名的销售量占比</a:t>
            </a:r>
            <a:endParaRPr lang="en-US" altLang="zh-CN" sz="1000" b="1">
              <a:solidFill>
                <a:schemeClr val="bg1"/>
              </a:solidFill>
            </a:endParaRPr>
          </a:p>
          <a:p>
            <a:endParaRPr lang="en-US" altLang="zh-CN" sz="1000" b="1">
              <a:solidFill>
                <a:schemeClr val="bg1"/>
              </a:solidFill>
            </a:endParaRPr>
          </a:p>
          <a:p>
            <a:r>
              <a:rPr lang="zh-CN" altLang="en-US" sz="1000" b="1">
                <a:solidFill>
                  <a:srgbClr val="FFFF00"/>
                </a:solidFill>
              </a:rPr>
              <a:t>前</a:t>
            </a:r>
            <a:r>
              <a:rPr lang="en-US" altLang="zh-CN" sz="1000" b="1">
                <a:solidFill>
                  <a:srgbClr val="FFFF00"/>
                </a:solidFill>
              </a:rPr>
              <a:t>3</a:t>
            </a:r>
            <a:r>
              <a:rPr lang="zh-CN" altLang="en-US" sz="1000" b="1">
                <a:solidFill>
                  <a:srgbClr val="FFFF00"/>
                </a:solidFill>
              </a:rPr>
              <a:t>名的销售量占比</a:t>
            </a:r>
            <a:r>
              <a:rPr lang="en-US" altLang="zh-CN" sz="1000" b="1">
                <a:solidFill>
                  <a:srgbClr val="FFFF00"/>
                </a:solidFill>
              </a:rPr>
              <a:t>=divide([TopN],calculate([</a:t>
            </a:r>
            <a:r>
              <a:rPr lang="zh-CN" altLang="en-US" sz="1000" b="1">
                <a:solidFill>
                  <a:srgbClr val="FFFF00"/>
                </a:solidFill>
              </a:rPr>
              <a:t>销售量</a:t>
            </a:r>
            <a:r>
              <a:rPr lang="en-US" altLang="zh-CN" sz="1000" b="1">
                <a:solidFill>
                  <a:srgbClr val="FFFF00"/>
                </a:solidFill>
              </a:rPr>
              <a:t>],all('</a:t>
            </a:r>
            <a:r>
              <a:rPr lang="zh-CN" altLang="en-US" sz="1000" b="1">
                <a:solidFill>
                  <a:srgbClr val="FFFF00"/>
                </a:solidFill>
              </a:rPr>
              <a:t>店号</a:t>
            </a:r>
            <a:r>
              <a:rPr lang="en-US" altLang="zh-CN" sz="1000" b="1">
                <a:solidFill>
                  <a:srgbClr val="FFFF00"/>
                </a:solidFill>
              </a:rPr>
              <a:t>')))</a:t>
            </a:r>
          </a:p>
        </p:txBody>
      </p:sp>
    </p:spTree>
    <p:extLst>
      <p:ext uri="{BB962C8B-B14F-4D97-AF65-F5344CB8AC3E}">
        <p14:creationId xmlns:p14="http://schemas.microsoft.com/office/powerpoint/2010/main" val="1309628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7F07343-7879-4E80-96E1-1F06F987AB8C}"/>
              </a:ext>
            </a:extLst>
          </p:cNvPr>
          <p:cNvSpPr txBox="1"/>
          <p:nvPr/>
        </p:nvSpPr>
        <p:spPr>
          <a:xfrm>
            <a:off x="251520" y="339502"/>
            <a:ext cx="22322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>
                <a:solidFill>
                  <a:schemeClr val="bg1"/>
                </a:solidFill>
              </a:rPr>
              <a:t>用好辅助表</a:t>
            </a:r>
            <a:endParaRPr lang="zh-CN" altLang="en-US" sz="1600" b="1" dirty="0">
              <a:solidFill>
                <a:srgbClr val="FFFF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AD3B298-EE05-4B97-B4EF-893C72290BD6}"/>
              </a:ext>
            </a:extLst>
          </p:cNvPr>
          <p:cNvSpPr txBox="1"/>
          <p:nvPr/>
        </p:nvSpPr>
        <p:spPr>
          <a:xfrm>
            <a:off x="1403648" y="1275606"/>
            <a:ext cx="51845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排名值 </a:t>
            </a:r>
            <a:r>
              <a:rPr lang="en-US" altLang="zh-CN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MAX('</a:t>
            </a:r>
            <a:r>
              <a:rPr lang="zh-CN" altLang="en-US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辅助表</a:t>
            </a:r>
            <a:r>
              <a:rPr lang="en-US" altLang="zh-CN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'[</a:t>
            </a:r>
            <a:r>
              <a:rPr lang="zh-CN" altLang="en-US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排名</a:t>
            </a:r>
            <a:r>
              <a:rPr lang="en-US" altLang="zh-CN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]) </a:t>
            </a:r>
          </a:p>
          <a:p>
            <a:pPr algn="ctr"/>
            <a:endParaRPr lang="zh-CN" altLang="en-US" sz="1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99035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无&quot;,&quot;HeaderHeight&quot;:0.0,&quot;FooterHeight&quot;:0.0,&quot;SideMargin&quot;:0.0,&quot;TopMargin&quot;:0.0,&quot;BottomMargin&quot;:0.0,&quot;IntervalMargin&quot;:0.0,&quot;SettingType&quot;:&quot;System&quot;}"/>
</p:tagLst>
</file>

<file path=ppt/theme/theme1.xml><?xml version="1.0" encoding="utf-8"?>
<a:theme xmlns:a="http://schemas.openxmlformats.org/drawingml/2006/main" name="Office Theme">
  <a:themeElements>
    <a:clrScheme name="x2m0mzta">
      <a:dk1>
        <a:srgbClr val="000000"/>
      </a:dk1>
      <a:lt1>
        <a:srgbClr val="FFFFFF"/>
      </a:lt1>
      <a:dk2>
        <a:srgbClr val="FAB220"/>
      </a:dk2>
      <a:lt2>
        <a:srgbClr val="FA7901"/>
      </a:lt2>
      <a:accent1>
        <a:srgbClr val="CB2332"/>
      </a:accent1>
      <a:accent2>
        <a:srgbClr val="A6325B"/>
      </a:accent2>
      <a:accent3>
        <a:srgbClr val="0B4366"/>
      </a:accent3>
      <a:accent4>
        <a:srgbClr val="21A0D3"/>
      </a:accent4>
      <a:accent5>
        <a:srgbClr val="3CC5D1"/>
      </a:accent5>
      <a:accent6>
        <a:srgbClr val="4CC9A9"/>
      </a:accent6>
      <a:hlink>
        <a:srgbClr val="3B424C"/>
      </a:hlink>
      <a:folHlink>
        <a:srgbClr val="1C171E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cap="rnd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ctr">
          <a:defRPr sz="4800" b="1" dirty="0" smtClean="0">
            <a:solidFill>
              <a:schemeClr val="bg1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6771</TotalTime>
  <Words>482</Words>
  <Application>Microsoft Office PowerPoint</Application>
  <PresentationFormat>全屏显示(16:9)</PresentationFormat>
  <Paragraphs>57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微软雅黑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pptmall.net</dc:title>
  <dc:creator>pptmall.net</dc:creator>
  <cp:lastModifiedBy>孙艺航</cp:lastModifiedBy>
  <cp:revision>1239</cp:revision>
  <dcterms:created xsi:type="dcterms:W3CDTF">2014-02-28T09:23:05Z</dcterms:created>
  <dcterms:modified xsi:type="dcterms:W3CDTF">2020-03-14T12:32:44Z</dcterms:modified>
</cp:coreProperties>
</file>