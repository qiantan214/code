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77" r:id="rId2"/>
    <p:sldId id="379" r:id="rId3"/>
    <p:sldId id="378" r:id="rId4"/>
    <p:sldId id="380" r:id="rId5"/>
    <p:sldId id="381" r:id="rId6"/>
    <p:sldId id="382" r:id="rId7"/>
  </p:sldIdLst>
  <p:sldSz cx="9144000" cy="5143500" type="screen16x9"/>
  <p:notesSz cx="6858000" cy="9144000"/>
  <p:custDataLst>
    <p:tags r:id="rId10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5511" userDrawn="1">
          <p15:clr>
            <a:srgbClr val="A4A3A4"/>
          </p15:clr>
        </p15:guide>
        <p15:guide id="7" pos="612" userDrawn="1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8E78F4"/>
    <a:srgbClr val="C5C5C5"/>
    <a:srgbClr val="192834"/>
    <a:srgbClr val="FBE9EC"/>
    <a:srgbClr val="FEE4F6"/>
    <a:srgbClr val="D5DBDE"/>
    <a:srgbClr val="DDE5ED"/>
    <a:srgbClr val="C6D0D6"/>
    <a:srgbClr val="D6D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4" autoAdjust="0"/>
    <p:restoredTop sz="95013" autoAdjust="0"/>
  </p:normalViewPr>
  <p:slideViewPr>
    <p:cSldViewPr>
      <p:cViewPr varScale="1">
        <p:scale>
          <a:sx n="150" d="100"/>
          <a:sy n="150" d="100"/>
        </p:scale>
        <p:origin x="420" y="120"/>
      </p:cViewPr>
      <p:guideLst>
        <p:guide pos="5511"/>
        <p:guide pos="612"/>
        <p:guide orient="horz" pos="1620"/>
      </p:guideLst>
    </p:cSldViewPr>
  </p:slideViewPr>
  <p:outlineViewPr>
    <p:cViewPr>
      <p:scale>
        <a:sx n="33" d="100"/>
        <a:sy n="33" d="100"/>
      </p:scale>
      <p:origin x="0" y="-440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36"/>
    </p:cViewPr>
  </p:sorterViewPr>
  <p:notesViewPr>
    <p:cSldViewPr showGuides="1">
      <p:cViewPr varScale="1">
        <p:scale>
          <a:sx n="120" d="100"/>
          <a:sy n="120" d="100"/>
        </p:scale>
        <p:origin x="38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304B3-FA9F-49C1-859E-2458D1B84048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05DBC-4E0E-43E3-A060-4938178F1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61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EB415-5FD7-4318-806E-930189874889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4CF9-9236-450D-BC13-91858061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47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有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233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ko-KR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57200" y="4803998"/>
            <a:ext cx="1217000" cy="24622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0"/>
              </a:spcBef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www.pptmall.net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78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色有标题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4EB12D-71AA-4797-9E53-6CDD91A37DC7}"/>
              </a:ext>
            </a:extLst>
          </p:cNvPr>
          <p:cNvSpPr txBox="1"/>
          <p:nvPr userDrawn="1"/>
        </p:nvSpPr>
        <p:spPr>
          <a:xfrm>
            <a:off x="409220" y="473199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5C5C5"/>
                </a:solidFill>
              </a:rPr>
              <a:t>主讲：孙兴华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A418F3-F843-4883-B540-8F3C3CDE8841}"/>
              </a:ext>
            </a:extLst>
          </p:cNvPr>
          <p:cNvSpPr/>
          <p:nvPr userDrawn="1"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762BF6-6E3F-433B-AB39-F4DEF76F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87EF-A92C-4F47-B9B3-48D91E515FA5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014B5B-56D1-4541-8470-F1DD30F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F0C11-692D-4D1E-B3C9-06867358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F675-5BB6-4475-9536-7FDBB6229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6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85000"/>
                <a:alpha val="60000"/>
              </a:schemeClr>
            </a:gs>
            <a:gs pos="0">
              <a:schemeClr val="bg1">
                <a:lumMod val="85000"/>
                <a:alpha val="60000"/>
              </a:schemeClr>
            </a:gs>
            <a:gs pos="50000">
              <a:schemeClr val="bg1"/>
            </a:gs>
            <a:gs pos="73000">
              <a:schemeClr val="bg1"/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23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70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3A528D-E024-4034-BC81-35CF5ECDB34A}"/>
              </a:ext>
            </a:extLst>
          </p:cNvPr>
          <p:cNvSpPr txBox="1"/>
          <p:nvPr/>
        </p:nvSpPr>
        <p:spPr>
          <a:xfrm>
            <a:off x="467544" y="483518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1.</a:t>
            </a:r>
            <a:r>
              <a:rPr lang="zh-CN" altLang="en-US" sz="1600" b="1" dirty="0">
                <a:solidFill>
                  <a:schemeClr val="bg1"/>
                </a:solidFill>
              </a:rPr>
              <a:t>日期切片器的使用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EBDCD5-18D8-463B-8F57-0A1FEDFD1B59}"/>
              </a:ext>
            </a:extLst>
          </p:cNvPr>
          <p:cNvSpPr txBox="1"/>
          <p:nvPr/>
        </p:nvSpPr>
        <p:spPr>
          <a:xfrm>
            <a:off x="1043608" y="1203598"/>
            <a:ext cx="70567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）介于：通过滑块可以自由控制起止日期，选择需要的区间数据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）之前：开始日期是固定，只能更改结束日期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）之后：结束时间是固定的，只能修改开始的日期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）相对：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只有日期切片器有这个功能</a:t>
            </a:r>
            <a:endParaRPr lang="en-US" altLang="zh-CN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上一段、下一段、当前    例如 上一年，下一年，今年</a:t>
            </a:r>
            <a:endParaRPr lang="en-US" altLang="zh-CN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中间输入框可以输入数值，代表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年、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个月等</a:t>
            </a:r>
            <a:endParaRPr lang="en-US" altLang="zh-CN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56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9DDAD43-68AD-4B56-9D8E-8D8F65C2CF5B}"/>
              </a:ext>
            </a:extLst>
          </p:cNvPr>
          <p:cNvSpPr txBox="1"/>
          <p:nvPr/>
        </p:nvSpPr>
        <p:spPr>
          <a:xfrm>
            <a:off x="467544" y="483518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2.</a:t>
            </a:r>
            <a:r>
              <a:rPr lang="zh-CN" altLang="en-US" sz="1600" b="1" dirty="0">
                <a:solidFill>
                  <a:schemeClr val="bg1"/>
                </a:solidFill>
              </a:rPr>
              <a:t>相对日期筛选器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516B13-6A48-49C7-A3D4-992C1E18B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7574"/>
            <a:ext cx="2667000" cy="27051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F413849-9FF7-4BEA-92E6-5EA8B67BD869}"/>
              </a:ext>
            </a:extLst>
          </p:cNvPr>
          <p:cNvSpPr txBox="1"/>
          <p:nvPr/>
        </p:nvSpPr>
        <p:spPr>
          <a:xfrm>
            <a:off x="4355978" y="483518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3.</a:t>
            </a:r>
            <a:r>
              <a:rPr lang="zh-CN" altLang="en-US" sz="1600" b="1" dirty="0">
                <a:solidFill>
                  <a:schemeClr val="bg1"/>
                </a:solidFill>
              </a:rPr>
              <a:t>联动切片器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6B5B96-D09A-44D6-8F38-F1A8EB10F471}"/>
              </a:ext>
            </a:extLst>
          </p:cNvPr>
          <p:cNvSpPr txBox="1"/>
          <p:nvPr/>
        </p:nvSpPr>
        <p:spPr>
          <a:xfrm>
            <a:off x="4355978" y="1203598"/>
            <a:ext cx="3960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</a:rPr>
              <a:t>        避免出错建议一级指标，</a:t>
            </a:r>
            <a:r>
              <a:rPr lang="en-US" altLang="zh-CN" sz="1600" b="1" dirty="0">
                <a:solidFill>
                  <a:srgbClr val="FFFF00"/>
                </a:solidFill>
              </a:rPr>
              <a:t>【</a:t>
            </a:r>
            <a:r>
              <a:rPr lang="zh-CN" altLang="en-US" sz="1600" b="1" dirty="0">
                <a:solidFill>
                  <a:srgbClr val="FFFF00"/>
                </a:solidFill>
              </a:rPr>
              <a:t>选择控件</a:t>
            </a:r>
            <a:r>
              <a:rPr lang="en-US" altLang="zh-CN" sz="1600" b="1" dirty="0">
                <a:solidFill>
                  <a:srgbClr val="FFFF00"/>
                </a:solidFill>
              </a:rPr>
              <a:t>】</a:t>
            </a:r>
            <a:r>
              <a:rPr lang="zh-CN" altLang="en-US" sz="1600" b="1" dirty="0">
                <a:solidFill>
                  <a:srgbClr val="FFFF00"/>
                </a:solidFill>
              </a:rPr>
              <a:t>打开单项选择的开关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4D7B40-581E-45EA-9326-4724BE293031}"/>
              </a:ext>
            </a:extLst>
          </p:cNvPr>
          <p:cNvSpPr txBox="1"/>
          <p:nvPr/>
        </p:nvSpPr>
        <p:spPr>
          <a:xfrm>
            <a:off x="4342633" y="2427734"/>
            <a:ext cx="3960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</a:rPr>
              <a:t>        想达到联动切片的效果，只要在数据中把维度表建好即可。</a:t>
            </a:r>
          </a:p>
        </p:txBody>
      </p:sp>
    </p:spTree>
    <p:extLst>
      <p:ext uri="{BB962C8B-B14F-4D97-AF65-F5344CB8AC3E}">
        <p14:creationId xmlns:p14="http://schemas.microsoft.com/office/powerpoint/2010/main" val="759095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3CDCB3-C9E6-4AD1-894F-3FA74F1A438E}"/>
              </a:ext>
            </a:extLst>
          </p:cNvPr>
          <p:cNvSpPr txBox="1"/>
          <p:nvPr/>
        </p:nvSpPr>
        <p:spPr>
          <a:xfrm>
            <a:off x="467544" y="483518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4.</a:t>
            </a:r>
            <a:r>
              <a:rPr lang="zh-CN" altLang="en-US" sz="1600" b="1" dirty="0">
                <a:solidFill>
                  <a:schemeClr val="bg1"/>
                </a:solidFill>
              </a:rPr>
              <a:t>同步切片器：在一个报表页中选择一个切片器，其它页面同步筛选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76BACA-2BFA-45A7-9D8D-56F63E150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59582"/>
            <a:ext cx="3333750" cy="12287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2023DE-C628-48C8-ADCB-7211AF891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347714"/>
            <a:ext cx="1752600" cy="22574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CCAB8B7-827A-4648-B590-16014BF1C13E}"/>
              </a:ext>
            </a:extLst>
          </p:cNvPr>
          <p:cNvSpPr txBox="1"/>
          <p:nvPr/>
        </p:nvSpPr>
        <p:spPr>
          <a:xfrm>
            <a:off x="4175956" y="1004123"/>
            <a:ext cx="48605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FF00"/>
                </a:solidFill>
              </a:rPr>
              <a:t>        高级选项：</a:t>
            </a:r>
            <a:r>
              <a:rPr lang="zh-CN" altLang="en-US" sz="1400" b="1" dirty="0">
                <a:solidFill>
                  <a:schemeClr val="bg1"/>
                </a:solidFill>
              </a:rPr>
              <a:t>不仅是不同页面同步，还可以设置不同切片器之间互相同步。在这里可以将切片器分组，同一组的切片器可以同步。</a:t>
            </a:r>
            <a:endParaRPr lang="zh-CN" altLang="en-US" sz="1400" b="1" dirty="0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385845-313B-49B4-8F1E-878927711A3F}"/>
              </a:ext>
            </a:extLst>
          </p:cNvPr>
          <p:cNvSpPr txBox="1"/>
          <p:nvPr/>
        </p:nvSpPr>
        <p:spPr>
          <a:xfrm>
            <a:off x="4142420" y="1908467"/>
            <a:ext cx="48605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        选中一个切片器，打开高级选项，填写组名并勾选“将字段同步到其他切片器”，然后选择另外一个切片器，进行同样设置，填写相同的组名，本例中组名都填写“日期”。</a:t>
            </a:r>
          </a:p>
        </p:txBody>
      </p:sp>
    </p:spTree>
    <p:extLst>
      <p:ext uri="{BB962C8B-B14F-4D97-AF65-F5344CB8AC3E}">
        <p14:creationId xmlns:p14="http://schemas.microsoft.com/office/powerpoint/2010/main" val="305999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5573580-E5DE-4FF1-84F2-DA0EB74B6FB5}"/>
              </a:ext>
            </a:extLst>
          </p:cNvPr>
          <p:cNvSpPr txBox="1"/>
          <p:nvPr/>
        </p:nvSpPr>
        <p:spPr>
          <a:xfrm>
            <a:off x="467544" y="483518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5.</a:t>
            </a:r>
            <a:r>
              <a:rPr lang="zh-CN" altLang="en-US" sz="1600" b="1" dirty="0">
                <a:solidFill>
                  <a:schemeClr val="bg1"/>
                </a:solidFill>
              </a:rPr>
              <a:t>文本排序，先在</a:t>
            </a:r>
            <a:r>
              <a:rPr lang="en-US" altLang="zh-CN" sz="1600" b="1" dirty="0">
                <a:solidFill>
                  <a:schemeClr val="bg1"/>
                </a:solidFill>
              </a:rPr>
              <a:t>PQ</a:t>
            </a:r>
            <a:r>
              <a:rPr lang="zh-CN" altLang="en-US" sz="1600" b="1" dirty="0">
                <a:solidFill>
                  <a:schemeClr val="bg1"/>
                </a:solidFill>
              </a:rPr>
              <a:t>中建索引列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823305-ADE7-4AB0-8A46-5A9AD89B722B}"/>
              </a:ext>
            </a:extLst>
          </p:cNvPr>
          <p:cNvSpPr txBox="1"/>
          <p:nvPr/>
        </p:nvSpPr>
        <p:spPr>
          <a:xfrm>
            <a:off x="461492" y="915566"/>
            <a:ext cx="81429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修改度量值格式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）可视化区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选择度量值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-【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建模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】-【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格式设置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】</a:t>
            </a: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(2) Format([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度量值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格式参数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’)</a:t>
            </a: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格式化总金额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FORMAT([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总金额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],"#,##0.00")</a:t>
            </a:r>
          </a:p>
          <a:p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注意：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这种方式度量值会变成文本格式，不能进一步进行数值运算，只适合展示。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）模型区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选项度量值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属性中可以修改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651C3F-7A3F-4586-88FC-2AD045AC83E7}"/>
              </a:ext>
            </a:extLst>
          </p:cNvPr>
          <p:cNvSpPr txBox="1"/>
          <p:nvPr/>
        </p:nvSpPr>
        <p:spPr>
          <a:xfrm>
            <a:off x="827584" y="3939902"/>
            <a:ext cx="7488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B0F0"/>
                </a:solidFill>
              </a:rPr>
              <a:t>总结：第</a:t>
            </a:r>
            <a:r>
              <a:rPr lang="en-US" altLang="zh-CN" sz="2000" b="1" dirty="0">
                <a:solidFill>
                  <a:srgbClr val="00B0F0"/>
                </a:solidFill>
              </a:rPr>
              <a:t>1</a:t>
            </a:r>
            <a:r>
              <a:rPr lang="zh-CN" altLang="en-US" sz="2000" b="1" dirty="0">
                <a:solidFill>
                  <a:srgbClr val="00B0F0"/>
                </a:solidFill>
              </a:rPr>
              <a:t>种方便，第</a:t>
            </a:r>
            <a:r>
              <a:rPr lang="en-US" altLang="zh-CN" sz="2000" b="1" dirty="0">
                <a:solidFill>
                  <a:srgbClr val="00B0F0"/>
                </a:solidFill>
              </a:rPr>
              <a:t>2</a:t>
            </a:r>
            <a:r>
              <a:rPr lang="zh-CN" altLang="en-US" sz="2000" b="1" dirty="0">
                <a:solidFill>
                  <a:srgbClr val="00B0F0"/>
                </a:solidFill>
              </a:rPr>
              <a:t>种限特定场合使用，第</a:t>
            </a:r>
            <a:r>
              <a:rPr lang="en-US" altLang="zh-CN" sz="2000" b="1" dirty="0">
                <a:solidFill>
                  <a:srgbClr val="00B0F0"/>
                </a:solidFill>
              </a:rPr>
              <a:t>3</a:t>
            </a:r>
            <a:r>
              <a:rPr lang="zh-CN" altLang="en-US" sz="2000" b="1" dirty="0">
                <a:solidFill>
                  <a:srgbClr val="00B0F0"/>
                </a:solidFill>
              </a:rPr>
              <a:t>种可以批量修改</a:t>
            </a:r>
          </a:p>
        </p:txBody>
      </p:sp>
    </p:spTree>
    <p:extLst>
      <p:ext uri="{BB962C8B-B14F-4D97-AF65-F5344CB8AC3E}">
        <p14:creationId xmlns:p14="http://schemas.microsoft.com/office/powerpoint/2010/main" val="2597965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1269B5A-CA1F-458A-BF39-DCF068E53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76628" cy="465998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F6D4A51-CB1E-43AE-B964-480CF2691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628" y="0"/>
            <a:ext cx="3372356" cy="465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3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EF3E7A-4C29-467D-85AD-49F792458C51}"/>
              </a:ext>
            </a:extLst>
          </p:cNvPr>
          <p:cNvSpPr txBox="1"/>
          <p:nvPr/>
        </p:nvSpPr>
        <p:spPr>
          <a:xfrm>
            <a:off x="467544" y="483518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Power BI </a:t>
            </a:r>
            <a:r>
              <a:rPr lang="zh-CN" altLang="en-US" sz="1600" b="1" dirty="0">
                <a:solidFill>
                  <a:schemeClr val="bg1"/>
                </a:solidFill>
              </a:rPr>
              <a:t>基础篇 结束前 巩固三个概念：度量值，新建列，新建表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CEB12B-2CBA-4326-9F91-7C22CCFA08DA}"/>
              </a:ext>
            </a:extLst>
          </p:cNvPr>
          <p:cNvSpPr txBox="1"/>
          <p:nvPr/>
        </p:nvSpPr>
        <p:spPr>
          <a:xfrm>
            <a:off x="467544" y="1059582"/>
            <a:ext cx="792088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度量值：是</a:t>
            </a:r>
            <a:r>
              <a:rPr lang="zh-CN" altLang="en-US" sz="1600" b="1" dirty="0">
                <a:solidFill>
                  <a:srgbClr val="00B0F0"/>
                </a:solidFill>
              </a:rPr>
              <a:t>筛选上下文</a:t>
            </a:r>
            <a:r>
              <a:rPr lang="en-US" altLang="zh-CN" sz="1600" b="1" dirty="0">
                <a:solidFill>
                  <a:srgbClr val="00B0F0"/>
                </a:solidFill>
              </a:rPr>
              <a:t>      </a:t>
            </a:r>
            <a:r>
              <a:rPr lang="zh-CN" altLang="en-US" sz="1600" b="1" dirty="0">
                <a:solidFill>
                  <a:schemeClr val="bg1"/>
                </a:solidFill>
              </a:rPr>
              <a:t>新建列：是</a:t>
            </a:r>
            <a:r>
              <a:rPr lang="zh-CN" altLang="en-US" sz="1600" b="1" dirty="0">
                <a:solidFill>
                  <a:srgbClr val="00B0F0"/>
                </a:solidFill>
              </a:rPr>
              <a:t>行上下文</a:t>
            </a:r>
            <a:endParaRPr lang="en-US" altLang="zh-CN" sz="1600" b="1" dirty="0">
              <a:solidFill>
                <a:srgbClr val="00B0F0"/>
              </a:solidFill>
            </a:endParaRPr>
          </a:p>
          <a:p>
            <a:endParaRPr lang="en-US" altLang="zh-CN" sz="1600" b="1" dirty="0">
              <a:solidFill>
                <a:schemeClr val="bg1"/>
              </a:solidFill>
            </a:endParaRPr>
          </a:p>
          <a:p>
            <a:r>
              <a:rPr lang="zh-CN" altLang="en-US" sz="1600" b="1" dirty="0">
                <a:solidFill>
                  <a:schemeClr val="bg1"/>
                </a:solidFill>
              </a:rPr>
              <a:t>      建议：避免内存不足，提高处理效率，</a:t>
            </a:r>
            <a:r>
              <a:rPr lang="zh-CN" altLang="en-US" sz="1600" b="1" dirty="0">
                <a:solidFill>
                  <a:srgbClr val="FF0000"/>
                </a:solidFill>
              </a:rPr>
              <a:t>能用度量值就不用新建列</a:t>
            </a:r>
            <a:r>
              <a:rPr lang="zh-CN" altLang="en-US" sz="1600" b="1" dirty="0">
                <a:solidFill>
                  <a:schemeClr val="bg1"/>
                </a:solidFill>
              </a:rPr>
              <a:t>，只有当你要利用新建列生成切片器（</a:t>
            </a:r>
            <a:r>
              <a:rPr lang="zh-CN" altLang="en-US" sz="1600" b="1" dirty="0">
                <a:solidFill>
                  <a:srgbClr val="00B0F0"/>
                </a:solidFill>
              </a:rPr>
              <a:t>度量值不能用于切片器</a:t>
            </a:r>
            <a:r>
              <a:rPr lang="zh-CN" altLang="en-US" sz="1600" b="1" dirty="0">
                <a:solidFill>
                  <a:schemeClr val="bg1"/>
                </a:solidFill>
              </a:rPr>
              <a:t>）或者需要用这个字段与其它表建立关系（模型连线）时，才需要新建列。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endParaRPr lang="en-US" altLang="zh-CN" sz="1600" b="1" dirty="0">
              <a:solidFill>
                <a:schemeClr val="bg1"/>
              </a:solidFill>
            </a:endParaRPr>
          </a:p>
          <a:p>
            <a:r>
              <a:rPr lang="zh-CN" altLang="en-US" sz="1600" b="1" dirty="0">
                <a:solidFill>
                  <a:schemeClr val="bg1"/>
                </a:solidFill>
              </a:rPr>
              <a:t>      如果创建很复杂的字段时，尽量使用新建列，因为它需要时间来运算，提前运算完成，而不是在需要的时候再计算（</a:t>
            </a:r>
            <a:r>
              <a:rPr lang="zh-CN" altLang="en-US" sz="1600" b="1" dirty="0">
                <a:solidFill>
                  <a:srgbClr val="00B0F0"/>
                </a:solidFill>
              </a:rPr>
              <a:t>度量值是虚拟存在的，它是只有用到的时候才计算</a:t>
            </a:r>
            <a:r>
              <a:rPr lang="zh-CN" altLang="en-US" sz="1600" b="1" dirty="0">
                <a:solidFill>
                  <a:schemeClr val="bg1"/>
                </a:solidFill>
              </a:rPr>
              <a:t>）。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endParaRPr lang="en-US" altLang="zh-C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8050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x2m0mzta">
      <a:dk1>
        <a:srgbClr val="000000"/>
      </a:dk1>
      <a:lt1>
        <a:srgbClr val="FFFFFF"/>
      </a:lt1>
      <a:dk2>
        <a:srgbClr val="FAB220"/>
      </a:dk2>
      <a:lt2>
        <a:srgbClr val="FA7901"/>
      </a:lt2>
      <a:accent1>
        <a:srgbClr val="CB2332"/>
      </a:accent1>
      <a:accent2>
        <a:srgbClr val="A6325B"/>
      </a:accent2>
      <a:accent3>
        <a:srgbClr val="0B4366"/>
      </a:accent3>
      <a:accent4>
        <a:srgbClr val="21A0D3"/>
      </a:accent4>
      <a:accent5>
        <a:srgbClr val="3CC5D1"/>
      </a:accent5>
      <a:accent6>
        <a:srgbClr val="4CC9A9"/>
      </a:accent6>
      <a:hlink>
        <a:srgbClr val="3B424C"/>
      </a:hlink>
      <a:folHlink>
        <a:srgbClr val="1C171E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cap="rnd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defRPr sz="4800" b="1"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6520</TotalTime>
  <Words>515</Words>
  <Application>Microsoft Office PowerPoint</Application>
  <PresentationFormat>全屏显示(16:9)</PresentationFormat>
  <Paragraphs>36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pptmall.net</dc:title>
  <dc:creator>pptmall.net</dc:creator>
  <cp:lastModifiedBy>孙艺航</cp:lastModifiedBy>
  <cp:revision>1226</cp:revision>
  <dcterms:created xsi:type="dcterms:W3CDTF">2014-02-28T09:23:05Z</dcterms:created>
  <dcterms:modified xsi:type="dcterms:W3CDTF">2020-03-14T12:31:26Z</dcterms:modified>
</cp:coreProperties>
</file>