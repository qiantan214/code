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77" r:id="rId2"/>
    <p:sldId id="378" r:id="rId3"/>
    <p:sldId id="379" r:id="rId4"/>
    <p:sldId id="380" r:id="rId5"/>
  </p:sldIdLst>
  <p:sldSz cx="9144000" cy="5143500" type="screen16x9"/>
  <p:notesSz cx="6858000" cy="9144000"/>
  <p:custDataLst>
    <p:tags r:id="rId8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32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1F96E0-CCF8-4D4A-B619-5667D48528EF}"/>
              </a:ext>
            </a:extLst>
          </p:cNvPr>
          <p:cNvSpPr txBox="1"/>
          <p:nvPr/>
        </p:nvSpPr>
        <p:spPr>
          <a:xfrm>
            <a:off x="611560" y="123478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</a:rPr>
              <a:t>VAR/Return</a:t>
            </a:r>
            <a:r>
              <a:rPr lang="zh-CN" altLang="en-US" sz="1400" b="1">
                <a:solidFill>
                  <a:schemeClr val="bg1"/>
                </a:solidFill>
              </a:rPr>
              <a:t>函数：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19A988-A3A2-4E04-9C14-D56B9646B4C8}"/>
              </a:ext>
            </a:extLst>
          </p:cNvPr>
          <p:cNvSpPr txBox="1"/>
          <p:nvPr/>
        </p:nvSpPr>
        <p:spPr>
          <a:xfrm>
            <a:off x="1238920" y="466805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bg1"/>
                </a:solidFill>
              </a:rPr>
              <a:t>同比增长率 </a:t>
            </a:r>
            <a:r>
              <a:rPr lang="en-US" altLang="zh-CN" sz="1200" b="1">
                <a:solidFill>
                  <a:schemeClr val="bg1"/>
                </a:solidFill>
              </a:rPr>
              <a:t>= </a:t>
            </a:r>
            <a:r>
              <a:rPr lang="zh-CN" altLang="en-US" sz="1200" b="1">
                <a:solidFill>
                  <a:schemeClr val="bg1"/>
                </a:solidFill>
              </a:rPr>
              <a:t>（</a:t>
            </a:r>
            <a:r>
              <a:rPr lang="zh-CN" altLang="en-US" sz="1200" b="1">
                <a:solidFill>
                  <a:srgbClr val="FF0000"/>
                </a:solidFill>
              </a:rPr>
              <a:t>本期销售金额</a:t>
            </a:r>
            <a:r>
              <a:rPr lang="en-US" altLang="zh-CN" sz="1200" b="1">
                <a:solidFill>
                  <a:schemeClr val="bg1"/>
                </a:solidFill>
              </a:rPr>
              <a:t>-</a:t>
            </a:r>
            <a:r>
              <a:rPr lang="zh-CN" altLang="en-US" sz="1200" b="1">
                <a:solidFill>
                  <a:schemeClr val="bg1"/>
                </a:solidFill>
              </a:rPr>
              <a:t>同期销</a:t>
            </a:r>
            <a:r>
              <a:rPr lang="zh-CN" altLang="en-US" sz="1200" b="1">
                <a:solidFill>
                  <a:srgbClr val="FF0000"/>
                </a:solidFill>
              </a:rPr>
              <a:t>金额</a:t>
            </a:r>
            <a:r>
              <a:rPr lang="zh-CN" altLang="en-US" sz="1200" b="1">
                <a:solidFill>
                  <a:schemeClr val="bg1"/>
                </a:solidFill>
              </a:rPr>
              <a:t>）</a:t>
            </a:r>
            <a:r>
              <a:rPr lang="en-US" altLang="zh-CN" sz="1200" b="1">
                <a:solidFill>
                  <a:schemeClr val="bg1"/>
                </a:solidFill>
              </a:rPr>
              <a:t>/</a:t>
            </a:r>
            <a:r>
              <a:rPr lang="zh-CN" altLang="en-US" sz="1200" b="1">
                <a:solidFill>
                  <a:schemeClr val="bg1"/>
                </a:solidFill>
              </a:rPr>
              <a:t>同期销</a:t>
            </a:r>
            <a:r>
              <a:rPr lang="zh-CN" altLang="en-US" sz="1200" b="1">
                <a:solidFill>
                  <a:srgbClr val="FF0000"/>
                </a:solidFill>
              </a:rPr>
              <a:t>金额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16C0E3-B6C2-4FA9-B53F-A5B83E6D8061}"/>
              </a:ext>
            </a:extLst>
          </p:cNvPr>
          <p:cNvSpPr txBox="1"/>
          <p:nvPr/>
        </p:nvSpPr>
        <p:spPr>
          <a:xfrm>
            <a:off x="1259632" y="779354"/>
            <a:ext cx="4896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bg1"/>
                </a:solidFill>
              </a:rPr>
              <a:t>同比增长率 </a:t>
            </a:r>
            <a:r>
              <a:rPr lang="en-US" altLang="zh-CN" sz="1200" b="1">
                <a:solidFill>
                  <a:schemeClr val="bg1"/>
                </a:solidFill>
              </a:rPr>
              <a:t>= DIVIDE(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	</a:t>
            </a:r>
            <a:r>
              <a:rPr lang="zh-CN" altLang="en-US" sz="1200" b="1">
                <a:solidFill>
                  <a:schemeClr val="bg1"/>
                </a:solidFill>
              </a:rPr>
              <a:t> </a:t>
            </a:r>
            <a:r>
              <a:rPr lang="en-US" altLang="zh-CN" sz="1200" b="1">
                <a:solidFill>
                  <a:schemeClr val="bg1"/>
                </a:solidFill>
              </a:rPr>
              <a:t>       </a:t>
            </a:r>
            <a:r>
              <a:rPr lang="en-US" altLang="zh-CN" sz="1200" b="1">
                <a:solidFill>
                  <a:srgbClr val="FF0000"/>
                </a:solidFill>
              </a:rPr>
              <a:t>SUM('</a:t>
            </a:r>
            <a:r>
              <a:rPr lang="zh-CN" altLang="en-US" sz="1200" b="1">
                <a:solidFill>
                  <a:srgbClr val="FF0000"/>
                </a:solidFill>
              </a:rPr>
              <a:t>销售表</a:t>
            </a:r>
            <a:r>
              <a:rPr lang="en-US" altLang="zh-CN" sz="1200" b="1">
                <a:solidFill>
                  <a:srgbClr val="FF0000"/>
                </a:solidFill>
              </a:rPr>
              <a:t>'[</a:t>
            </a:r>
            <a:r>
              <a:rPr lang="zh-CN" altLang="en-US" sz="1200" b="1">
                <a:solidFill>
                  <a:srgbClr val="FF0000"/>
                </a:solidFill>
              </a:rPr>
              <a:t>销售金额</a:t>
            </a:r>
            <a:r>
              <a:rPr lang="en-US" altLang="zh-CN" sz="1200" b="1">
                <a:solidFill>
                  <a:srgbClr val="FF0000"/>
                </a:solidFill>
              </a:rPr>
              <a:t>]) </a:t>
            </a:r>
            <a:r>
              <a:rPr lang="en-US" altLang="zh-CN" sz="1200" b="1">
                <a:solidFill>
                  <a:schemeClr val="bg1"/>
                </a:solidFill>
              </a:rPr>
              <a:t>-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	                 </a:t>
            </a:r>
            <a:r>
              <a:rPr lang="en-US" altLang="zh-CN" sz="1200" b="1">
                <a:solidFill>
                  <a:srgbClr val="FFFF00"/>
                </a:solidFill>
              </a:rPr>
              <a:t>Calculate(SUM('</a:t>
            </a:r>
            <a:r>
              <a:rPr lang="zh-CN" altLang="en-US" sz="1200" b="1">
                <a:solidFill>
                  <a:srgbClr val="FFFF00"/>
                </a:solidFill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</a:rPr>
              <a:t>'[</a:t>
            </a:r>
            <a:r>
              <a:rPr lang="zh-CN" altLang="en-US" sz="1200" b="1">
                <a:solidFill>
                  <a:srgbClr val="FFFF00"/>
                </a:solidFill>
              </a:rPr>
              <a:t>销售金额</a:t>
            </a:r>
            <a:r>
              <a:rPr lang="en-US" altLang="zh-CN" sz="1200" b="1">
                <a:solidFill>
                  <a:srgbClr val="FFFF00"/>
                </a:solidFill>
              </a:rPr>
              <a:t>]),</a:t>
            </a:r>
          </a:p>
          <a:p>
            <a:r>
              <a:rPr lang="en-US" altLang="zh-CN" sz="1200" b="1">
                <a:solidFill>
                  <a:srgbClr val="FFFF00"/>
                </a:solidFill>
              </a:rPr>
              <a:t>		    Sameperiodlastyear('</a:t>
            </a:r>
            <a:r>
              <a:rPr lang="zh-CN" altLang="en-US" sz="1200" b="1">
                <a:solidFill>
                  <a:srgbClr val="FFFF00"/>
                </a:solidFill>
              </a:rPr>
              <a:t>日期表</a:t>
            </a:r>
            <a:r>
              <a:rPr lang="en-US" altLang="zh-CN" sz="1200" b="1">
                <a:solidFill>
                  <a:srgbClr val="FFFF00"/>
                </a:solidFill>
              </a:rPr>
              <a:t>'[</a:t>
            </a:r>
            <a:r>
              <a:rPr lang="zh-CN" altLang="en-US" sz="1200" b="1">
                <a:solidFill>
                  <a:srgbClr val="FFFF00"/>
                </a:solidFill>
              </a:rPr>
              <a:t>日期</a:t>
            </a:r>
            <a:r>
              <a:rPr lang="en-US" altLang="zh-CN" sz="1200" b="1">
                <a:solidFill>
                  <a:srgbClr val="FFFF00"/>
                </a:solidFill>
              </a:rPr>
              <a:t>]))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			         ,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	                 </a:t>
            </a:r>
            <a:r>
              <a:rPr lang="en-US" altLang="zh-CN" sz="1200" b="1">
                <a:solidFill>
                  <a:srgbClr val="FFFF00"/>
                </a:solidFill>
              </a:rPr>
              <a:t>Calculate(SUM('</a:t>
            </a:r>
            <a:r>
              <a:rPr lang="zh-CN" altLang="en-US" sz="1200" b="1">
                <a:solidFill>
                  <a:srgbClr val="FFFF00"/>
                </a:solidFill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</a:rPr>
              <a:t>'[</a:t>
            </a:r>
            <a:r>
              <a:rPr lang="zh-CN" altLang="en-US" sz="1200" b="1">
                <a:solidFill>
                  <a:srgbClr val="FFFF00"/>
                </a:solidFill>
              </a:rPr>
              <a:t>销售金额</a:t>
            </a:r>
            <a:r>
              <a:rPr lang="en-US" altLang="zh-CN" sz="1200" b="1">
                <a:solidFill>
                  <a:srgbClr val="FFFF00"/>
                </a:solidFill>
              </a:rPr>
              <a:t>]),</a:t>
            </a:r>
          </a:p>
          <a:p>
            <a:r>
              <a:rPr lang="en-US" altLang="zh-CN" sz="1200" b="1">
                <a:solidFill>
                  <a:srgbClr val="FFFF00"/>
                </a:solidFill>
              </a:rPr>
              <a:t>		    Sameperiodlastyear('</a:t>
            </a:r>
            <a:r>
              <a:rPr lang="zh-CN" altLang="en-US" sz="1200" b="1">
                <a:solidFill>
                  <a:srgbClr val="FFFF00"/>
                </a:solidFill>
              </a:rPr>
              <a:t>日期表</a:t>
            </a:r>
            <a:r>
              <a:rPr lang="en-US" altLang="zh-CN" sz="1200" b="1">
                <a:solidFill>
                  <a:srgbClr val="FFFF00"/>
                </a:solidFill>
              </a:rPr>
              <a:t>'[</a:t>
            </a:r>
            <a:r>
              <a:rPr lang="zh-CN" altLang="en-US" sz="1200" b="1">
                <a:solidFill>
                  <a:srgbClr val="FFFF00"/>
                </a:solidFill>
              </a:rPr>
              <a:t>日期</a:t>
            </a:r>
            <a:r>
              <a:rPr lang="en-US" altLang="zh-CN" sz="1200" b="1">
                <a:solidFill>
                  <a:srgbClr val="FFFF00"/>
                </a:solidFill>
              </a:rPr>
              <a:t>]))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                              )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3569401-F3DF-444C-9E81-CF80056D7E7A}"/>
              </a:ext>
            </a:extLst>
          </p:cNvPr>
          <p:cNvSpPr/>
          <p:nvPr/>
        </p:nvSpPr>
        <p:spPr>
          <a:xfrm>
            <a:off x="6444208" y="1275606"/>
            <a:ext cx="432048" cy="304495"/>
          </a:xfrm>
          <a:prstGeom prst="right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D239691-0659-4794-8A22-547427AD5510}"/>
              </a:ext>
            </a:extLst>
          </p:cNvPr>
          <p:cNvSpPr/>
          <p:nvPr/>
        </p:nvSpPr>
        <p:spPr>
          <a:xfrm>
            <a:off x="6464052" y="1846524"/>
            <a:ext cx="432048" cy="304495"/>
          </a:xfrm>
          <a:prstGeom prst="right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0A4B03-45D4-404D-ABA4-8FA3BAE28752}"/>
              </a:ext>
            </a:extLst>
          </p:cNvPr>
          <p:cNvSpPr txBox="1"/>
          <p:nvPr/>
        </p:nvSpPr>
        <p:spPr>
          <a:xfrm>
            <a:off x="7144668" y="1292069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chemeClr val="bg1"/>
                </a:solidFill>
              </a:rPr>
              <a:t>分子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0206FC-8C5C-4FCD-9441-91583295DF3F}"/>
              </a:ext>
            </a:extLst>
          </p:cNvPr>
          <p:cNvSpPr txBox="1"/>
          <p:nvPr/>
        </p:nvSpPr>
        <p:spPr>
          <a:xfrm>
            <a:off x="7159832" y="1835676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chemeClr val="bg1"/>
                </a:solidFill>
              </a:rPr>
              <a:t>分母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118850-8713-4B5E-A07C-2584874A79CE}"/>
              </a:ext>
            </a:extLst>
          </p:cNvPr>
          <p:cNvSpPr txBox="1"/>
          <p:nvPr/>
        </p:nvSpPr>
        <p:spPr>
          <a:xfrm>
            <a:off x="4600491" y="2980785"/>
            <a:ext cx="39412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>
                <a:solidFill>
                  <a:schemeClr val="bg1"/>
                </a:solidFill>
              </a:rPr>
              <a:t>同比增长率  </a:t>
            </a:r>
            <a:r>
              <a:rPr lang="en-US" altLang="zh-CN" sz="1000" b="1">
                <a:solidFill>
                  <a:schemeClr val="bg1"/>
                </a:solidFill>
              </a:rPr>
              <a:t>=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VAR </a:t>
            </a:r>
            <a:r>
              <a:rPr lang="en-US" altLang="zh-CN" sz="1000" b="1">
                <a:solidFill>
                  <a:srgbClr val="00B0F0"/>
                </a:solidFill>
              </a:rPr>
              <a:t>a</a:t>
            </a:r>
            <a:r>
              <a:rPr lang="en-US" altLang="zh-CN" sz="1000" b="1">
                <a:solidFill>
                  <a:schemeClr val="bg1"/>
                </a:solidFill>
              </a:rPr>
              <a:t> = SUM('</a:t>
            </a:r>
            <a:r>
              <a:rPr lang="zh-CN" altLang="en-US" sz="1000" b="1">
                <a:solidFill>
                  <a:schemeClr val="bg1"/>
                </a:solidFill>
              </a:rPr>
              <a:t>销售表</a:t>
            </a:r>
            <a:r>
              <a:rPr lang="en-US" altLang="zh-CN" sz="1000" b="1">
                <a:solidFill>
                  <a:schemeClr val="bg1"/>
                </a:solidFill>
              </a:rPr>
              <a:t>'[</a:t>
            </a:r>
            <a:r>
              <a:rPr lang="zh-CN" altLang="en-US" sz="1000" b="1">
                <a:solidFill>
                  <a:schemeClr val="bg1"/>
                </a:solidFill>
              </a:rPr>
              <a:t>销售金额</a:t>
            </a:r>
            <a:r>
              <a:rPr lang="en-US" altLang="zh-CN" sz="1000" b="1">
                <a:solidFill>
                  <a:schemeClr val="bg1"/>
                </a:solidFill>
              </a:rPr>
              <a:t>])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VAR </a:t>
            </a:r>
            <a:r>
              <a:rPr lang="en-US" altLang="zh-CN" sz="1000" b="1">
                <a:solidFill>
                  <a:srgbClr val="00B0F0"/>
                </a:solidFill>
              </a:rPr>
              <a:t>b</a:t>
            </a:r>
            <a:r>
              <a:rPr lang="en-US" altLang="zh-CN" sz="1000" b="1">
                <a:solidFill>
                  <a:schemeClr val="bg1"/>
                </a:solidFill>
              </a:rPr>
              <a:t> = 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       calculate(Sum('</a:t>
            </a:r>
            <a:r>
              <a:rPr lang="zh-CN" altLang="en-US" sz="1000" b="1">
                <a:solidFill>
                  <a:schemeClr val="bg1"/>
                </a:solidFill>
              </a:rPr>
              <a:t>销售表</a:t>
            </a:r>
            <a:r>
              <a:rPr lang="en-US" altLang="zh-CN" sz="1000" b="1">
                <a:solidFill>
                  <a:schemeClr val="bg1"/>
                </a:solidFill>
              </a:rPr>
              <a:t>'[</a:t>
            </a:r>
            <a:r>
              <a:rPr lang="zh-CN" altLang="en-US" sz="1000" b="1">
                <a:solidFill>
                  <a:schemeClr val="bg1"/>
                </a:solidFill>
              </a:rPr>
              <a:t>销售金额</a:t>
            </a:r>
            <a:r>
              <a:rPr lang="en-US" altLang="zh-CN" sz="1000" b="1">
                <a:solidFill>
                  <a:schemeClr val="bg1"/>
                </a:solidFill>
              </a:rPr>
              <a:t>],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               Sameperiodlastyear('</a:t>
            </a:r>
            <a:r>
              <a:rPr lang="zh-CN" altLang="en-US" sz="1000" b="1">
                <a:solidFill>
                  <a:schemeClr val="bg1"/>
                </a:solidFill>
              </a:rPr>
              <a:t>日期表</a:t>
            </a:r>
            <a:r>
              <a:rPr lang="en-US" altLang="zh-CN" sz="1000" b="1">
                <a:solidFill>
                  <a:schemeClr val="bg1"/>
                </a:solidFill>
              </a:rPr>
              <a:t>'[</a:t>
            </a:r>
            <a:r>
              <a:rPr lang="zh-CN" altLang="en-US" sz="1000" b="1">
                <a:solidFill>
                  <a:schemeClr val="bg1"/>
                </a:solidFill>
              </a:rPr>
              <a:t>日期</a:t>
            </a:r>
            <a:r>
              <a:rPr lang="en-US" altLang="zh-CN" sz="1000" b="1">
                <a:solidFill>
                  <a:schemeClr val="bg1"/>
                </a:solidFill>
              </a:rPr>
              <a:t>]))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3A59B6-93E4-407A-B6E5-CA38C9BFE735}"/>
              </a:ext>
            </a:extLst>
          </p:cNvPr>
          <p:cNvSpPr txBox="1"/>
          <p:nvPr/>
        </p:nvSpPr>
        <p:spPr>
          <a:xfrm>
            <a:off x="4600491" y="3921084"/>
            <a:ext cx="3941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solidFill>
                  <a:schemeClr val="bg1"/>
                </a:solidFill>
              </a:rPr>
              <a:t>Return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       Divide(</a:t>
            </a:r>
            <a:r>
              <a:rPr lang="en-US" altLang="zh-CN" sz="1000" b="1">
                <a:solidFill>
                  <a:srgbClr val="00B0F0"/>
                </a:solidFill>
              </a:rPr>
              <a:t>a-b,b</a:t>
            </a:r>
            <a:r>
              <a:rPr lang="en-US" altLang="zh-CN" sz="1000" b="1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E64469D-9650-4AC6-A91B-FE3DCECCBFA8}"/>
              </a:ext>
            </a:extLst>
          </p:cNvPr>
          <p:cNvSpPr/>
          <p:nvPr/>
        </p:nvSpPr>
        <p:spPr>
          <a:xfrm>
            <a:off x="2915816" y="3219822"/>
            <a:ext cx="1152128" cy="288032"/>
          </a:xfrm>
          <a:prstGeom prst="rightArrow">
            <a:avLst/>
          </a:prstGeom>
          <a:solidFill>
            <a:schemeClr val="bg1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29FCB13-BFF8-489F-B20F-43CAAF33D155}"/>
              </a:ext>
            </a:extLst>
          </p:cNvPr>
          <p:cNvSpPr/>
          <p:nvPr/>
        </p:nvSpPr>
        <p:spPr>
          <a:xfrm>
            <a:off x="2915816" y="3989298"/>
            <a:ext cx="1152128" cy="288032"/>
          </a:xfrm>
          <a:prstGeom prst="rightArrow">
            <a:avLst/>
          </a:prstGeom>
          <a:solidFill>
            <a:schemeClr val="bg1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D722D4-DEB9-4644-A26F-F5353EC32595}"/>
              </a:ext>
            </a:extLst>
          </p:cNvPr>
          <p:cNvSpPr txBox="1"/>
          <p:nvPr/>
        </p:nvSpPr>
        <p:spPr>
          <a:xfrm>
            <a:off x="107504" y="3219822"/>
            <a:ext cx="25922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相当于</a:t>
            </a:r>
            <a:r>
              <a:rPr lang="en-US" altLang="zh-CN" sz="1000" b="1">
                <a:solidFill>
                  <a:schemeClr val="bg1"/>
                </a:solidFill>
              </a:rPr>
              <a:t>Python</a:t>
            </a:r>
            <a:r>
              <a:rPr lang="zh-CN" altLang="en-US" sz="1000" b="1">
                <a:solidFill>
                  <a:schemeClr val="bg1"/>
                </a:solidFill>
              </a:rPr>
              <a:t>里面自定义函数给一个变量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127083-5F61-4B38-8B93-BA86575734FD}"/>
              </a:ext>
            </a:extLst>
          </p:cNvPr>
          <p:cNvSpPr txBox="1"/>
          <p:nvPr/>
        </p:nvSpPr>
        <p:spPr>
          <a:xfrm>
            <a:off x="359532" y="3989298"/>
            <a:ext cx="2304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</a:rPr>
              <a:t>调用函数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00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A00520-A8D6-4C8C-A489-CCE832F53885}"/>
              </a:ext>
            </a:extLst>
          </p:cNvPr>
          <p:cNvSpPr txBox="1"/>
          <p:nvPr/>
        </p:nvSpPr>
        <p:spPr>
          <a:xfrm>
            <a:off x="1187624" y="171093"/>
            <a:ext cx="6450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b="1">
                <a:solidFill>
                  <a:schemeClr val="bg1"/>
                </a:solidFill>
              </a:rPr>
              <a:t>想知道每笔订单客户第几次购买：自动更新序号</a:t>
            </a:r>
            <a:endParaRPr lang="en-US" altLang="zh-CN" b="1">
              <a:solidFill>
                <a:schemeClr val="bg1"/>
              </a:solidFill>
            </a:endParaRP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r>
              <a:rPr lang="zh-CN" altLang="en-US" sz="1200" b="1">
                <a:solidFill>
                  <a:schemeClr val="bg1"/>
                </a:solidFill>
              </a:rPr>
              <a:t>借助索引列</a:t>
            </a:r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lvl="1"/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第几次购买 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COUNTROWS(</a:t>
            </a:r>
          </a:p>
          <a:p>
            <a:pPr lvl="2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顾客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ID]=</a:t>
            </a:r>
            <a:r>
              <a:rPr lang="en-US" altLang="zh-CN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EARLIER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顾客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ID])</a:t>
            </a:r>
          </a:p>
          <a:p>
            <a:pPr lvl="2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&amp;&amp;</a:t>
            </a:r>
          </a:p>
          <a:p>
            <a:pPr lvl="2"/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索引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]&lt;=EARLIER('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销售表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索引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]))</a:t>
            </a:r>
          </a:p>
          <a:p>
            <a:pPr indent="457200"/>
            <a:endParaRPr lang="en-US" altLang="zh-CN" sz="1200" b="1">
              <a:solidFill>
                <a:schemeClr val="bg1"/>
              </a:solidFill>
            </a:endParaRPr>
          </a:p>
          <a:p>
            <a:pPr indent="457200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0C8247-684D-455C-87D2-C82B28C823CB}"/>
              </a:ext>
            </a:extLst>
          </p:cNvPr>
          <p:cNvSpPr txBox="1"/>
          <p:nvPr/>
        </p:nvSpPr>
        <p:spPr>
          <a:xfrm>
            <a:off x="1547664" y="2427734"/>
            <a:ext cx="39412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>
                <a:solidFill>
                  <a:schemeClr val="bg1"/>
                </a:solidFill>
              </a:rPr>
              <a:t>第几次购买</a:t>
            </a:r>
            <a:r>
              <a:rPr lang="en-US" altLang="zh-CN" sz="1000" b="1">
                <a:solidFill>
                  <a:schemeClr val="bg1"/>
                </a:solidFill>
              </a:rPr>
              <a:t>=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VAR </a:t>
            </a:r>
            <a:r>
              <a:rPr lang="en-US" altLang="zh-CN" sz="1000" b="1">
                <a:solidFill>
                  <a:srgbClr val="00B0F0"/>
                </a:solidFill>
              </a:rPr>
              <a:t>a</a:t>
            </a:r>
            <a:r>
              <a:rPr lang="en-US" altLang="zh-CN" sz="1000" b="1">
                <a:solidFill>
                  <a:schemeClr val="bg1"/>
                </a:solidFill>
              </a:rPr>
              <a:t> = '</a:t>
            </a:r>
            <a:r>
              <a:rPr lang="zh-CN" altLang="en-US" sz="1000" b="1">
                <a:solidFill>
                  <a:schemeClr val="bg1"/>
                </a:solidFill>
              </a:rPr>
              <a:t>销售表</a:t>
            </a:r>
            <a:r>
              <a:rPr lang="en-US" altLang="zh-CN" sz="1000" b="1">
                <a:solidFill>
                  <a:schemeClr val="bg1"/>
                </a:solidFill>
              </a:rPr>
              <a:t>'[</a:t>
            </a:r>
            <a:r>
              <a:rPr lang="zh-CN" altLang="en-US" sz="1000" b="1">
                <a:solidFill>
                  <a:schemeClr val="bg1"/>
                </a:solidFill>
              </a:rPr>
              <a:t>顾客</a:t>
            </a:r>
            <a:r>
              <a:rPr lang="en-US" altLang="zh-CN" sz="1000" b="1">
                <a:solidFill>
                  <a:schemeClr val="bg1"/>
                </a:solidFill>
              </a:rPr>
              <a:t>ID]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VAR </a:t>
            </a:r>
            <a:r>
              <a:rPr lang="en-US" altLang="zh-CN" sz="1000" b="1">
                <a:solidFill>
                  <a:srgbClr val="00B0F0"/>
                </a:solidFill>
              </a:rPr>
              <a:t>b</a:t>
            </a:r>
            <a:r>
              <a:rPr lang="en-US" altLang="zh-CN" sz="1000" b="1">
                <a:solidFill>
                  <a:schemeClr val="bg1"/>
                </a:solidFill>
              </a:rPr>
              <a:t> = '</a:t>
            </a:r>
            <a:r>
              <a:rPr lang="zh-CN" altLang="en-US" sz="1000" b="1">
                <a:solidFill>
                  <a:schemeClr val="bg1"/>
                </a:solidFill>
              </a:rPr>
              <a:t>销售表</a:t>
            </a:r>
            <a:r>
              <a:rPr lang="en-US" altLang="zh-CN" sz="1000" b="1">
                <a:solidFill>
                  <a:schemeClr val="bg1"/>
                </a:solidFill>
              </a:rPr>
              <a:t>'[</a:t>
            </a:r>
            <a:r>
              <a:rPr lang="zh-CN" altLang="en-US" sz="1000" b="1">
                <a:solidFill>
                  <a:schemeClr val="bg1"/>
                </a:solidFill>
              </a:rPr>
              <a:t>索引</a:t>
            </a:r>
            <a:r>
              <a:rPr lang="en-US" altLang="zh-CN" sz="1000" b="1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D47FE9-E1AE-42C9-BF82-EB535F36E0A1}"/>
              </a:ext>
            </a:extLst>
          </p:cNvPr>
          <p:cNvSpPr txBox="1"/>
          <p:nvPr/>
        </p:nvSpPr>
        <p:spPr>
          <a:xfrm>
            <a:off x="1547664" y="3006993"/>
            <a:ext cx="3941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solidFill>
                  <a:schemeClr val="bg1"/>
                </a:solidFill>
              </a:rPr>
              <a:t>return</a:t>
            </a:r>
          </a:p>
          <a:p>
            <a:r>
              <a:rPr lang="en-US" altLang="zh-CN" sz="1000" b="1">
                <a:solidFill>
                  <a:schemeClr val="bg1"/>
                </a:solidFill>
              </a:rPr>
              <a:t> countrows(Filter('</a:t>
            </a:r>
            <a:r>
              <a:rPr lang="zh-CN" altLang="en-US" sz="1000" b="1">
                <a:solidFill>
                  <a:schemeClr val="bg1"/>
                </a:solidFill>
              </a:rPr>
              <a:t>销售表</a:t>
            </a:r>
            <a:r>
              <a:rPr lang="en-US" altLang="zh-CN" sz="1000" b="1">
                <a:solidFill>
                  <a:schemeClr val="bg1"/>
                </a:solidFill>
              </a:rPr>
              <a:t>',[</a:t>
            </a:r>
            <a:r>
              <a:rPr lang="zh-CN" altLang="en-US" sz="1000" b="1">
                <a:solidFill>
                  <a:schemeClr val="bg1"/>
                </a:solidFill>
              </a:rPr>
              <a:t>顾客</a:t>
            </a:r>
            <a:r>
              <a:rPr lang="en-US" altLang="zh-CN" sz="1000" b="1">
                <a:solidFill>
                  <a:schemeClr val="bg1"/>
                </a:solidFill>
              </a:rPr>
              <a:t>ID]= a</a:t>
            </a:r>
            <a:r>
              <a:rPr lang="zh-CN" altLang="en-US" sz="1000" b="1">
                <a:solidFill>
                  <a:schemeClr val="bg1"/>
                </a:solidFill>
              </a:rPr>
              <a:t> </a:t>
            </a:r>
            <a:r>
              <a:rPr lang="en-US" altLang="zh-CN" sz="1000" b="1">
                <a:solidFill>
                  <a:schemeClr val="bg1"/>
                </a:solidFill>
              </a:rPr>
              <a:t>&amp;&amp;[</a:t>
            </a:r>
            <a:r>
              <a:rPr lang="zh-CN" altLang="en-US" sz="1000" b="1">
                <a:solidFill>
                  <a:schemeClr val="bg1"/>
                </a:solidFill>
              </a:rPr>
              <a:t>索引</a:t>
            </a:r>
            <a:r>
              <a:rPr lang="en-US" altLang="zh-CN" sz="1000" b="1">
                <a:solidFill>
                  <a:schemeClr val="bg1"/>
                </a:solidFill>
              </a:rPr>
              <a:t>]&lt;=b))</a:t>
            </a:r>
          </a:p>
        </p:txBody>
      </p:sp>
    </p:spTree>
    <p:extLst>
      <p:ext uri="{BB962C8B-B14F-4D97-AF65-F5344CB8AC3E}">
        <p14:creationId xmlns:p14="http://schemas.microsoft.com/office/powerpoint/2010/main" val="148059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C161A0-DA32-40DB-9779-F73BD5451972}"/>
              </a:ext>
            </a:extLst>
          </p:cNvPr>
          <p:cNvSpPr txBox="1"/>
          <p:nvPr/>
        </p:nvSpPr>
        <p:spPr>
          <a:xfrm>
            <a:off x="611560" y="123478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避免上下文的干扰：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FB81F3-D39C-4D68-8C73-0BB522A66A74}"/>
              </a:ext>
            </a:extLst>
          </p:cNvPr>
          <p:cNvSpPr txBox="1"/>
          <p:nvPr/>
        </p:nvSpPr>
        <p:spPr>
          <a:xfrm>
            <a:off x="1043608" y="555526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</a:rPr>
              <a:t>Calculate([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],Filter('</a:t>
            </a:r>
            <a:r>
              <a:rPr lang="zh-CN" altLang="en-US" sz="1400" b="1">
                <a:solidFill>
                  <a:schemeClr val="bg1"/>
                </a:solidFill>
              </a:rPr>
              <a:t>店铺表</a:t>
            </a:r>
            <a:r>
              <a:rPr lang="en-US" altLang="zh-CN" sz="1400" b="1">
                <a:solidFill>
                  <a:schemeClr val="bg1"/>
                </a:solidFill>
              </a:rPr>
              <a:t>',</a:t>
            </a:r>
            <a:r>
              <a:rPr lang="en-US" altLang="zh-CN" sz="1400" b="1">
                <a:solidFill>
                  <a:srgbClr val="FFFF00"/>
                </a:solidFill>
              </a:rPr>
              <a:t>[</a:t>
            </a:r>
            <a:r>
              <a:rPr lang="zh-CN" altLang="en-US" sz="1400" b="1">
                <a:solidFill>
                  <a:srgbClr val="FFFF00"/>
                </a:solidFill>
              </a:rPr>
              <a:t>销售量</a:t>
            </a:r>
            <a:r>
              <a:rPr lang="en-US" altLang="zh-CN" sz="1400" b="1">
                <a:solidFill>
                  <a:srgbClr val="FFFF00"/>
                </a:solidFill>
              </a:rPr>
              <a:t>]</a:t>
            </a:r>
            <a:r>
              <a:rPr lang="en-US" altLang="zh-CN" sz="1400" b="1">
                <a:solidFill>
                  <a:schemeClr val="bg1"/>
                </a:solidFill>
              </a:rPr>
              <a:t>&gt;200))               </a:t>
            </a:r>
            <a:r>
              <a:rPr lang="zh-CN" altLang="en-US" sz="1400" b="1">
                <a:solidFill>
                  <a:schemeClr val="bg1"/>
                </a:solidFill>
              </a:rPr>
              <a:t>销售量大于</a:t>
            </a:r>
            <a:r>
              <a:rPr lang="en-US" altLang="zh-CN" sz="1400" b="1">
                <a:solidFill>
                  <a:schemeClr val="bg1"/>
                </a:solidFill>
              </a:rPr>
              <a:t>200</a:t>
            </a:r>
            <a:r>
              <a:rPr lang="zh-CN" altLang="en-US" sz="1400" b="1">
                <a:solidFill>
                  <a:schemeClr val="bg1"/>
                </a:solidFill>
              </a:rPr>
              <a:t>的店铺</a:t>
            </a:r>
            <a:endParaRPr lang="en-US" altLang="zh-CN" sz="1400" b="1">
              <a:solidFill>
                <a:schemeClr val="bg1"/>
              </a:solidFill>
            </a:endParaRPr>
          </a:p>
          <a:p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Calculate([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],Filter('</a:t>
            </a:r>
            <a:r>
              <a:rPr lang="zh-CN" altLang="en-US" sz="1400" b="1">
                <a:solidFill>
                  <a:schemeClr val="bg1"/>
                </a:solidFill>
              </a:rPr>
              <a:t>店铺表</a:t>
            </a:r>
            <a:r>
              <a:rPr lang="en-US" altLang="zh-CN" sz="1400" b="1">
                <a:solidFill>
                  <a:schemeClr val="bg1"/>
                </a:solidFill>
              </a:rPr>
              <a:t>',</a:t>
            </a:r>
            <a:r>
              <a:rPr lang="en-US" altLang="zh-CN" sz="1400" b="1">
                <a:solidFill>
                  <a:srgbClr val="FFFF00"/>
                </a:solidFill>
              </a:rPr>
              <a:t>Sum('</a:t>
            </a:r>
            <a:r>
              <a:rPr lang="zh-CN" altLang="en-US" sz="1400" b="1">
                <a:solidFill>
                  <a:srgbClr val="FFFF00"/>
                </a:solidFill>
              </a:rPr>
              <a:t>销售表</a:t>
            </a:r>
            <a:r>
              <a:rPr lang="en-US" altLang="zh-CN" sz="1400" b="1">
                <a:solidFill>
                  <a:srgbClr val="FFFF00"/>
                </a:solidFill>
              </a:rPr>
              <a:t>'[</a:t>
            </a:r>
            <a:r>
              <a:rPr lang="zh-CN" altLang="en-US" sz="1400" b="1">
                <a:solidFill>
                  <a:srgbClr val="FFFF00"/>
                </a:solidFill>
              </a:rPr>
              <a:t>数量</a:t>
            </a:r>
            <a:r>
              <a:rPr lang="en-US" altLang="zh-CN" sz="1400" b="1">
                <a:solidFill>
                  <a:srgbClr val="FFFF00"/>
                </a:solidFill>
              </a:rPr>
              <a:t>])</a:t>
            </a:r>
            <a:r>
              <a:rPr lang="en-US" altLang="zh-CN" sz="1400" b="1">
                <a:solidFill>
                  <a:schemeClr val="bg1"/>
                </a:solidFill>
              </a:rPr>
              <a:t>&gt;200))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2C9171-47EF-4C6C-B504-9B8C87C7500C}"/>
              </a:ext>
            </a:extLst>
          </p:cNvPr>
          <p:cNvSpPr txBox="1"/>
          <p:nvPr/>
        </p:nvSpPr>
        <p:spPr>
          <a:xfrm>
            <a:off x="1043608" y="1779662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</a:rPr>
              <a:t>VAR a = </a:t>
            </a:r>
            <a:r>
              <a:rPr lang="en-US" altLang="zh-CN" sz="1400" b="1">
                <a:solidFill>
                  <a:srgbClr val="FFFF00"/>
                </a:solidFill>
              </a:rPr>
              <a:t>Sum('</a:t>
            </a:r>
            <a:r>
              <a:rPr lang="zh-CN" altLang="en-US" sz="1400" b="1">
                <a:solidFill>
                  <a:srgbClr val="FFFF00"/>
                </a:solidFill>
              </a:rPr>
              <a:t>销售表</a:t>
            </a:r>
            <a:r>
              <a:rPr lang="en-US" altLang="zh-CN" sz="1400" b="1">
                <a:solidFill>
                  <a:srgbClr val="FFFF00"/>
                </a:solidFill>
              </a:rPr>
              <a:t>'[</a:t>
            </a:r>
            <a:r>
              <a:rPr lang="zh-CN" altLang="en-US" sz="1400" b="1">
                <a:solidFill>
                  <a:srgbClr val="FFFF00"/>
                </a:solidFill>
              </a:rPr>
              <a:t>数量</a:t>
            </a:r>
            <a:r>
              <a:rPr lang="en-US" altLang="zh-CN" sz="1400" b="1">
                <a:solidFill>
                  <a:srgbClr val="FFFF00"/>
                </a:solidFill>
              </a:rPr>
              <a:t>])</a:t>
            </a:r>
          </a:p>
          <a:p>
            <a:r>
              <a:rPr lang="en-US" altLang="zh-CN" sz="1400" b="1">
                <a:solidFill>
                  <a:schemeClr val="bg1"/>
                </a:solidFill>
              </a:rPr>
              <a:t>Return</a:t>
            </a:r>
          </a:p>
          <a:p>
            <a:r>
              <a:rPr lang="en-US" altLang="zh-CN" sz="1400" b="1">
                <a:solidFill>
                  <a:schemeClr val="bg1"/>
                </a:solidFill>
              </a:rPr>
              <a:t>Calculate([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],Filter('</a:t>
            </a:r>
            <a:r>
              <a:rPr lang="zh-CN" altLang="en-US" sz="1400" b="1">
                <a:solidFill>
                  <a:schemeClr val="bg1"/>
                </a:solidFill>
              </a:rPr>
              <a:t>店铺表</a:t>
            </a:r>
            <a:r>
              <a:rPr lang="en-US" altLang="zh-CN" sz="1400" b="1">
                <a:solidFill>
                  <a:schemeClr val="bg1"/>
                </a:solidFill>
              </a:rPr>
              <a:t>',a&gt;200))</a:t>
            </a:r>
          </a:p>
        </p:txBody>
      </p:sp>
    </p:spTree>
    <p:extLst>
      <p:ext uri="{BB962C8B-B14F-4D97-AF65-F5344CB8AC3E}">
        <p14:creationId xmlns:p14="http://schemas.microsoft.com/office/powerpoint/2010/main" val="161076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45D779-7597-4BAD-9934-C68E1F3EA81B}"/>
              </a:ext>
            </a:extLst>
          </p:cNvPr>
          <p:cNvSpPr txBox="1"/>
          <p:nvPr/>
        </p:nvSpPr>
        <p:spPr>
          <a:xfrm>
            <a:off x="899592" y="555526"/>
            <a:ext cx="756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</a:rPr>
              <a:t>Calculate([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],Filter('</a:t>
            </a:r>
            <a:r>
              <a:rPr lang="zh-CN" altLang="en-US" sz="1400" b="1">
                <a:solidFill>
                  <a:schemeClr val="bg1"/>
                </a:solidFill>
              </a:rPr>
              <a:t>店铺表</a:t>
            </a:r>
            <a:r>
              <a:rPr lang="en-US" altLang="zh-CN" sz="1400" b="1">
                <a:solidFill>
                  <a:schemeClr val="bg1"/>
                </a:solidFill>
              </a:rPr>
              <a:t>',[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]&gt;0.05*Calculate([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],All('</a:t>
            </a:r>
            <a:r>
              <a:rPr lang="zh-CN" altLang="en-US" sz="1400" b="1">
                <a:solidFill>
                  <a:schemeClr val="bg1"/>
                </a:solidFill>
              </a:rPr>
              <a:t>店铺表</a:t>
            </a:r>
            <a:r>
              <a:rPr lang="en-US" altLang="zh-CN" sz="1400" b="1">
                <a:solidFill>
                  <a:schemeClr val="bg1"/>
                </a:solidFill>
              </a:rPr>
              <a:t>'))))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45D7FC-C58C-4DAB-BE07-164AC9BF5160}"/>
              </a:ext>
            </a:extLst>
          </p:cNvPr>
          <p:cNvSpPr txBox="1"/>
          <p:nvPr/>
        </p:nvSpPr>
        <p:spPr>
          <a:xfrm>
            <a:off x="899592" y="1491630"/>
            <a:ext cx="7560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bg1"/>
                </a:solidFill>
              </a:rPr>
              <a:t>VAR a = 0.05*[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</a:t>
            </a:r>
          </a:p>
          <a:p>
            <a:r>
              <a:rPr lang="en-US" altLang="zh-CN" sz="1400" b="1">
                <a:solidFill>
                  <a:schemeClr val="bg1"/>
                </a:solidFill>
              </a:rPr>
              <a:t>Return</a:t>
            </a:r>
          </a:p>
          <a:p>
            <a:r>
              <a:rPr lang="en-US" altLang="zh-CN" sz="1400" b="1">
                <a:solidFill>
                  <a:schemeClr val="bg1"/>
                </a:solidFill>
              </a:rPr>
              <a:t>Calculate([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],Filter('</a:t>
            </a:r>
            <a:r>
              <a:rPr lang="zh-CN" altLang="en-US" sz="1400" b="1">
                <a:solidFill>
                  <a:schemeClr val="bg1"/>
                </a:solidFill>
              </a:rPr>
              <a:t>店铺表</a:t>
            </a:r>
            <a:r>
              <a:rPr lang="en-US" altLang="zh-CN" sz="1400" b="1">
                <a:solidFill>
                  <a:schemeClr val="bg1"/>
                </a:solidFill>
              </a:rPr>
              <a:t>',[</a:t>
            </a:r>
            <a:r>
              <a:rPr lang="zh-CN" altLang="en-US" sz="1400" b="1">
                <a:solidFill>
                  <a:schemeClr val="bg1"/>
                </a:solidFill>
              </a:rPr>
              <a:t>销售量</a:t>
            </a:r>
            <a:r>
              <a:rPr lang="en-US" altLang="zh-CN" sz="1400" b="1">
                <a:solidFill>
                  <a:schemeClr val="bg1"/>
                </a:solidFill>
              </a:rPr>
              <a:t>]&gt;a)</a:t>
            </a:r>
          </a:p>
        </p:txBody>
      </p:sp>
    </p:spTree>
    <p:extLst>
      <p:ext uri="{BB962C8B-B14F-4D97-AF65-F5344CB8AC3E}">
        <p14:creationId xmlns:p14="http://schemas.microsoft.com/office/powerpoint/2010/main" val="987470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6834</TotalTime>
  <Words>355</Words>
  <Application>Microsoft Office PowerPoint</Application>
  <PresentationFormat>全屏显示(16:9)</PresentationFormat>
  <Paragraphs>46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1253</cp:revision>
  <dcterms:created xsi:type="dcterms:W3CDTF">2014-02-28T09:23:05Z</dcterms:created>
  <dcterms:modified xsi:type="dcterms:W3CDTF">2020-03-14T12:32:56Z</dcterms:modified>
</cp:coreProperties>
</file>