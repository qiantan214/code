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393" r:id="rId2"/>
    <p:sldId id="394" r:id="rId3"/>
    <p:sldId id="395" r:id="rId4"/>
    <p:sldId id="396" r:id="rId5"/>
  </p:sldIdLst>
  <p:sldSz cx="9144000" cy="5143500" type="screen16x9"/>
  <p:notesSz cx="6858000" cy="9144000"/>
  <p:custDataLst>
    <p:tags r:id="rId8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5511" userDrawn="1">
          <p15:clr>
            <a:srgbClr val="A4A3A4"/>
          </p15:clr>
        </p15:guide>
        <p15:guide id="7" pos="612" userDrawn="1">
          <p15:clr>
            <a:srgbClr val="A4A3A4"/>
          </p15:clr>
        </p15:guide>
        <p15:guide id="8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78F4"/>
    <a:srgbClr val="C5C5C5"/>
    <a:srgbClr val="192834"/>
    <a:srgbClr val="FBE9EC"/>
    <a:srgbClr val="FEE4F6"/>
    <a:srgbClr val="FEFEFE"/>
    <a:srgbClr val="D5DBDE"/>
    <a:srgbClr val="DDE5ED"/>
    <a:srgbClr val="C6D0D6"/>
    <a:srgbClr val="D6DF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14" autoAdjust="0"/>
    <p:restoredTop sz="95013" autoAdjust="0"/>
  </p:normalViewPr>
  <p:slideViewPr>
    <p:cSldViewPr>
      <p:cViewPr varScale="1">
        <p:scale>
          <a:sx n="150" d="100"/>
          <a:sy n="150" d="100"/>
        </p:scale>
        <p:origin x="420" y="120"/>
      </p:cViewPr>
      <p:guideLst>
        <p:guide pos="5511"/>
        <p:guide pos="612"/>
        <p:guide orient="horz" pos="1620"/>
      </p:guideLst>
    </p:cSldViewPr>
  </p:slideViewPr>
  <p:outlineViewPr>
    <p:cViewPr>
      <p:scale>
        <a:sx n="33" d="100"/>
        <a:sy n="33" d="100"/>
      </p:scale>
      <p:origin x="0" y="-440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36"/>
    </p:cViewPr>
  </p:sorterViewPr>
  <p:notesViewPr>
    <p:cSldViewPr showGuides="1">
      <p:cViewPr varScale="1">
        <p:scale>
          <a:sx n="120" d="100"/>
          <a:sy n="120" d="100"/>
        </p:scale>
        <p:origin x="383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C304B3-FA9F-49C1-859E-2458D1B84048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B05DBC-4E0E-43E3-A060-4938178F1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8614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4EB415-5FD7-4318-806E-930189874889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2A4CF9-9236-450D-BC13-91858061C6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472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色有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2332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ko-KR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57200" y="4803998"/>
            <a:ext cx="1217000" cy="246221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spcBef>
                <a:spcPct val="0"/>
              </a:spcBef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/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</a:rPr>
              <a:t>www.pptmall.net</a:t>
            </a:r>
            <a:endParaRPr lang="zh-CN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78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黑色有标题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124EB12D-71AA-4797-9E53-6CDD91A37DC7}"/>
              </a:ext>
            </a:extLst>
          </p:cNvPr>
          <p:cNvSpPr txBox="1"/>
          <p:nvPr userDrawn="1"/>
        </p:nvSpPr>
        <p:spPr>
          <a:xfrm>
            <a:off x="409220" y="4731990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C5C5C5"/>
                </a:solidFill>
              </a:rPr>
              <a:t>主讲：孙兴华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A418F3-F843-4883-B540-8F3C3CDE8841}"/>
              </a:ext>
            </a:extLst>
          </p:cNvPr>
          <p:cNvSpPr/>
          <p:nvPr userDrawn="1"/>
        </p:nvSpPr>
        <p:spPr>
          <a:xfrm>
            <a:off x="0" y="4656206"/>
            <a:ext cx="9144000" cy="352784"/>
          </a:xfrm>
          <a:prstGeom prst="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65000"/>
                  <a:alpha val="30000"/>
                </a:schemeClr>
              </a:gs>
            </a:gsLst>
            <a:lin ang="5400000" scaled="1"/>
          </a:gra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619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762BF6-6E3F-433B-AB39-F4DEF76FD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87EF-A92C-4F47-B9B3-48D91E515FA5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014B5B-56D1-4541-8470-F1DD30F2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BF0C11-692D-4D1E-B3C9-068673586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F675-5BB6-4475-9536-7FDBB6229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068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>
                <a:lumMod val="85000"/>
                <a:alpha val="60000"/>
              </a:schemeClr>
            </a:gs>
            <a:gs pos="0">
              <a:schemeClr val="bg1">
                <a:lumMod val="85000"/>
                <a:alpha val="60000"/>
              </a:schemeClr>
            </a:gs>
            <a:gs pos="50000">
              <a:schemeClr val="bg1"/>
            </a:gs>
            <a:gs pos="73000">
              <a:schemeClr val="bg1"/>
            </a:gs>
            <a:gs pos="26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230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701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3E1E4E1-1DC9-4285-AB14-530B8E7DD92D}"/>
              </a:ext>
            </a:extLst>
          </p:cNvPr>
          <p:cNvSpPr txBox="1"/>
          <p:nvPr/>
        </p:nvSpPr>
        <p:spPr>
          <a:xfrm>
            <a:off x="395536" y="339502"/>
            <a:ext cx="6696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1</a:t>
            </a:r>
            <a:r>
              <a:rPr lang="zh-CN" altLang="en-US" b="1" dirty="0">
                <a:solidFill>
                  <a:schemeClr val="bg1"/>
                </a:solidFill>
              </a:rPr>
              <a:t>、别人给我们的（</a:t>
            </a:r>
            <a:r>
              <a:rPr lang="en-US" altLang="zh-CN" b="1" dirty="0">
                <a:solidFill>
                  <a:schemeClr val="bg1"/>
                </a:solidFill>
              </a:rPr>
              <a:t>.</a:t>
            </a:r>
            <a:r>
              <a:rPr lang="en-US" altLang="zh-CN" b="1" dirty="0" err="1">
                <a:solidFill>
                  <a:schemeClr val="bg1"/>
                </a:solidFill>
              </a:rPr>
              <a:t>pbix</a:t>
            </a:r>
            <a:r>
              <a:rPr lang="zh-CN" altLang="en-US" b="1" dirty="0">
                <a:solidFill>
                  <a:schemeClr val="bg1"/>
                </a:solidFill>
              </a:rPr>
              <a:t>文件）如果查看和导出图表中的数据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23F3C80-F485-4C7B-A657-8CB850550E48}"/>
              </a:ext>
            </a:extLst>
          </p:cNvPr>
          <p:cNvSpPr txBox="1"/>
          <p:nvPr/>
        </p:nvSpPr>
        <p:spPr>
          <a:xfrm>
            <a:off x="971600" y="843558"/>
            <a:ext cx="7776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选中图表，然后点击右上角三个点，选择</a:t>
            </a: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zh-CN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显示数据</a:t>
            </a: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或</a:t>
            </a:r>
            <a:r>
              <a:rPr lang="zh-CN" alt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“导出数据”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  <a:endParaRPr lang="zh-CN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214823-02F7-4D02-A653-FF5BDFDA5A11}"/>
              </a:ext>
            </a:extLst>
          </p:cNvPr>
          <p:cNvSpPr txBox="1"/>
          <p:nvPr/>
        </p:nvSpPr>
        <p:spPr>
          <a:xfrm>
            <a:off x="395536" y="1419622"/>
            <a:ext cx="6696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2</a:t>
            </a:r>
            <a:r>
              <a:rPr lang="zh-CN" altLang="en-US" b="1" dirty="0">
                <a:solidFill>
                  <a:schemeClr val="bg1"/>
                </a:solidFill>
              </a:rPr>
              <a:t>、动态图表的“钻取功能”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F15C64-2B38-4946-B76C-889B9131C6E6}"/>
              </a:ext>
            </a:extLst>
          </p:cNvPr>
          <p:cNvSpPr txBox="1"/>
          <p:nvPr/>
        </p:nvSpPr>
        <p:spPr>
          <a:xfrm>
            <a:off x="971600" y="1923678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认识四个符号</a:t>
            </a:r>
            <a:endParaRPr lang="zh-CN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466E7EB-FC3F-411C-A643-7A9099982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50" y="1919128"/>
            <a:ext cx="1095375" cy="27622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BAD4205-9C59-49FB-9669-DF45EF339324}"/>
              </a:ext>
            </a:extLst>
          </p:cNvPr>
          <p:cNvSpPr txBox="1"/>
          <p:nvPr/>
        </p:nvSpPr>
        <p:spPr>
          <a:xfrm>
            <a:off x="395536" y="2387084"/>
            <a:ext cx="6696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3</a:t>
            </a:r>
            <a:r>
              <a:rPr lang="zh-CN" altLang="en-US" b="1" dirty="0">
                <a:solidFill>
                  <a:schemeClr val="bg1"/>
                </a:solidFill>
              </a:rPr>
              <a:t>、编辑交互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64B3B2-7973-4EEC-8454-D0699C1D923C}"/>
              </a:ext>
            </a:extLst>
          </p:cNvPr>
          <p:cNvSpPr txBox="1"/>
          <p:nvPr/>
        </p:nvSpPr>
        <p:spPr>
          <a:xfrm>
            <a:off x="960190" y="2912045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格式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编辑交互</a:t>
            </a:r>
            <a:endParaRPr lang="zh-CN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6840478-910F-4FF5-BF6B-BB3FEEDFC598}"/>
              </a:ext>
            </a:extLst>
          </p:cNvPr>
          <p:cNvSpPr txBox="1"/>
          <p:nvPr/>
        </p:nvSpPr>
        <p:spPr>
          <a:xfrm>
            <a:off x="2876204" y="2856903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筛选</a:t>
            </a:r>
            <a:endParaRPr lang="zh-CN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7270A67-051B-4EA7-90A2-079D9729A522}"/>
              </a:ext>
            </a:extLst>
          </p:cNvPr>
          <p:cNvSpPr txBox="1"/>
          <p:nvPr/>
        </p:nvSpPr>
        <p:spPr>
          <a:xfrm>
            <a:off x="3879356" y="2856903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不起作用</a:t>
            </a:r>
            <a:endParaRPr lang="zh-CN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2A9AC7F-C9D5-448A-97ED-80BAF55D3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50" y="2806004"/>
            <a:ext cx="409576" cy="40957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15D7050-D753-47C8-90CE-D06E2B7530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454" y="2808240"/>
            <a:ext cx="288032" cy="38797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C94C0E08-22F0-49AF-92A0-5DB2F3FF839D}"/>
              </a:ext>
            </a:extLst>
          </p:cNvPr>
          <p:cNvSpPr txBox="1"/>
          <p:nvPr/>
        </p:nvSpPr>
        <p:spPr>
          <a:xfrm>
            <a:off x="971600" y="3579862"/>
            <a:ext cx="5760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）如果需要筛选，选择筛选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）如果不希望被筛选，则选择“不起作用”</a:t>
            </a:r>
            <a:endParaRPr lang="zh-CN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1350F973-B4AC-458D-A516-E22BCFBAE7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1826" y="2806004"/>
            <a:ext cx="409576" cy="358379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8837F970-94C2-48A7-BC42-9C34E927D0DE}"/>
              </a:ext>
            </a:extLst>
          </p:cNvPr>
          <p:cNvSpPr txBox="1"/>
          <p:nvPr/>
        </p:nvSpPr>
        <p:spPr>
          <a:xfrm>
            <a:off x="5226345" y="2840900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突出显示</a:t>
            </a:r>
            <a:endParaRPr lang="zh-CN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11575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D0B9DB7-6849-428A-B3E7-E8B66BC7E6C1}"/>
              </a:ext>
            </a:extLst>
          </p:cNvPr>
          <p:cNvSpPr txBox="1"/>
          <p:nvPr/>
        </p:nvSpPr>
        <p:spPr>
          <a:xfrm>
            <a:off x="395536" y="339502"/>
            <a:ext cx="6696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4</a:t>
            </a:r>
            <a:r>
              <a:rPr lang="zh-CN" altLang="en-US" b="1" dirty="0">
                <a:solidFill>
                  <a:schemeClr val="bg1"/>
                </a:solidFill>
              </a:rPr>
              <a:t>、工具提示功能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958A9B6-D5FE-4538-8D30-3F8527F442FD}"/>
              </a:ext>
            </a:extLst>
          </p:cNvPr>
          <p:cNvSpPr txBox="1"/>
          <p:nvPr/>
        </p:nvSpPr>
        <p:spPr>
          <a:xfrm>
            <a:off x="971600" y="843558"/>
            <a:ext cx="77768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鼠标指向哪里就像显示注释那样</a:t>
            </a:r>
            <a:r>
              <a:rPr lang="zh-CN" alt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显示筛选的内容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。例如：饼图，字段设置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工具提示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使用工具提示功能的优点：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）节省页面空间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）保持页面整洁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）满足不同用户的需求，如：领导现场问你数据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AF7694-36BB-41F6-8878-25DE6A843675}"/>
              </a:ext>
            </a:extLst>
          </p:cNvPr>
          <p:cNvSpPr txBox="1"/>
          <p:nvPr/>
        </p:nvSpPr>
        <p:spPr>
          <a:xfrm>
            <a:off x="323528" y="2515925"/>
            <a:ext cx="6696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5</a:t>
            </a:r>
            <a:r>
              <a:rPr lang="zh-CN" altLang="en-US" b="1" dirty="0">
                <a:solidFill>
                  <a:schemeClr val="bg1"/>
                </a:solidFill>
              </a:rPr>
              <a:t>、跨页钻取交互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DBF457-1258-45E7-9AE4-894DD717678A}"/>
              </a:ext>
            </a:extLst>
          </p:cNvPr>
          <p:cNvSpPr txBox="1"/>
          <p:nvPr/>
        </p:nvSpPr>
        <p:spPr>
          <a:xfrm>
            <a:off x="973907" y="3075806"/>
            <a:ext cx="3886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新建页，矩阵（字段城市，值销售金额）。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73BCAB6-2E62-451C-B501-F60FBA56D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3075806"/>
            <a:ext cx="1276350" cy="28575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096CC82-308D-41D3-9F0E-1FA9C678FD64}"/>
              </a:ext>
            </a:extLst>
          </p:cNvPr>
          <p:cNvSpPr txBox="1"/>
          <p:nvPr/>
        </p:nvSpPr>
        <p:spPr>
          <a:xfrm>
            <a:off x="6280398" y="3053779"/>
            <a:ext cx="10812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放入城市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18095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2CE952D-A86A-4EE2-955F-997872BAE53B}"/>
              </a:ext>
            </a:extLst>
          </p:cNvPr>
          <p:cNvSpPr txBox="1"/>
          <p:nvPr/>
        </p:nvSpPr>
        <p:spPr>
          <a:xfrm>
            <a:off x="395536" y="339502"/>
            <a:ext cx="6696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6</a:t>
            </a:r>
            <a:r>
              <a:rPr lang="zh-CN" altLang="en-US" b="1" dirty="0">
                <a:solidFill>
                  <a:schemeClr val="bg1"/>
                </a:solidFill>
              </a:rPr>
              <a:t>、</a:t>
            </a:r>
            <a:r>
              <a:rPr lang="en-US" altLang="zh-CN" b="1" dirty="0">
                <a:solidFill>
                  <a:schemeClr val="bg1"/>
                </a:solidFill>
              </a:rPr>
              <a:t>Power BI</a:t>
            </a:r>
            <a:r>
              <a:rPr lang="zh-CN" altLang="en-US" b="1" dirty="0">
                <a:solidFill>
                  <a:schemeClr val="bg1"/>
                </a:solidFill>
              </a:rPr>
              <a:t>中的小爱同学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F374582-E6F9-44F1-A267-5342F9A18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248" y="1563029"/>
            <a:ext cx="1080120" cy="1822703"/>
          </a:xfrm>
          <a:prstGeom prst="rect">
            <a:avLst/>
          </a:prstGeom>
        </p:spPr>
      </p:pic>
      <p:sp>
        <p:nvSpPr>
          <p:cNvPr id="6" name="心形 5">
            <a:extLst>
              <a:ext uri="{FF2B5EF4-FFF2-40B4-BE49-F238E27FC236}">
                <a16:creationId xmlns:a16="http://schemas.microsoft.com/office/drawing/2014/main" id="{42592C8F-0ACC-487E-9FFC-A03E119369F3}"/>
              </a:ext>
            </a:extLst>
          </p:cNvPr>
          <p:cNvSpPr/>
          <p:nvPr/>
        </p:nvSpPr>
        <p:spPr>
          <a:xfrm>
            <a:off x="3563888" y="1512918"/>
            <a:ext cx="2016224" cy="1922928"/>
          </a:xfrm>
          <a:prstGeom prst="heart">
            <a:avLst/>
          </a:prstGeom>
          <a:solidFill>
            <a:srgbClr val="FF0000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F1FBCAF-1EB4-4160-9A94-3B9917F2D9D7}"/>
              </a:ext>
            </a:extLst>
          </p:cNvPr>
          <p:cNvSpPr txBox="1"/>
          <p:nvPr/>
        </p:nvSpPr>
        <p:spPr>
          <a:xfrm>
            <a:off x="398382" y="2058883"/>
            <a:ext cx="2736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</a:rPr>
              <a:t>新建一页</a:t>
            </a:r>
          </a:p>
        </p:txBody>
      </p:sp>
    </p:spTree>
    <p:extLst>
      <p:ext uri="{BB962C8B-B14F-4D97-AF65-F5344CB8AC3E}">
        <p14:creationId xmlns:p14="http://schemas.microsoft.com/office/powerpoint/2010/main" val="3317539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7D8DD90-F712-4286-B207-0FDF4BC1ADEA}"/>
              </a:ext>
            </a:extLst>
          </p:cNvPr>
          <p:cNvSpPr txBox="1"/>
          <p:nvPr/>
        </p:nvSpPr>
        <p:spPr>
          <a:xfrm>
            <a:off x="395536" y="339502"/>
            <a:ext cx="6696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7</a:t>
            </a:r>
            <a:r>
              <a:rPr lang="zh-CN" altLang="en-US" b="1" dirty="0">
                <a:solidFill>
                  <a:schemeClr val="bg1"/>
                </a:solidFill>
              </a:rPr>
              <a:t>、建立关系中注意事项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DEB5C9-04DC-4AFB-9CF4-ACB2D361FF66}"/>
              </a:ext>
            </a:extLst>
          </p:cNvPr>
          <p:cNvSpPr txBox="1"/>
          <p:nvPr/>
        </p:nvSpPr>
        <p:spPr>
          <a:xfrm>
            <a:off x="971600" y="843558"/>
            <a:ext cx="77768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）建模连线：按住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Ctrl+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鼠标滚轮可以放大缩小。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）模型关系多图布局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【</a:t>
            </a:r>
            <a:r>
              <a:rPr lang="zh-CN" alt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非专业分析师很少用到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】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，应对复杂模型设计的，模型表超过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张后，关系线错综复杂，对编辑和查看造成障碍。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C21CD9-51C6-4FDD-A789-18D38A5F2FFD}"/>
              </a:ext>
            </a:extLst>
          </p:cNvPr>
          <p:cNvSpPr txBox="1"/>
          <p:nvPr/>
        </p:nvSpPr>
        <p:spPr>
          <a:xfrm>
            <a:off x="395536" y="1932389"/>
            <a:ext cx="6696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8</a:t>
            </a:r>
            <a:r>
              <a:rPr lang="zh-CN" altLang="en-US" b="1" dirty="0">
                <a:solidFill>
                  <a:schemeClr val="bg1"/>
                </a:solidFill>
              </a:rPr>
              <a:t>、度量值归类</a:t>
            </a:r>
            <a:endParaRPr lang="en-US" altLang="zh-CN" b="1" dirty="0">
              <a:solidFill>
                <a:schemeClr val="bg1"/>
              </a:solidFill>
            </a:endParaRPr>
          </a:p>
          <a:p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753242-707B-49DC-9013-094CDDA890A0}"/>
              </a:ext>
            </a:extLst>
          </p:cNvPr>
          <p:cNvSpPr txBox="1"/>
          <p:nvPr/>
        </p:nvSpPr>
        <p:spPr>
          <a:xfrm>
            <a:off x="989534" y="2391729"/>
            <a:ext cx="7776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模型视图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下：同是选中多个度量值，按住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Ctrl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可以一个一个选，按住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shift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可以连续选择，输入文件夹名。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056A0B-F9B0-40BE-9D70-DAAA7B13CDA6}"/>
              </a:ext>
            </a:extLst>
          </p:cNvPr>
          <p:cNvSpPr txBox="1"/>
          <p:nvPr/>
        </p:nvSpPr>
        <p:spPr>
          <a:xfrm>
            <a:off x="377602" y="2862682"/>
            <a:ext cx="6696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9</a:t>
            </a:r>
            <a:r>
              <a:rPr lang="zh-CN" altLang="en-US" b="1" dirty="0">
                <a:solidFill>
                  <a:schemeClr val="bg1"/>
                </a:solidFill>
              </a:rPr>
              <a:t>、批量修改字段、度量值属性（例如百分比</a:t>
            </a:r>
            <a:r>
              <a:rPr lang="en-US" altLang="zh-CN" b="1" dirty="0">
                <a:solidFill>
                  <a:schemeClr val="bg1"/>
                </a:solidFill>
              </a:rPr>
              <a:t>%</a:t>
            </a:r>
            <a:r>
              <a:rPr lang="zh-CN" altLang="en-US" b="1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0E03C9F-D47A-4628-A949-55A9822C28EC}"/>
              </a:ext>
            </a:extLst>
          </p:cNvPr>
          <p:cNvSpPr txBox="1"/>
          <p:nvPr/>
        </p:nvSpPr>
        <p:spPr>
          <a:xfrm>
            <a:off x="899592" y="3346013"/>
            <a:ext cx="4752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模型视图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下：选一个或多个度量值，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【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格式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】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内选择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009C81E-1991-4CF5-AD42-3A61E4E5A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28" y="2831380"/>
            <a:ext cx="1600200" cy="10287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DEC15A9-EB12-4AEC-8B14-72368DA5DD0F}"/>
              </a:ext>
            </a:extLst>
          </p:cNvPr>
          <p:cNvSpPr txBox="1"/>
          <p:nvPr/>
        </p:nvSpPr>
        <p:spPr>
          <a:xfrm>
            <a:off x="377602" y="3675414"/>
            <a:ext cx="6696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10</a:t>
            </a:r>
            <a:r>
              <a:rPr lang="zh-CN" altLang="en-US" b="1" dirty="0">
                <a:solidFill>
                  <a:schemeClr val="bg1"/>
                </a:solidFill>
              </a:rPr>
              <a:t>、字段排序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14DA1DC-42B9-42CE-A14D-631417B13DC6}"/>
              </a:ext>
            </a:extLst>
          </p:cNvPr>
          <p:cNvSpPr txBox="1"/>
          <p:nvPr/>
        </p:nvSpPr>
        <p:spPr>
          <a:xfrm>
            <a:off x="1115616" y="4169608"/>
            <a:ext cx="3096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模型视图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下：选字段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属性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高级</a:t>
            </a: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EB12298-C0A2-47EF-8187-D51A39BC2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60" y="3860735"/>
            <a:ext cx="533400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3764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无&quot;,&quot;HeaderHeight&quot;:0.0,&quot;FooterHeight&quot;:0.0,&quot;SideMargin&quot;:0.0,&quot;TopMargin&quot;:0.0,&quot;BottomMargin&quot;:0.0,&quot;IntervalMargin&quot;:0.0,&quot;SettingType&quot;:&quot;System&quot;}"/>
</p:tagLst>
</file>

<file path=ppt/theme/theme1.xml><?xml version="1.0" encoding="utf-8"?>
<a:theme xmlns:a="http://schemas.openxmlformats.org/drawingml/2006/main" name="Office Theme">
  <a:themeElements>
    <a:clrScheme name="x2m0mzta">
      <a:dk1>
        <a:srgbClr val="000000"/>
      </a:dk1>
      <a:lt1>
        <a:srgbClr val="FFFFFF"/>
      </a:lt1>
      <a:dk2>
        <a:srgbClr val="FAB220"/>
      </a:dk2>
      <a:lt2>
        <a:srgbClr val="FA7901"/>
      </a:lt2>
      <a:accent1>
        <a:srgbClr val="CB2332"/>
      </a:accent1>
      <a:accent2>
        <a:srgbClr val="A6325B"/>
      </a:accent2>
      <a:accent3>
        <a:srgbClr val="0B4366"/>
      </a:accent3>
      <a:accent4>
        <a:srgbClr val="21A0D3"/>
      </a:accent4>
      <a:accent5>
        <a:srgbClr val="3CC5D1"/>
      </a:accent5>
      <a:accent6>
        <a:srgbClr val="4CC9A9"/>
      </a:accent6>
      <a:hlink>
        <a:srgbClr val="3B424C"/>
      </a:hlink>
      <a:folHlink>
        <a:srgbClr val="1C171E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cap="rnd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ctr">
          <a:defRPr sz="4800" b="1" dirty="0" smtClean="0">
            <a:solidFill>
              <a:schemeClr val="bg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6210</TotalTime>
  <Words>329</Words>
  <Application>Microsoft Office PowerPoint</Application>
  <PresentationFormat>全屏显示(16:9)</PresentationFormat>
  <Paragraphs>33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pptmall.net</dc:title>
  <dc:creator>pptmall.net</dc:creator>
  <cp:lastModifiedBy>孙艺航</cp:lastModifiedBy>
  <cp:revision>1143</cp:revision>
  <dcterms:created xsi:type="dcterms:W3CDTF">2014-02-28T09:23:05Z</dcterms:created>
  <dcterms:modified xsi:type="dcterms:W3CDTF">2020-03-14T12:31:03Z</dcterms:modified>
</cp:coreProperties>
</file>