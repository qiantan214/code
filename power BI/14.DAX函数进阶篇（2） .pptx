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77" r:id="rId2"/>
    <p:sldId id="378" r:id="rId3"/>
    <p:sldId id="379" r:id="rId4"/>
    <p:sldId id="380" r:id="rId5"/>
    <p:sldId id="382" r:id="rId6"/>
    <p:sldId id="381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0" r:id="rId15"/>
  </p:sldIdLst>
  <p:sldSz cx="9144000" cy="5143500" type="screen16x9"/>
  <p:notesSz cx="6858000" cy="9144000"/>
  <p:custDataLst>
    <p:tags r:id="rId18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8F4"/>
    <a:srgbClr val="C5C5C5"/>
    <a:srgbClr val="19283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1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32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D84F98-C6CD-4B70-B307-68845F238EF8}"/>
              </a:ext>
            </a:extLst>
          </p:cNvPr>
          <p:cNvSpPr txBox="1"/>
          <p:nvPr/>
        </p:nvSpPr>
        <p:spPr>
          <a:xfrm>
            <a:off x="323528" y="411510"/>
            <a:ext cx="6696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Intelligence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函数：时间智能函数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（它就是我们的时光机）</a:t>
            </a:r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3E1C9B-8DB5-4706-A3C0-6C4D0B79DFF8}"/>
              </a:ext>
            </a:extLst>
          </p:cNvPr>
          <p:cNvSpPr txBox="1"/>
          <p:nvPr/>
        </p:nvSpPr>
        <p:spPr>
          <a:xfrm>
            <a:off x="251520" y="2068821"/>
            <a:ext cx="8784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我们经常会做分析：与去年同期，与上周或上月的环比，截止某一天今年的任务完成了多少。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B502D9-EDAE-45E4-A8E2-C0FF10AA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1033859"/>
            <a:ext cx="6991350" cy="7715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B96D06D-5044-4A4E-A183-ABDA87CB08CA}"/>
              </a:ext>
            </a:extLst>
          </p:cNvPr>
          <p:cNvSpPr txBox="1"/>
          <p:nvPr/>
        </p:nvSpPr>
        <p:spPr>
          <a:xfrm>
            <a:off x="290355" y="2564788"/>
            <a:ext cx="8784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需求：选择了我想要的时间段或时间点，就可以调取那部分数据。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457200"/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这个时候要用到时间智能函数，在使用前，我们要准备一张日历表。日历表有两种，一种是标准的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365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天或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366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天的日历表。另一种是定制表，为什么要准备定制表，不同国家不同企业有不同需求时要使用定制表，我们最常用的定制表情况是，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月和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月对比，一个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天另一个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28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天或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天，这样对比出来的数据公平吗？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216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9074E22-1099-424D-9E1F-F798106C4311}"/>
              </a:ext>
            </a:extLst>
          </p:cNvPr>
          <p:cNvSpPr txBox="1"/>
          <p:nvPr/>
        </p:nvSpPr>
        <p:spPr>
          <a:xfrm>
            <a:off x="683568" y="339502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在</a:t>
            </a:r>
            <a:r>
              <a:rPr lang="en-US" altLang="zh-CN" b="1" dirty="0">
                <a:solidFill>
                  <a:schemeClr val="bg1"/>
                </a:solidFill>
              </a:rPr>
              <a:t>Power BI</a:t>
            </a:r>
            <a:r>
              <a:rPr lang="zh-CN" altLang="en-US" b="1" dirty="0">
                <a:solidFill>
                  <a:schemeClr val="bg1"/>
                </a:solidFill>
              </a:rPr>
              <a:t>其础篇（中）：生成日期表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EE0033-8DF8-4C68-812A-B568DE332674}"/>
              </a:ext>
            </a:extLst>
          </p:cNvPr>
          <p:cNvSpPr txBox="1"/>
          <p:nvPr/>
        </p:nvSpPr>
        <p:spPr>
          <a:xfrm>
            <a:off x="899592" y="843558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        如果数据模型中没有日期表，</a:t>
            </a:r>
            <a:r>
              <a:rPr lang="zh-CN" altLang="en-US" b="1" dirty="0">
                <a:solidFill>
                  <a:srgbClr val="FF0000"/>
                </a:solidFill>
              </a:rPr>
              <a:t>不用去找</a:t>
            </a:r>
            <a:r>
              <a:rPr lang="zh-CN" altLang="en-US" b="1" dirty="0">
                <a:solidFill>
                  <a:schemeClr val="bg1"/>
                </a:solidFill>
              </a:rPr>
              <a:t>一个日期表导入进来，可以直接输入以下代码生成日期表。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8C371A-4632-46F9-8D8E-580343D61751}"/>
              </a:ext>
            </a:extLst>
          </p:cNvPr>
          <p:cNvSpPr txBox="1"/>
          <p:nvPr/>
        </p:nvSpPr>
        <p:spPr>
          <a:xfrm>
            <a:off x="899592" y="1851670"/>
            <a:ext cx="78488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 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ADDCOLUMNS (</a:t>
            </a:r>
          </a:p>
          <a:p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CALENDAR (DATE(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2019,1,1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), DATE(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2019,12,31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)),</a:t>
            </a:r>
          </a:p>
          <a:p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年度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YEAR ( [Date] ),</a:t>
            </a:r>
          </a:p>
          <a:p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月份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FORMAT ( [Date], "MM" ),</a:t>
            </a:r>
          </a:p>
          <a:p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年月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FORMAT ( [Date], "YYYY/MM" ),</a:t>
            </a:r>
          </a:p>
          <a:p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星期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WEEKDAY ( [Date] ) &amp; "-" &amp; FORMAT ( [Date], "</a:t>
            </a:r>
            <a:r>
              <a:rPr lang="en-US" altLang="zh-CN" sz="1600" b="1" dirty="0" err="1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ddd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),</a:t>
            </a:r>
          </a:p>
          <a:p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季度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"Q" &amp; FORMAT ( [Date], "Q" ),</a:t>
            </a:r>
          </a:p>
          <a:p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年份季度</a:t>
            </a:r>
            <a:r>
              <a:rPr lang="en-US" altLang="zh-CN" sz="1600" b="1" dirty="0">
                <a:solidFill>
                  <a:srgbClr val="FEFE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FORMAT ( [Date], "YYYY" ) &amp; "/Q" &amp; FORMAT ( [Date], "Q" ))</a:t>
            </a:r>
          </a:p>
          <a:p>
            <a:pPr algn="ctr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3C5D5B-1003-47A8-BAEA-E1542DCB99A9}"/>
              </a:ext>
            </a:extLst>
          </p:cNvPr>
          <p:cNvSpPr txBox="1"/>
          <p:nvPr/>
        </p:nvSpPr>
        <p:spPr>
          <a:xfrm>
            <a:off x="1037951" y="4098439"/>
            <a:ext cx="7268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</a:rPr>
              <a:t>第一行利用</a:t>
            </a:r>
            <a:r>
              <a:rPr lang="en-US" altLang="zh-CN" sz="1200" b="1" dirty="0">
                <a:solidFill>
                  <a:srgbClr val="FFFF00"/>
                </a:solidFill>
              </a:rPr>
              <a:t>CALENDAR</a:t>
            </a:r>
            <a:r>
              <a:rPr lang="zh-CN" altLang="en-US" sz="1200" b="1" dirty="0">
                <a:solidFill>
                  <a:srgbClr val="FFFF00"/>
                </a:solidFill>
              </a:rPr>
              <a:t>函数设置日期表的起止日期，然后就是利用</a:t>
            </a:r>
            <a:r>
              <a:rPr lang="en-US" altLang="zh-CN" sz="1200" b="1" dirty="0">
                <a:solidFill>
                  <a:srgbClr val="FFFF00"/>
                </a:solidFill>
              </a:rPr>
              <a:t>FORMAT</a:t>
            </a:r>
            <a:r>
              <a:rPr lang="zh-CN" altLang="en-US" sz="1200" b="1" dirty="0">
                <a:solidFill>
                  <a:srgbClr val="FFFF00"/>
                </a:solidFill>
              </a:rPr>
              <a:t>函数对每一列进行格式设置</a:t>
            </a:r>
          </a:p>
        </p:txBody>
      </p:sp>
    </p:spTree>
    <p:extLst>
      <p:ext uri="{BB962C8B-B14F-4D97-AF65-F5344CB8AC3E}">
        <p14:creationId xmlns:p14="http://schemas.microsoft.com/office/powerpoint/2010/main" val="135827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3F90193-A5B6-491C-8354-A79D6D5FB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" y="123478"/>
            <a:ext cx="9144000" cy="260580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D693303-D6DB-464F-83C6-DAB7130A403D}"/>
              </a:ext>
            </a:extLst>
          </p:cNvPr>
          <p:cNvSpPr txBox="1"/>
          <p:nvPr/>
        </p:nvSpPr>
        <p:spPr>
          <a:xfrm>
            <a:off x="-78376" y="2729281"/>
            <a:ext cx="9175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FF00"/>
                </a:solidFill>
              </a:rPr>
              <a:t>CALENDAR</a:t>
            </a:r>
            <a:r>
              <a:rPr lang="zh-CN" altLang="en-US" sz="1200" b="1" dirty="0">
                <a:solidFill>
                  <a:srgbClr val="FFFF00"/>
                </a:solidFill>
              </a:rPr>
              <a:t>函数设置日期表的起止日期，可以自由输入日期，还可以把这两个日期替换成</a:t>
            </a:r>
            <a:r>
              <a:rPr lang="en-US" altLang="zh-CN" sz="1200" b="1" dirty="0" err="1">
                <a:solidFill>
                  <a:srgbClr val="FF0000"/>
                </a:solidFill>
              </a:rPr>
              <a:t>Firstdate</a:t>
            </a:r>
            <a:r>
              <a:rPr lang="en-US" altLang="zh-CN" sz="1200" b="1" dirty="0">
                <a:solidFill>
                  <a:srgbClr val="FF0000"/>
                </a:solidFill>
              </a:rPr>
              <a:t>(</a:t>
            </a:r>
            <a:r>
              <a:rPr lang="en-US" altLang="zh-CN" sz="1200" b="1" dirty="0">
                <a:solidFill>
                  <a:srgbClr val="00B0F0"/>
                </a:solidFill>
              </a:rPr>
              <a:t>‘</a:t>
            </a:r>
            <a:r>
              <a:rPr lang="zh-CN" altLang="en-US" sz="1200" b="1" dirty="0">
                <a:solidFill>
                  <a:srgbClr val="00B0F0"/>
                </a:solidFill>
              </a:rPr>
              <a:t>销售表</a:t>
            </a:r>
            <a:r>
              <a:rPr lang="en-US" altLang="zh-CN" sz="1200" b="1" dirty="0">
                <a:solidFill>
                  <a:srgbClr val="00B0F0"/>
                </a:solidFill>
              </a:rPr>
              <a:t>’[</a:t>
            </a:r>
            <a:r>
              <a:rPr lang="zh-CN" altLang="en-US" sz="1200" b="1" dirty="0">
                <a:solidFill>
                  <a:srgbClr val="00B0F0"/>
                </a:solidFill>
              </a:rPr>
              <a:t>日期</a:t>
            </a:r>
            <a:r>
              <a:rPr lang="en-US" altLang="zh-CN" sz="1200" b="1" dirty="0">
                <a:solidFill>
                  <a:srgbClr val="00B0F0"/>
                </a:solidFill>
              </a:rPr>
              <a:t>]</a:t>
            </a:r>
            <a:r>
              <a:rPr lang="zh-CN" altLang="en-US" sz="1200" b="1" dirty="0">
                <a:solidFill>
                  <a:srgbClr val="FF0000"/>
                </a:solidFill>
              </a:rPr>
              <a:t>）</a:t>
            </a:r>
            <a:r>
              <a:rPr lang="zh-CN" altLang="en-US" sz="1200" b="1" dirty="0">
                <a:solidFill>
                  <a:srgbClr val="FFFF00"/>
                </a:solidFill>
              </a:rPr>
              <a:t>和</a:t>
            </a:r>
            <a:endParaRPr lang="en-US" altLang="zh-CN" sz="1200" b="1" dirty="0">
              <a:solidFill>
                <a:srgbClr val="FFFF00"/>
              </a:solidFill>
            </a:endParaRPr>
          </a:p>
          <a:p>
            <a:r>
              <a:rPr lang="en-US" altLang="zh-CN" sz="1200" b="1" dirty="0" err="1">
                <a:solidFill>
                  <a:srgbClr val="FF0000"/>
                </a:solidFill>
              </a:rPr>
              <a:t>Lastdat</a:t>
            </a:r>
            <a:r>
              <a:rPr lang="en-US" altLang="zh-CN" sz="1200" b="1" dirty="0">
                <a:solidFill>
                  <a:srgbClr val="FF0000"/>
                </a:solidFill>
              </a:rPr>
              <a:t> (</a:t>
            </a:r>
            <a:r>
              <a:rPr lang="en-US" altLang="zh-CN" sz="1200" b="1" dirty="0">
                <a:solidFill>
                  <a:srgbClr val="00B0F0"/>
                </a:solidFill>
              </a:rPr>
              <a:t>‘</a:t>
            </a:r>
            <a:r>
              <a:rPr lang="zh-CN" altLang="en-US" sz="1200" b="1" dirty="0">
                <a:solidFill>
                  <a:srgbClr val="00B0F0"/>
                </a:solidFill>
              </a:rPr>
              <a:t>销售表</a:t>
            </a:r>
            <a:r>
              <a:rPr lang="en-US" altLang="zh-CN" sz="1200" b="1" dirty="0">
                <a:solidFill>
                  <a:srgbClr val="00B0F0"/>
                </a:solidFill>
              </a:rPr>
              <a:t>’[</a:t>
            </a:r>
            <a:r>
              <a:rPr lang="zh-CN" altLang="en-US" sz="1200" b="1" dirty="0">
                <a:solidFill>
                  <a:srgbClr val="00B0F0"/>
                </a:solidFill>
              </a:rPr>
              <a:t>日期</a:t>
            </a:r>
            <a:r>
              <a:rPr lang="en-US" altLang="zh-CN" sz="1200" b="1" dirty="0">
                <a:solidFill>
                  <a:srgbClr val="00B0F0"/>
                </a:solidFill>
              </a:rPr>
              <a:t>]</a:t>
            </a:r>
            <a:r>
              <a:rPr lang="zh-CN" altLang="en-US" sz="1200" b="1" dirty="0">
                <a:solidFill>
                  <a:srgbClr val="FF0000"/>
                </a:solidFill>
              </a:rPr>
              <a:t>）</a:t>
            </a:r>
            <a:r>
              <a:rPr lang="en-US" altLang="zh-CN" sz="1200" b="1" dirty="0">
                <a:solidFill>
                  <a:srgbClr val="FF0000"/>
                </a:solidFill>
              </a:rPr>
              <a:t>,</a:t>
            </a:r>
            <a:r>
              <a:rPr lang="zh-CN" altLang="en-US" sz="1200" b="1" dirty="0">
                <a:solidFill>
                  <a:srgbClr val="FFFF00"/>
                </a:solidFill>
              </a:rPr>
              <a:t>可以得到订单日期的最早日期和最后日期，用这两个函数生成的日期永远跟随你数据日期变化而变化。</a:t>
            </a:r>
            <a:endParaRPr lang="en-US" altLang="zh-CN" sz="1200" b="1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C6ABCB-809B-4A9F-9418-0A6761B32C75}"/>
              </a:ext>
            </a:extLst>
          </p:cNvPr>
          <p:cNvSpPr txBox="1"/>
          <p:nvPr/>
        </p:nvSpPr>
        <p:spPr>
          <a:xfrm>
            <a:off x="107504" y="3363838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b="1" dirty="0">
                <a:solidFill>
                  <a:schemeClr val="bg1"/>
                </a:solidFill>
              </a:rPr>
              <a:t>ADDCOLUMNS</a:t>
            </a:r>
            <a:r>
              <a:rPr lang="zh-CN" altLang="en-US" b="1" dirty="0">
                <a:solidFill>
                  <a:schemeClr val="bg1"/>
                </a:solidFill>
              </a:rPr>
              <a:t>函数含义是在生成日期表基础上添加列，</a:t>
            </a:r>
            <a:r>
              <a:rPr lang="en-US" altLang="zh-CN" b="1" dirty="0">
                <a:solidFill>
                  <a:schemeClr val="bg1"/>
                </a:solidFill>
              </a:rPr>
              <a:t>Year</a:t>
            </a:r>
            <a:r>
              <a:rPr lang="zh-CN" altLang="en-US" b="1" dirty="0">
                <a:solidFill>
                  <a:schemeClr val="bg1"/>
                </a:solidFill>
              </a:rPr>
              <a:t>年，</a:t>
            </a:r>
            <a:r>
              <a:rPr lang="en-US" altLang="zh-CN" b="1" dirty="0">
                <a:solidFill>
                  <a:schemeClr val="bg1"/>
                </a:solidFill>
              </a:rPr>
              <a:t>Month</a:t>
            </a:r>
            <a:r>
              <a:rPr lang="zh-CN" altLang="en-US" b="1" dirty="0">
                <a:solidFill>
                  <a:schemeClr val="bg1"/>
                </a:solidFill>
              </a:rPr>
              <a:t>月，</a:t>
            </a:r>
            <a:r>
              <a:rPr lang="en-US" altLang="zh-CN" b="1" dirty="0" err="1">
                <a:solidFill>
                  <a:schemeClr val="bg1"/>
                </a:solidFill>
              </a:rPr>
              <a:t>Weeknum</a:t>
            </a:r>
            <a:r>
              <a:rPr lang="zh-CN" altLang="en-US" b="1" dirty="0">
                <a:solidFill>
                  <a:schemeClr val="bg1"/>
                </a:solidFill>
              </a:rPr>
              <a:t>周。</a:t>
            </a:r>
          </a:p>
        </p:txBody>
      </p:sp>
    </p:spTree>
    <p:extLst>
      <p:ext uri="{BB962C8B-B14F-4D97-AF65-F5344CB8AC3E}">
        <p14:creationId xmlns:p14="http://schemas.microsoft.com/office/powerpoint/2010/main" val="360457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74AA4FF-485C-4A54-8DAC-690533ABAD24}"/>
              </a:ext>
            </a:extLst>
          </p:cNvPr>
          <p:cNvSpPr txBox="1"/>
          <p:nvPr/>
        </p:nvSpPr>
        <p:spPr>
          <a:xfrm>
            <a:off x="539552" y="339502"/>
            <a:ext cx="777686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= ADDCOLUMNS( 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CALENDAR(date(2019,1,1),date(2019,12,31)),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YEAR ( [Date] ),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季度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ROUNDUP(MONTH([Date])/3,0),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MONTH([Date]),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周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</a:t>
            </a:r>
            <a:r>
              <a:rPr lang="en-US" altLang="zh-CN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weeknum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([Date]),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年季度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year([date]) &amp; "Q" &amp; ROUNDUP(MONTH([Date])/3,0),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年月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year([Date]) * 100 + MONTH([Date]),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年周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year([Date]) * 100 + </a:t>
            </a:r>
            <a:r>
              <a:rPr lang="en-US" altLang="zh-CN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weeknum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([Date]),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星期几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WEEKDAY([Date]) </a:t>
            </a:r>
          </a:p>
          <a:p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41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D65FF09-A7CB-490B-8329-0632F8128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0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93E26C7-3F50-4CA8-8B5A-220AD64DED41}"/>
              </a:ext>
            </a:extLst>
          </p:cNvPr>
          <p:cNvSpPr txBox="1"/>
          <p:nvPr/>
        </p:nvSpPr>
        <p:spPr>
          <a:xfrm>
            <a:off x="251520" y="220211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微软官网：时间智能函数</a:t>
            </a:r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https://docs.microsoft.com/zh-cn/dax/pre-defined-numeric-formats-for-the-format-function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9D27DC-D99E-4B45-A908-7000B82DC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8772"/>
            <a:ext cx="9144000" cy="409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50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9D87835-80A1-48D8-8FA3-20AA07A17033}"/>
              </a:ext>
            </a:extLst>
          </p:cNvPr>
          <p:cNvSpPr txBox="1"/>
          <p:nvPr/>
        </p:nvSpPr>
        <p:spPr>
          <a:xfrm>
            <a:off x="323528" y="411510"/>
            <a:ext cx="6696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时间段函数：一个时间区间，返回一张表。</a:t>
            </a:r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22A9EA-2D06-4BA3-ABB0-450DC5B44001}"/>
              </a:ext>
            </a:extLst>
          </p:cNvPr>
          <p:cNvSpPr txBox="1"/>
          <p:nvPr/>
        </p:nvSpPr>
        <p:spPr>
          <a:xfrm>
            <a:off x="683568" y="1059582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1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r>
              <a:rPr lang="en-US" altLang="zh-CN" sz="1400" b="1" dirty="0" err="1">
                <a:solidFill>
                  <a:schemeClr val="bg1"/>
                </a:solidFill>
              </a:rPr>
              <a:t>Datesytd</a:t>
            </a:r>
            <a:r>
              <a:rPr lang="zh-CN" altLang="en-US" sz="1400" b="1" dirty="0">
                <a:solidFill>
                  <a:schemeClr val="bg1"/>
                </a:solidFill>
              </a:rPr>
              <a:t>函数：本年至今累计，比如今天是</a:t>
            </a:r>
            <a:r>
              <a:rPr lang="en-US" altLang="zh-CN" sz="1400" b="1" dirty="0">
                <a:solidFill>
                  <a:schemeClr val="bg1"/>
                </a:solidFill>
              </a:rPr>
              <a:t>2020</a:t>
            </a:r>
            <a:r>
              <a:rPr lang="zh-CN" altLang="en-US" sz="1400" b="1" dirty="0">
                <a:solidFill>
                  <a:schemeClr val="bg1"/>
                </a:solidFill>
              </a:rPr>
              <a:t>年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月</a:t>
            </a:r>
            <a:r>
              <a:rPr lang="en-US" altLang="zh-CN" sz="1400" b="1" dirty="0">
                <a:solidFill>
                  <a:schemeClr val="bg1"/>
                </a:solidFill>
              </a:rPr>
              <a:t>10</a:t>
            </a:r>
            <a:r>
              <a:rPr lang="zh-CN" altLang="en-US" sz="1400" b="1" dirty="0">
                <a:solidFill>
                  <a:schemeClr val="bg1"/>
                </a:solidFill>
              </a:rPr>
              <a:t>日，</a:t>
            </a:r>
            <a:r>
              <a:rPr lang="en-US" altLang="zh-CN" sz="1400" b="1" dirty="0">
                <a:solidFill>
                  <a:schemeClr val="bg1"/>
                </a:solidFill>
              </a:rPr>
              <a:t> </a:t>
            </a:r>
            <a:r>
              <a:rPr lang="en-US" altLang="zh-CN" sz="1400" b="1" dirty="0" err="1">
                <a:solidFill>
                  <a:srgbClr val="FFC000"/>
                </a:solidFill>
              </a:rPr>
              <a:t>Datesytd</a:t>
            </a:r>
            <a:r>
              <a:rPr lang="en-US" altLang="zh-CN" sz="1400" b="1" dirty="0">
                <a:solidFill>
                  <a:srgbClr val="FFC000"/>
                </a:solidFill>
              </a:rPr>
              <a:t>(‘</a:t>
            </a:r>
            <a:r>
              <a:rPr lang="zh-CN" altLang="en-US" sz="1400" b="1" dirty="0">
                <a:solidFill>
                  <a:srgbClr val="FFC000"/>
                </a:solidFill>
              </a:rPr>
              <a:t>日历表</a:t>
            </a:r>
            <a:r>
              <a:rPr lang="en-US" altLang="zh-CN" sz="1400" b="1" dirty="0">
                <a:solidFill>
                  <a:srgbClr val="FFC000"/>
                </a:solidFill>
              </a:rPr>
              <a:t>’[</a:t>
            </a:r>
            <a:r>
              <a:rPr lang="zh-CN" altLang="en-US" sz="1400" b="1" dirty="0">
                <a:solidFill>
                  <a:srgbClr val="FFC000"/>
                </a:solidFill>
              </a:rPr>
              <a:t>日期</a:t>
            </a:r>
            <a:r>
              <a:rPr lang="en-US" altLang="zh-CN" sz="1400" b="1" dirty="0">
                <a:solidFill>
                  <a:srgbClr val="FFC000"/>
                </a:solidFill>
              </a:rPr>
              <a:t>])</a:t>
            </a:r>
            <a:r>
              <a:rPr lang="zh-CN" altLang="en-US" sz="1400" b="1" dirty="0">
                <a:solidFill>
                  <a:schemeClr val="bg1"/>
                </a:solidFill>
              </a:rPr>
              <a:t>返回的是这张表的日期是</a:t>
            </a:r>
            <a:r>
              <a:rPr lang="en-US" altLang="zh-CN" sz="1400" b="1" dirty="0">
                <a:solidFill>
                  <a:schemeClr val="bg1"/>
                </a:solidFill>
              </a:rPr>
              <a:t>2020</a:t>
            </a:r>
            <a:r>
              <a:rPr lang="zh-CN" altLang="en-US" sz="1400" b="1" dirty="0">
                <a:solidFill>
                  <a:schemeClr val="bg1"/>
                </a:solidFill>
              </a:rPr>
              <a:t>年</a:t>
            </a:r>
            <a:r>
              <a:rPr lang="en-US" altLang="zh-CN" sz="1400" b="1" dirty="0">
                <a:solidFill>
                  <a:schemeClr val="bg1"/>
                </a:solidFill>
              </a:rPr>
              <a:t>1</a:t>
            </a:r>
            <a:r>
              <a:rPr lang="zh-CN" altLang="en-US" sz="1400" b="1" dirty="0">
                <a:solidFill>
                  <a:schemeClr val="bg1"/>
                </a:solidFill>
              </a:rPr>
              <a:t>月</a:t>
            </a:r>
            <a:r>
              <a:rPr lang="en-US" altLang="zh-CN" sz="1400" b="1" dirty="0">
                <a:solidFill>
                  <a:schemeClr val="bg1"/>
                </a:solidFill>
              </a:rPr>
              <a:t>1</a:t>
            </a:r>
            <a:r>
              <a:rPr lang="zh-CN" altLang="en-US" sz="1400" b="1" dirty="0">
                <a:solidFill>
                  <a:schemeClr val="bg1"/>
                </a:solidFill>
              </a:rPr>
              <a:t>日至</a:t>
            </a:r>
            <a:r>
              <a:rPr lang="en-US" altLang="zh-CN" sz="1400" b="1" dirty="0">
                <a:solidFill>
                  <a:schemeClr val="bg1"/>
                </a:solidFill>
              </a:rPr>
              <a:t>2020</a:t>
            </a:r>
            <a:r>
              <a:rPr lang="zh-CN" altLang="en-US" sz="1400" b="1" dirty="0">
                <a:solidFill>
                  <a:schemeClr val="bg1"/>
                </a:solidFill>
              </a:rPr>
              <a:t>年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月</a:t>
            </a:r>
            <a:r>
              <a:rPr lang="en-US" altLang="zh-CN" sz="1400" b="1" dirty="0">
                <a:solidFill>
                  <a:schemeClr val="bg1"/>
                </a:solidFill>
              </a:rPr>
              <a:t>10</a:t>
            </a:r>
            <a:r>
              <a:rPr lang="zh-CN" altLang="en-US" sz="1400" b="1" dirty="0">
                <a:solidFill>
                  <a:schemeClr val="bg1"/>
                </a:solidFill>
              </a:rPr>
              <a:t>日。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en-US" altLang="zh-CN" sz="1400" b="1" dirty="0">
                <a:solidFill>
                  <a:schemeClr val="bg1"/>
                </a:solidFill>
              </a:rPr>
              <a:t>	</a:t>
            </a:r>
            <a:r>
              <a:rPr lang="en-US" altLang="zh-CN" sz="1400" b="1" dirty="0" err="1">
                <a:solidFill>
                  <a:schemeClr val="bg1"/>
                </a:solidFill>
              </a:rPr>
              <a:t>Dates</a:t>
            </a:r>
            <a:r>
              <a:rPr lang="en-US" altLang="zh-CN" sz="1400" b="1" dirty="0" err="1">
                <a:solidFill>
                  <a:srgbClr val="FFFF00"/>
                </a:solidFill>
              </a:rPr>
              <a:t>qtd</a:t>
            </a:r>
            <a:r>
              <a:rPr lang="zh-CN" altLang="en-US" sz="1400" b="1" dirty="0">
                <a:solidFill>
                  <a:schemeClr val="bg1"/>
                </a:solidFill>
              </a:rPr>
              <a:t>函数：本季度至今累计。 </a:t>
            </a:r>
            <a:r>
              <a:rPr lang="en-US" altLang="zh-CN" sz="1400" b="1" dirty="0" err="1">
                <a:solidFill>
                  <a:schemeClr val="bg1"/>
                </a:solidFill>
              </a:rPr>
              <a:t>Dates</a:t>
            </a:r>
            <a:r>
              <a:rPr lang="en-US" altLang="zh-CN" sz="1400" b="1" dirty="0" err="1">
                <a:solidFill>
                  <a:srgbClr val="FFFF00"/>
                </a:solidFill>
              </a:rPr>
              <a:t>mtd</a:t>
            </a:r>
            <a:r>
              <a:rPr lang="zh-CN" altLang="en-US" sz="1400" b="1" dirty="0">
                <a:solidFill>
                  <a:schemeClr val="bg1"/>
                </a:solidFill>
              </a:rPr>
              <a:t>函数：本月至今累计。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datesytd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DATESYTD('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2'[Date])</a:t>
            </a:r>
          </a:p>
          <a:p>
            <a:pPr algn="ctr"/>
            <a:r>
              <a:rPr lang="en-US" altLang="zh-CN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datesqtd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DATESQTD('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2'[Date])</a:t>
            </a:r>
          </a:p>
          <a:p>
            <a:pPr algn="ctr"/>
            <a:r>
              <a:rPr lang="en-US" altLang="zh-CN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datesmtd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DATESMTD('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2'[Date])</a:t>
            </a:r>
          </a:p>
          <a:p>
            <a:pPr algn="ctr"/>
            <a:endParaRPr lang="en-US" altLang="zh-CN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应用：</a:t>
            </a:r>
            <a:endParaRPr lang="en-US" altLang="zh-CN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月度累计销售额 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calculate([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销售额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 DATESMTD('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2'[Date])</a:t>
            </a:r>
          </a:p>
        </p:txBody>
      </p:sp>
    </p:spTree>
    <p:extLst>
      <p:ext uri="{BB962C8B-B14F-4D97-AF65-F5344CB8AC3E}">
        <p14:creationId xmlns:p14="http://schemas.microsoft.com/office/powerpoint/2010/main" val="406311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C9EE31A-6C4B-4DE1-893D-F5B50AF381F4}"/>
              </a:ext>
            </a:extLst>
          </p:cNvPr>
          <p:cNvSpPr txBox="1"/>
          <p:nvPr/>
        </p:nvSpPr>
        <p:spPr>
          <a:xfrm>
            <a:off x="611560" y="267494"/>
            <a:ext cx="828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r>
              <a:rPr lang="en-US" altLang="zh-CN" sz="1400" b="1" dirty="0" err="1">
                <a:solidFill>
                  <a:schemeClr val="bg1"/>
                </a:solidFill>
              </a:rPr>
              <a:t>Dateadd</a:t>
            </a:r>
            <a:r>
              <a:rPr lang="zh-CN" altLang="en-US" sz="1400" b="1" dirty="0">
                <a:solidFill>
                  <a:schemeClr val="bg1"/>
                </a:solidFill>
              </a:rPr>
              <a:t>函数：从当前上下文中的日期开始按指定的时间间隔向前或向后平移。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297C3E-3018-4AB8-9FEF-CF98DA7E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699542"/>
            <a:ext cx="3581400" cy="28194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1D8CE41-12E5-4E06-B680-A00A5A59E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699542"/>
            <a:ext cx="3571875" cy="27717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1C11835-681E-4F6F-93CE-237FC77F5C3F}"/>
              </a:ext>
            </a:extLst>
          </p:cNvPr>
          <p:cNvSpPr txBox="1"/>
          <p:nvPr/>
        </p:nvSpPr>
        <p:spPr>
          <a:xfrm>
            <a:off x="467544" y="3723878"/>
            <a:ext cx="7272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特别注意：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1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）日期必需是连续的（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）只能引用日期表，不能是销售表的日期列</a:t>
            </a:r>
            <a:endParaRPr lang="en-US" altLang="zh-CN" sz="1400" b="1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常见应用：去年同期销售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=calculate([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销售额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],</a:t>
            </a:r>
            <a:r>
              <a:rPr lang="en-US" altLang="zh-CN" sz="1400" b="1" dirty="0" err="1">
                <a:solidFill>
                  <a:schemeClr val="bg1"/>
                </a:solidFill>
                <a:sym typeface="Wingdings" panose="05000000000000000000" pitchFamily="2" charset="2"/>
              </a:rPr>
              <a:t>dateadd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(‘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日期表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’[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日期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],-1,year))</a:t>
            </a:r>
          </a:p>
          <a:p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	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上月环比销售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=calculate([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销售额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],</a:t>
            </a:r>
            <a:r>
              <a:rPr lang="en-US" altLang="zh-CN" sz="1400" b="1" dirty="0" err="1">
                <a:solidFill>
                  <a:schemeClr val="bg1"/>
                </a:solidFill>
                <a:sym typeface="Wingdings" panose="05000000000000000000" pitchFamily="2" charset="2"/>
              </a:rPr>
              <a:t>dateadd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(‘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日期表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’[</a:t>
            </a:r>
            <a:r>
              <a:rPr lang="zh-CN" alt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日期</a:t>
            </a:r>
            <a:r>
              <a:rPr lang="en-US" altLang="zh-CN" sz="1400" b="1" dirty="0">
                <a:solidFill>
                  <a:schemeClr val="bg1"/>
                </a:solidFill>
                <a:sym typeface="Wingdings" panose="05000000000000000000" pitchFamily="2" charset="2"/>
              </a:rPr>
              <a:t>],-1,month))</a:t>
            </a:r>
          </a:p>
        </p:txBody>
      </p:sp>
    </p:spTree>
    <p:extLst>
      <p:ext uri="{BB962C8B-B14F-4D97-AF65-F5344CB8AC3E}">
        <p14:creationId xmlns:p14="http://schemas.microsoft.com/office/powerpoint/2010/main" val="25177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B00EDA-0EA0-4045-8B90-1001F5F51BA2}"/>
              </a:ext>
            </a:extLst>
          </p:cNvPr>
          <p:cNvSpPr txBox="1"/>
          <p:nvPr/>
        </p:nvSpPr>
        <p:spPr>
          <a:xfrm>
            <a:off x="611560" y="267494"/>
            <a:ext cx="8280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r>
              <a:rPr lang="en-US" altLang="zh-CN" sz="1400" b="1" dirty="0">
                <a:solidFill>
                  <a:schemeClr val="bg1"/>
                </a:solidFill>
              </a:rPr>
              <a:t>SAMEPERIODLASTYEAR</a:t>
            </a:r>
            <a:r>
              <a:rPr lang="zh-CN" altLang="en-US" sz="1400" b="1" dirty="0">
                <a:solidFill>
                  <a:schemeClr val="bg1"/>
                </a:solidFill>
              </a:rPr>
              <a:t>函数：从当前上下文中指定日期列中的日期起返回一年的日期列。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chemeClr val="bg1"/>
                </a:solidFill>
              </a:rPr>
              <a:t>与</a:t>
            </a:r>
            <a:r>
              <a:rPr lang="en-US" altLang="zh-CN" sz="1400" b="1" dirty="0" err="1">
                <a:solidFill>
                  <a:schemeClr val="bg1"/>
                </a:solidFill>
              </a:rPr>
              <a:t>Dateadd</a:t>
            </a:r>
            <a:r>
              <a:rPr lang="en-US" altLang="zh-CN" sz="1400" b="1" dirty="0">
                <a:solidFill>
                  <a:schemeClr val="bg1"/>
                </a:solidFill>
              </a:rPr>
              <a:t>(‘</a:t>
            </a:r>
            <a:r>
              <a:rPr lang="zh-CN" altLang="en-US" sz="1400" b="1" dirty="0">
                <a:solidFill>
                  <a:schemeClr val="bg1"/>
                </a:solidFill>
              </a:rPr>
              <a:t>日期表’</a:t>
            </a:r>
            <a:r>
              <a:rPr lang="en-US" altLang="zh-CN" sz="1400" b="1" dirty="0">
                <a:solidFill>
                  <a:schemeClr val="bg1"/>
                </a:solidFill>
              </a:rPr>
              <a:t>[</a:t>
            </a:r>
            <a:r>
              <a:rPr lang="zh-CN" altLang="en-US" sz="1400" b="1" dirty="0">
                <a:solidFill>
                  <a:schemeClr val="bg1"/>
                </a:solidFill>
              </a:rPr>
              <a:t>日期</a:t>
            </a:r>
            <a:r>
              <a:rPr lang="en-US" altLang="zh-CN" sz="1400" b="1" dirty="0">
                <a:solidFill>
                  <a:schemeClr val="bg1"/>
                </a:solidFill>
              </a:rPr>
              <a:t>],-1,year)</a:t>
            </a:r>
            <a:r>
              <a:rPr lang="zh-CN" altLang="en-US" sz="1400" b="1" dirty="0">
                <a:solidFill>
                  <a:schemeClr val="bg1"/>
                </a:solidFill>
              </a:rPr>
              <a:t>功能一样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chemeClr val="bg1"/>
                </a:solidFill>
              </a:rPr>
              <a:t>应用：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rgbClr val="FFFF00"/>
                </a:solidFill>
              </a:rPr>
              <a:t>去年同期销售额</a:t>
            </a:r>
            <a:r>
              <a:rPr lang="en-US" altLang="zh-CN" sz="1400" b="1" dirty="0">
                <a:solidFill>
                  <a:srgbClr val="FFFF00"/>
                </a:solidFill>
              </a:rPr>
              <a:t>=calculate([</a:t>
            </a:r>
            <a:r>
              <a:rPr lang="zh-CN" altLang="en-US" sz="1400" b="1" dirty="0">
                <a:solidFill>
                  <a:srgbClr val="FFFF00"/>
                </a:solidFill>
              </a:rPr>
              <a:t>销售额</a:t>
            </a:r>
            <a:r>
              <a:rPr lang="en-US" altLang="zh-CN" sz="1400" b="1" dirty="0">
                <a:solidFill>
                  <a:srgbClr val="FFFF00"/>
                </a:solidFill>
              </a:rPr>
              <a:t>], SAMEPERIODLASTYEAR(‘</a:t>
            </a:r>
            <a:r>
              <a:rPr lang="zh-CN" altLang="en-US" sz="1400" b="1" dirty="0">
                <a:solidFill>
                  <a:srgbClr val="FFFF00"/>
                </a:solidFill>
              </a:rPr>
              <a:t>日期表</a:t>
            </a:r>
            <a:r>
              <a:rPr lang="en-US" altLang="zh-CN" sz="1400" b="1" dirty="0">
                <a:solidFill>
                  <a:srgbClr val="FFFF00"/>
                </a:solidFill>
              </a:rPr>
              <a:t>’[</a:t>
            </a:r>
            <a:r>
              <a:rPr lang="zh-CN" altLang="en-US" sz="1400" b="1" dirty="0">
                <a:solidFill>
                  <a:srgbClr val="FFFF00"/>
                </a:solidFill>
              </a:rPr>
              <a:t>日期</a:t>
            </a:r>
            <a:r>
              <a:rPr lang="en-US" altLang="zh-CN" sz="1400" b="1" dirty="0">
                <a:solidFill>
                  <a:srgbClr val="FFFF00"/>
                </a:solidFill>
              </a:rPr>
              <a:t>]))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686389-4739-4AB7-8DF6-BACAE0936306}"/>
              </a:ext>
            </a:extLst>
          </p:cNvPr>
          <p:cNvSpPr txBox="1"/>
          <p:nvPr/>
        </p:nvSpPr>
        <p:spPr>
          <a:xfrm>
            <a:off x="590219" y="2211710"/>
            <a:ext cx="8280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r>
              <a:rPr lang="en-US" altLang="zh-CN" sz="1400" b="1" dirty="0" err="1">
                <a:solidFill>
                  <a:schemeClr val="bg1"/>
                </a:solidFill>
              </a:rPr>
              <a:t>previous</a:t>
            </a:r>
            <a:r>
              <a:rPr lang="en-US" altLang="zh-CN" sz="1400" b="1" dirty="0" err="1">
                <a:solidFill>
                  <a:srgbClr val="FF0000"/>
                </a:solidFill>
              </a:rPr>
              <a:t>month</a:t>
            </a:r>
            <a:r>
              <a:rPr lang="en-US" altLang="zh-CN" sz="1400" b="1" dirty="0">
                <a:solidFill>
                  <a:schemeClr val="bg1"/>
                </a:solidFill>
              </a:rPr>
              <a:t>/</a:t>
            </a:r>
            <a:r>
              <a:rPr lang="en-US" altLang="zh-CN" sz="1400" b="1" dirty="0">
                <a:solidFill>
                  <a:srgbClr val="FF0000"/>
                </a:solidFill>
              </a:rPr>
              <a:t>year</a:t>
            </a:r>
            <a:r>
              <a:rPr lang="en-US" altLang="zh-CN" sz="1400" b="1" dirty="0">
                <a:solidFill>
                  <a:schemeClr val="bg1"/>
                </a:solidFill>
              </a:rPr>
              <a:t>/</a:t>
            </a:r>
            <a:r>
              <a:rPr lang="en-US" altLang="zh-CN" sz="1400" b="1" dirty="0">
                <a:solidFill>
                  <a:srgbClr val="FF0000"/>
                </a:solidFill>
              </a:rPr>
              <a:t>quarter</a:t>
            </a:r>
            <a:r>
              <a:rPr lang="en-US" altLang="zh-CN" sz="1400" b="1" dirty="0">
                <a:solidFill>
                  <a:schemeClr val="bg1"/>
                </a:solidFill>
              </a:rPr>
              <a:t>/</a:t>
            </a:r>
            <a:r>
              <a:rPr lang="en-US" altLang="zh-CN" sz="1400" b="1" dirty="0">
                <a:solidFill>
                  <a:srgbClr val="FF0000"/>
                </a:solidFill>
              </a:rPr>
              <a:t>day</a:t>
            </a:r>
            <a:r>
              <a:rPr lang="zh-CN" altLang="en-US" sz="1400" b="1" dirty="0">
                <a:solidFill>
                  <a:schemeClr val="bg1"/>
                </a:solidFill>
              </a:rPr>
              <a:t>函数：返回上一年全年的日期，例如</a:t>
            </a:r>
            <a:r>
              <a:rPr lang="en-US" altLang="zh-CN" sz="1400" b="1" dirty="0">
                <a:solidFill>
                  <a:schemeClr val="bg1"/>
                </a:solidFill>
              </a:rPr>
              <a:t>2019.1.1-12.31</a:t>
            </a:r>
          </a:p>
          <a:p>
            <a:r>
              <a:rPr lang="en-US" altLang="zh-CN" sz="1400" b="1" dirty="0">
                <a:solidFill>
                  <a:schemeClr val="bg1"/>
                </a:solidFill>
              </a:rPr>
              <a:t>         </a:t>
            </a:r>
            <a:r>
              <a:rPr lang="en-US" altLang="zh-CN" sz="1400" b="1" dirty="0" err="1">
                <a:solidFill>
                  <a:schemeClr val="bg1"/>
                </a:solidFill>
              </a:rPr>
              <a:t>next</a:t>
            </a:r>
            <a:r>
              <a:rPr lang="en-US" altLang="zh-CN" sz="1400" b="1" dirty="0" err="1">
                <a:solidFill>
                  <a:srgbClr val="FF0000"/>
                </a:solidFill>
              </a:rPr>
              <a:t>month</a:t>
            </a:r>
            <a:r>
              <a:rPr lang="en-US" altLang="zh-CN" sz="1400" b="1" dirty="0">
                <a:solidFill>
                  <a:schemeClr val="bg1"/>
                </a:solidFill>
              </a:rPr>
              <a:t>/</a:t>
            </a:r>
            <a:r>
              <a:rPr lang="en-US" altLang="zh-CN" sz="1400" b="1" dirty="0">
                <a:solidFill>
                  <a:srgbClr val="FF0000"/>
                </a:solidFill>
              </a:rPr>
              <a:t>day</a:t>
            </a:r>
            <a:r>
              <a:rPr lang="en-US" altLang="zh-CN" sz="1400" b="1" dirty="0">
                <a:solidFill>
                  <a:schemeClr val="bg1"/>
                </a:solidFill>
              </a:rPr>
              <a:t>/</a:t>
            </a:r>
            <a:r>
              <a:rPr lang="en-US" altLang="zh-CN" sz="1400" b="1" dirty="0">
                <a:solidFill>
                  <a:srgbClr val="FF0000"/>
                </a:solidFill>
              </a:rPr>
              <a:t> quarter</a:t>
            </a:r>
            <a:r>
              <a:rPr lang="en-US" altLang="zh-CN" sz="1400" b="1" dirty="0">
                <a:solidFill>
                  <a:schemeClr val="bg1"/>
                </a:solidFill>
              </a:rPr>
              <a:t>/</a:t>
            </a:r>
            <a:r>
              <a:rPr lang="en-US" altLang="zh-CN" sz="1400" b="1" dirty="0">
                <a:solidFill>
                  <a:srgbClr val="FF0000"/>
                </a:solidFill>
              </a:rPr>
              <a:t>year</a:t>
            </a:r>
            <a:r>
              <a:rPr lang="zh-CN" altLang="en-US" sz="1400" b="1" dirty="0">
                <a:solidFill>
                  <a:schemeClr val="bg1"/>
                </a:solidFill>
              </a:rPr>
              <a:t>函数：返回下一年全年日期，例如</a:t>
            </a:r>
            <a:r>
              <a:rPr lang="en-US" altLang="zh-CN" sz="1400" b="1" dirty="0">
                <a:solidFill>
                  <a:schemeClr val="bg1"/>
                </a:solidFill>
              </a:rPr>
              <a:t>2021.1.1-12.31</a:t>
            </a: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chemeClr val="bg1"/>
                </a:solidFill>
              </a:rPr>
              <a:t>作用：把时间定位到上一年一整年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rgbClr val="FFFF00"/>
                </a:solidFill>
              </a:rPr>
              <a:t>例如：销售数量是</a:t>
            </a:r>
            <a:r>
              <a:rPr lang="en-US" altLang="zh-CN" sz="1400" b="1" dirty="0">
                <a:solidFill>
                  <a:srgbClr val="FFFF00"/>
                </a:solidFill>
              </a:rPr>
              <a:t>2018.1.1-2019.12.31</a:t>
            </a:r>
          </a:p>
          <a:p>
            <a:r>
              <a:rPr lang="zh-CN" altLang="en-US" sz="1400" b="1" dirty="0">
                <a:solidFill>
                  <a:srgbClr val="FFFF00"/>
                </a:solidFill>
              </a:rPr>
              <a:t>去年销售额</a:t>
            </a:r>
            <a:r>
              <a:rPr lang="en-US" altLang="zh-CN" sz="1400" b="1" dirty="0">
                <a:solidFill>
                  <a:srgbClr val="FFFF00"/>
                </a:solidFill>
              </a:rPr>
              <a:t>=calculate([</a:t>
            </a:r>
            <a:r>
              <a:rPr lang="zh-CN" altLang="en-US" sz="1400" b="1" dirty="0">
                <a:solidFill>
                  <a:srgbClr val="FFFF00"/>
                </a:solidFill>
              </a:rPr>
              <a:t>销售额</a:t>
            </a:r>
            <a:r>
              <a:rPr lang="en-US" altLang="zh-CN" sz="1400" b="1" dirty="0">
                <a:solidFill>
                  <a:srgbClr val="FFFF00"/>
                </a:solidFill>
              </a:rPr>
              <a:t>],</a:t>
            </a:r>
            <a:r>
              <a:rPr lang="en-US" altLang="zh-CN" sz="1400" b="1" dirty="0">
                <a:solidFill>
                  <a:schemeClr val="bg1"/>
                </a:solidFill>
              </a:rPr>
              <a:t> </a:t>
            </a:r>
            <a:r>
              <a:rPr lang="en-US" altLang="zh-CN" sz="1400" b="1" dirty="0" err="1">
                <a:solidFill>
                  <a:schemeClr val="bg1"/>
                </a:solidFill>
              </a:rPr>
              <a:t>previous</a:t>
            </a:r>
            <a:r>
              <a:rPr lang="en-US" altLang="zh-CN" sz="1400" b="1" dirty="0" err="1">
                <a:solidFill>
                  <a:srgbClr val="FF0000"/>
                </a:solidFill>
              </a:rPr>
              <a:t>year</a:t>
            </a:r>
            <a:r>
              <a:rPr lang="en-US" altLang="zh-CN" sz="1400" b="1" dirty="0">
                <a:solidFill>
                  <a:schemeClr val="bg1"/>
                </a:solidFill>
              </a:rPr>
              <a:t>(</a:t>
            </a:r>
            <a:r>
              <a:rPr lang="zh-CN" altLang="en-US" sz="1400" b="1" dirty="0">
                <a:solidFill>
                  <a:srgbClr val="FFFF00"/>
                </a:solidFill>
              </a:rPr>
              <a:t>日期表</a:t>
            </a:r>
            <a:r>
              <a:rPr lang="en-US" altLang="zh-CN" sz="1400" b="1" dirty="0">
                <a:solidFill>
                  <a:srgbClr val="FFFF00"/>
                </a:solidFill>
              </a:rPr>
              <a:t>’[</a:t>
            </a:r>
            <a:r>
              <a:rPr lang="zh-CN" altLang="en-US" sz="1400" b="1" dirty="0">
                <a:solidFill>
                  <a:srgbClr val="FFFF00"/>
                </a:solidFill>
              </a:rPr>
              <a:t>日期</a:t>
            </a:r>
            <a:r>
              <a:rPr lang="en-US" altLang="zh-CN" sz="1400" b="1" dirty="0">
                <a:solidFill>
                  <a:srgbClr val="FFFF00"/>
                </a:solidFill>
              </a:rPr>
              <a:t>]</a:t>
            </a:r>
            <a:r>
              <a:rPr lang="en-US" altLang="zh-CN" sz="1400" b="1" dirty="0">
                <a:solidFill>
                  <a:schemeClr val="bg1"/>
                </a:solidFill>
              </a:rPr>
              <a:t>))</a:t>
            </a:r>
          </a:p>
          <a:p>
            <a:r>
              <a:rPr lang="zh-CN" altLang="en-US" sz="1400" b="1" dirty="0">
                <a:solidFill>
                  <a:schemeClr val="bg1"/>
                </a:solidFill>
              </a:rPr>
              <a:t>环比增长率</a:t>
            </a:r>
            <a:r>
              <a:rPr lang="en-US" altLang="zh-CN" sz="1400" b="1" dirty="0">
                <a:solidFill>
                  <a:schemeClr val="bg1"/>
                </a:solidFill>
              </a:rPr>
              <a:t>=divide((</a:t>
            </a:r>
            <a:r>
              <a:rPr lang="en-US" altLang="zh-CN" sz="1400" b="1" dirty="0">
                <a:solidFill>
                  <a:srgbClr val="FFC000"/>
                </a:solidFill>
              </a:rPr>
              <a:t>[</a:t>
            </a:r>
            <a:r>
              <a:rPr lang="zh-CN" altLang="en-US" sz="1400" b="1" dirty="0">
                <a:solidFill>
                  <a:srgbClr val="FFC000"/>
                </a:solidFill>
              </a:rPr>
              <a:t>销售额</a:t>
            </a:r>
            <a:r>
              <a:rPr lang="en-US" altLang="zh-CN" sz="1400" b="1" dirty="0">
                <a:solidFill>
                  <a:srgbClr val="FFC000"/>
                </a:solidFill>
              </a:rPr>
              <a:t>]-[</a:t>
            </a:r>
            <a:r>
              <a:rPr lang="zh-CN" altLang="en-US" sz="1400" b="1" dirty="0">
                <a:solidFill>
                  <a:srgbClr val="FFC000"/>
                </a:solidFill>
              </a:rPr>
              <a:t>去年销售额</a:t>
            </a:r>
            <a:r>
              <a:rPr lang="en-US" altLang="zh-CN" sz="1400" b="1" dirty="0">
                <a:solidFill>
                  <a:srgbClr val="FFC000"/>
                </a:solidFill>
              </a:rPr>
              <a:t>]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r>
              <a:rPr lang="en-US" altLang="zh-CN" sz="1400" b="1" dirty="0">
                <a:solidFill>
                  <a:schemeClr val="bg1"/>
                </a:solidFill>
              </a:rPr>
              <a:t>/[</a:t>
            </a:r>
            <a:r>
              <a:rPr lang="zh-CN" altLang="en-US" sz="1400" b="1" dirty="0">
                <a:solidFill>
                  <a:schemeClr val="bg1"/>
                </a:solidFill>
              </a:rPr>
              <a:t>去年销售额</a:t>
            </a:r>
            <a:r>
              <a:rPr lang="en-US" altLang="zh-CN" sz="1400" b="1" dirty="0">
                <a:solidFill>
                  <a:schemeClr val="bg1"/>
                </a:solidFill>
              </a:rPr>
              <a:t>]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734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675345-99C9-44F3-975F-FDBF95327A07}"/>
              </a:ext>
            </a:extLst>
          </p:cNvPr>
          <p:cNvSpPr txBox="1"/>
          <p:nvPr/>
        </p:nvSpPr>
        <p:spPr>
          <a:xfrm>
            <a:off x="539552" y="267494"/>
            <a:ext cx="82809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r>
              <a:rPr lang="en-US" altLang="zh-CN" sz="1400" b="1" dirty="0" err="1">
                <a:solidFill>
                  <a:schemeClr val="bg1"/>
                </a:solidFill>
              </a:rPr>
              <a:t>Parallelperion</a:t>
            </a:r>
            <a:r>
              <a:rPr lang="zh-CN" altLang="en-US" sz="1400" b="1" dirty="0">
                <a:solidFill>
                  <a:schemeClr val="bg1"/>
                </a:solidFill>
              </a:rPr>
              <a:t>函数：返回一个表其中包含一个日期列，该日期表示与当前上下文中指定日期列中的日期并行的时间段，其中日期在时间中向前或向后移动。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en-US" altLang="zh-CN" sz="1400" b="1" dirty="0">
                <a:solidFill>
                  <a:schemeClr val="bg1"/>
                </a:solidFill>
              </a:rPr>
              <a:t>	</a:t>
            </a:r>
            <a:r>
              <a:rPr lang="zh-CN" altLang="en-US" sz="1400" b="1" dirty="0">
                <a:solidFill>
                  <a:schemeClr val="bg1"/>
                </a:solidFill>
              </a:rPr>
              <a:t>语法：</a:t>
            </a:r>
            <a:r>
              <a:rPr lang="en-US" altLang="zh-CN" sz="1400" b="1" dirty="0">
                <a:solidFill>
                  <a:schemeClr val="bg1"/>
                </a:solidFill>
              </a:rPr>
              <a:t> </a:t>
            </a:r>
            <a:r>
              <a:rPr lang="en-US" altLang="zh-CN" sz="1400" b="1" dirty="0" err="1">
                <a:solidFill>
                  <a:schemeClr val="bg1"/>
                </a:solidFill>
              </a:rPr>
              <a:t>Parallelperion</a:t>
            </a:r>
            <a:r>
              <a:rPr lang="zh-CN" altLang="en-US" sz="1400" b="1" dirty="0">
                <a:solidFill>
                  <a:schemeClr val="bg1"/>
                </a:solidFill>
              </a:rPr>
              <a:t>（引用日期列，间隔数量，间隔类型）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rgbClr val="FF0000"/>
                </a:solidFill>
              </a:rPr>
              <a:t>与</a:t>
            </a:r>
            <a:r>
              <a:rPr lang="en-US" altLang="zh-CN" sz="1400" b="1" dirty="0" err="1">
                <a:solidFill>
                  <a:srgbClr val="FF0000"/>
                </a:solidFill>
              </a:rPr>
              <a:t>dateadd</a:t>
            </a:r>
            <a:r>
              <a:rPr lang="zh-CN" altLang="en-US" sz="1400" b="1" dirty="0">
                <a:solidFill>
                  <a:srgbClr val="FF0000"/>
                </a:solidFill>
              </a:rPr>
              <a:t>的区别</a:t>
            </a:r>
            <a:r>
              <a:rPr lang="zh-CN" altLang="en-US" sz="1400" b="1" dirty="0">
                <a:solidFill>
                  <a:schemeClr val="bg1"/>
                </a:solidFill>
              </a:rPr>
              <a:t>：以上月为例，</a:t>
            </a:r>
            <a:r>
              <a:rPr lang="en-US" altLang="zh-CN" sz="1400" b="1" dirty="0" err="1">
                <a:solidFill>
                  <a:schemeClr val="bg1"/>
                </a:solidFill>
              </a:rPr>
              <a:t>dateadd</a:t>
            </a:r>
            <a:r>
              <a:rPr lang="zh-CN" altLang="en-US" sz="1400" b="1" dirty="0">
                <a:solidFill>
                  <a:schemeClr val="bg1"/>
                </a:solidFill>
              </a:rPr>
              <a:t>返回是上月同期，而</a:t>
            </a:r>
            <a:r>
              <a:rPr lang="en-US" altLang="zh-CN" sz="1400" b="1" dirty="0" err="1">
                <a:solidFill>
                  <a:schemeClr val="bg1"/>
                </a:solidFill>
              </a:rPr>
              <a:t>Parallelperion</a:t>
            </a:r>
            <a:r>
              <a:rPr lang="zh-CN" altLang="en-US" sz="1400" b="1" dirty="0">
                <a:solidFill>
                  <a:schemeClr val="bg1"/>
                </a:solidFill>
              </a:rPr>
              <a:t>返回是上月整月数值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rgbClr val="FFFF00"/>
                </a:solidFill>
              </a:rPr>
              <a:t>应用：</a:t>
            </a:r>
            <a:endParaRPr lang="en-US" altLang="zh-CN" sz="1400" b="1" dirty="0">
              <a:solidFill>
                <a:srgbClr val="FFFF00"/>
              </a:solidFill>
            </a:endParaRPr>
          </a:p>
          <a:p>
            <a:endParaRPr lang="en-US" altLang="zh-CN" sz="1400" b="1" dirty="0">
              <a:solidFill>
                <a:srgbClr val="FFFF00"/>
              </a:solidFill>
            </a:endParaRPr>
          </a:p>
          <a:p>
            <a:r>
              <a:rPr lang="en-US" altLang="zh-CN" sz="1400" b="1" dirty="0">
                <a:solidFill>
                  <a:srgbClr val="FFFF00"/>
                </a:solidFill>
              </a:rPr>
              <a:t>        </a:t>
            </a:r>
            <a:r>
              <a:rPr lang="zh-CN" altLang="en-US" sz="1400" b="1" dirty="0">
                <a:solidFill>
                  <a:srgbClr val="FFFF00"/>
                </a:solidFill>
              </a:rPr>
              <a:t>上月销售额</a:t>
            </a:r>
            <a:r>
              <a:rPr lang="en-US" altLang="zh-CN" sz="1400" b="1" dirty="0">
                <a:solidFill>
                  <a:srgbClr val="FFFF00"/>
                </a:solidFill>
              </a:rPr>
              <a:t>=calculate([</a:t>
            </a:r>
            <a:r>
              <a:rPr lang="zh-CN" altLang="en-US" sz="1400" b="1" dirty="0">
                <a:solidFill>
                  <a:srgbClr val="FFFF00"/>
                </a:solidFill>
              </a:rPr>
              <a:t>销售额</a:t>
            </a:r>
            <a:r>
              <a:rPr lang="en-US" altLang="zh-CN" sz="1400" b="1" dirty="0">
                <a:solidFill>
                  <a:srgbClr val="FFFF00"/>
                </a:solidFill>
              </a:rPr>
              <a:t>]</a:t>
            </a:r>
            <a:r>
              <a:rPr lang="zh-CN" altLang="en-US" sz="1400" b="1" dirty="0">
                <a:solidFill>
                  <a:srgbClr val="FFFF00"/>
                </a:solidFill>
              </a:rPr>
              <a:t>，</a:t>
            </a:r>
            <a:r>
              <a:rPr lang="en-US" altLang="zh-CN" sz="1400" b="1" dirty="0">
                <a:solidFill>
                  <a:schemeClr val="bg1"/>
                </a:solidFill>
              </a:rPr>
              <a:t> </a:t>
            </a:r>
            <a:r>
              <a:rPr lang="en-US" altLang="zh-CN" sz="1400" b="1" dirty="0" err="1">
                <a:solidFill>
                  <a:srgbClr val="FFFF00"/>
                </a:solidFill>
              </a:rPr>
              <a:t>Parallelperion</a:t>
            </a:r>
            <a:r>
              <a:rPr lang="zh-CN" altLang="en-US" sz="1400" b="1" dirty="0">
                <a:solidFill>
                  <a:srgbClr val="FFFF00"/>
                </a:solidFill>
              </a:rPr>
              <a:t>（</a:t>
            </a:r>
            <a:r>
              <a:rPr lang="en-US" altLang="zh-CN" sz="1400" b="1" dirty="0">
                <a:solidFill>
                  <a:srgbClr val="FFFF00"/>
                </a:solidFill>
              </a:rPr>
              <a:t>’</a:t>
            </a:r>
            <a:r>
              <a:rPr lang="zh-CN" altLang="en-US" sz="1400" b="1" dirty="0">
                <a:solidFill>
                  <a:srgbClr val="FFFF00"/>
                </a:solidFill>
              </a:rPr>
              <a:t>日期表</a:t>
            </a:r>
            <a:r>
              <a:rPr lang="en-US" altLang="zh-CN" sz="1400" b="1" dirty="0">
                <a:solidFill>
                  <a:srgbClr val="FFFF00"/>
                </a:solidFill>
              </a:rPr>
              <a:t>’[</a:t>
            </a:r>
            <a:r>
              <a:rPr lang="zh-CN" altLang="en-US" sz="1400" b="1" dirty="0">
                <a:solidFill>
                  <a:srgbClr val="FFFF00"/>
                </a:solidFill>
              </a:rPr>
              <a:t>日期</a:t>
            </a:r>
            <a:r>
              <a:rPr lang="en-US" altLang="zh-CN" sz="1400" b="1" dirty="0">
                <a:solidFill>
                  <a:srgbClr val="FFFF00"/>
                </a:solidFill>
              </a:rPr>
              <a:t>],-1,month))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3D5C10-9C39-4981-BE5F-841BA7FBF665}"/>
              </a:ext>
            </a:extLst>
          </p:cNvPr>
          <p:cNvSpPr txBox="1"/>
          <p:nvPr/>
        </p:nvSpPr>
        <p:spPr>
          <a:xfrm>
            <a:off x="539552" y="2511437"/>
            <a:ext cx="85689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4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r>
              <a:rPr lang="en-US" altLang="zh-CN" sz="1400" b="1" dirty="0" err="1">
                <a:solidFill>
                  <a:schemeClr val="bg1"/>
                </a:solidFill>
              </a:rPr>
              <a:t>datesbetween</a:t>
            </a:r>
            <a:r>
              <a:rPr lang="zh-CN" altLang="en-US" sz="1400" b="1" dirty="0">
                <a:solidFill>
                  <a:schemeClr val="bg1"/>
                </a:solidFill>
              </a:rPr>
              <a:t>函数：指定开始日期和结束日期之间的时间段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en-US" altLang="zh-CN" sz="1400" b="1" dirty="0" err="1">
                <a:solidFill>
                  <a:srgbClr val="FFFF00"/>
                </a:solidFill>
              </a:rPr>
              <a:t>Datesbetween</a:t>
            </a:r>
            <a:r>
              <a:rPr lang="en-US" altLang="zh-CN" sz="1400" b="1" dirty="0">
                <a:solidFill>
                  <a:srgbClr val="FFFF00"/>
                </a:solidFill>
              </a:rPr>
              <a:t>(‘</a:t>
            </a:r>
            <a:r>
              <a:rPr lang="zh-CN" altLang="en-US" sz="1400" b="1" dirty="0">
                <a:solidFill>
                  <a:srgbClr val="FFFF00"/>
                </a:solidFill>
              </a:rPr>
              <a:t>日期表</a:t>
            </a:r>
            <a:r>
              <a:rPr lang="en-US" altLang="zh-CN" sz="1400" b="1" dirty="0">
                <a:solidFill>
                  <a:srgbClr val="FFFF00"/>
                </a:solidFill>
              </a:rPr>
              <a:t>’[</a:t>
            </a:r>
            <a:r>
              <a:rPr lang="zh-CN" altLang="en-US" sz="1400" b="1" dirty="0">
                <a:solidFill>
                  <a:srgbClr val="FFFF00"/>
                </a:solidFill>
              </a:rPr>
              <a:t>日期</a:t>
            </a:r>
            <a:r>
              <a:rPr lang="en-US" altLang="zh-CN" sz="1400" b="1" dirty="0">
                <a:solidFill>
                  <a:srgbClr val="FFFF00"/>
                </a:solidFill>
              </a:rPr>
              <a:t>],”2018-8-8”,max(‘</a:t>
            </a:r>
            <a:r>
              <a:rPr lang="zh-CN" altLang="en-US" sz="1400" b="1" dirty="0">
                <a:solidFill>
                  <a:srgbClr val="FFFF00"/>
                </a:solidFill>
              </a:rPr>
              <a:t>日期表</a:t>
            </a:r>
            <a:r>
              <a:rPr lang="en-US" altLang="zh-CN" sz="1400" b="1" dirty="0">
                <a:solidFill>
                  <a:srgbClr val="FFFF00"/>
                </a:solidFill>
              </a:rPr>
              <a:t>’[</a:t>
            </a:r>
            <a:r>
              <a:rPr lang="zh-CN" altLang="en-US" sz="1400" b="1" dirty="0">
                <a:solidFill>
                  <a:srgbClr val="FFFF00"/>
                </a:solidFill>
              </a:rPr>
              <a:t>日期</a:t>
            </a:r>
            <a:r>
              <a:rPr lang="en-US" altLang="zh-CN" sz="1400" b="1" dirty="0">
                <a:solidFill>
                  <a:srgbClr val="FFFF00"/>
                </a:solidFill>
              </a:rPr>
              <a:t>])) </a:t>
            </a:r>
            <a:r>
              <a:rPr lang="zh-CN" altLang="en-US" sz="1400" b="1" dirty="0">
                <a:solidFill>
                  <a:schemeClr val="bg1"/>
                </a:solidFill>
              </a:rPr>
              <a:t>返回</a:t>
            </a:r>
            <a:r>
              <a:rPr lang="en-US" altLang="zh-CN" sz="1400" b="1" dirty="0">
                <a:solidFill>
                  <a:schemeClr val="bg1"/>
                </a:solidFill>
              </a:rPr>
              <a:t>2018.8.8-2019.12.31</a:t>
            </a: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chemeClr val="bg1"/>
                </a:solidFill>
              </a:rPr>
              <a:t>应用：求指定日期段的销售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665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4240ABD-A711-4E71-9A6E-56DE6BFAA5D4}"/>
              </a:ext>
            </a:extLst>
          </p:cNvPr>
          <p:cNvSpPr txBox="1"/>
          <p:nvPr/>
        </p:nvSpPr>
        <p:spPr>
          <a:xfrm>
            <a:off x="395536" y="339502"/>
            <a:ext cx="85689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4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r>
              <a:rPr lang="en-US" altLang="zh-CN" sz="1400" b="1" dirty="0" err="1">
                <a:solidFill>
                  <a:schemeClr val="bg1"/>
                </a:solidFill>
              </a:rPr>
              <a:t>datesinperiod</a:t>
            </a:r>
            <a:r>
              <a:rPr lang="zh-CN" altLang="en-US" sz="1400" b="1" dirty="0">
                <a:solidFill>
                  <a:schemeClr val="bg1"/>
                </a:solidFill>
              </a:rPr>
              <a:t>函数：指定开始日期</a:t>
            </a:r>
            <a:r>
              <a:rPr lang="en-US" altLang="zh-CN" sz="1400" b="1" dirty="0">
                <a:solidFill>
                  <a:schemeClr val="bg1"/>
                </a:solidFill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</a:rPr>
              <a:t>向前或向后多少天、月、季度、年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en-US" altLang="zh-CN" sz="1400" b="1" dirty="0" err="1">
                <a:solidFill>
                  <a:schemeClr val="bg1"/>
                </a:solidFill>
              </a:rPr>
              <a:t>datesinperiod</a:t>
            </a:r>
            <a:r>
              <a:rPr lang="en-US" altLang="zh-CN" sz="1400" b="1" dirty="0">
                <a:solidFill>
                  <a:srgbClr val="FFFF00"/>
                </a:solidFill>
              </a:rPr>
              <a:t>(‘</a:t>
            </a:r>
            <a:r>
              <a:rPr lang="zh-CN" altLang="en-US" sz="1400" b="1" dirty="0">
                <a:solidFill>
                  <a:srgbClr val="FFFF00"/>
                </a:solidFill>
              </a:rPr>
              <a:t>日期表</a:t>
            </a:r>
            <a:r>
              <a:rPr lang="en-US" altLang="zh-CN" sz="1400" b="1" dirty="0">
                <a:solidFill>
                  <a:srgbClr val="FFFF00"/>
                </a:solidFill>
              </a:rPr>
              <a:t>’[</a:t>
            </a:r>
            <a:r>
              <a:rPr lang="zh-CN" altLang="en-US" sz="1400" b="1" dirty="0">
                <a:solidFill>
                  <a:srgbClr val="FFFF00"/>
                </a:solidFill>
              </a:rPr>
              <a:t>日期</a:t>
            </a:r>
            <a:r>
              <a:rPr lang="en-US" altLang="zh-CN" sz="1400" b="1" dirty="0">
                <a:solidFill>
                  <a:srgbClr val="FFFF00"/>
                </a:solidFill>
              </a:rPr>
              <a:t>],”2018-10-1”, 30</a:t>
            </a:r>
            <a:r>
              <a:rPr lang="zh-CN" altLang="en-US" sz="1400" b="1" dirty="0">
                <a:solidFill>
                  <a:srgbClr val="FFFF00"/>
                </a:solidFill>
              </a:rPr>
              <a:t>，</a:t>
            </a:r>
            <a:r>
              <a:rPr lang="en-US" altLang="zh-CN" sz="1400" b="1" dirty="0">
                <a:solidFill>
                  <a:srgbClr val="FFFF00"/>
                </a:solidFill>
              </a:rPr>
              <a:t>day)  </a:t>
            </a:r>
            <a:r>
              <a:rPr lang="zh-CN" altLang="en-US" sz="1400" b="1" dirty="0">
                <a:solidFill>
                  <a:schemeClr val="bg1"/>
                </a:solidFill>
              </a:rPr>
              <a:t>返回</a:t>
            </a:r>
            <a:r>
              <a:rPr lang="en-US" altLang="zh-CN" sz="1400" b="1" dirty="0">
                <a:solidFill>
                  <a:schemeClr val="bg1"/>
                </a:solidFill>
              </a:rPr>
              <a:t>2018.10.1-2019.10.30</a:t>
            </a: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zh-CN" altLang="en-US" sz="1400" b="1" dirty="0">
                <a:solidFill>
                  <a:schemeClr val="bg1"/>
                </a:solidFill>
              </a:rPr>
              <a:t>应用：求最近</a:t>
            </a:r>
            <a:r>
              <a:rPr lang="en-US" altLang="zh-CN" sz="1400" b="1" dirty="0">
                <a:solidFill>
                  <a:schemeClr val="bg1"/>
                </a:solidFill>
              </a:rPr>
              <a:t>30</a:t>
            </a:r>
            <a:r>
              <a:rPr lang="zh-CN" altLang="en-US" sz="1400" b="1" dirty="0">
                <a:solidFill>
                  <a:schemeClr val="bg1"/>
                </a:solidFill>
              </a:rPr>
              <a:t>天的移动平均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endParaRPr lang="en-US" altLang="zh-CN" sz="1400" b="1" dirty="0">
              <a:solidFill>
                <a:schemeClr val="bg1"/>
              </a:solidFill>
            </a:endParaRPr>
          </a:p>
          <a:p>
            <a:r>
              <a:rPr lang="en-US" altLang="zh-CN" sz="1400" b="1" dirty="0">
                <a:solidFill>
                  <a:schemeClr val="bg1"/>
                </a:solidFill>
              </a:rPr>
              <a:t>Calculate([</a:t>
            </a:r>
            <a:r>
              <a:rPr lang="zh-CN" altLang="en-US" sz="1400" b="1" dirty="0">
                <a:solidFill>
                  <a:schemeClr val="bg1"/>
                </a:solidFill>
              </a:rPr>
              <a:t>销售量</a:t>
            </a:r>
            <a:r>
              <a:rPr lang="en-US" altLang="zh-CN" sz="1400" b="1" dirty="0">
                <a:solidFill>
                  <a:schemeClr val="bg1"/>
                </a:solidFill>
              </a:rPr>
              <a:t>], </a:t>
            </a:r>
            <a:r>
              <a:rPr lang="en-US" altLang="zh-CN" sz="1400" b="1" dirty="0" err="1">
                <a:solidFill>
                  <a:schemeClr val="bg1"/>
                </a:solidFill>
              </a:rPr>
              <a:t>datesinperiod</a:t>
            </a:r>
            <a:r>
              <a:rPr lang="en-US" altLang="zh-CN" sz="1400" b="1" dirty="0">
                <a:solidFill>
                  <a:schemeClr val="bg1"/>
                </a:solidFill>
              </a:rPr>
              <a:t>(‘</a:t>
            </a:r>
            <a:r>
              <a:rPr lang="zh-CN" altLang="en-US" sz="1400" b="1" dirty="0">
                <a:solidFill>
                  <a:schemeClr val="bg1"/>
                </a:solidFill>
              </a:rPr>
              <a:t>日期表</a:t>
            </a:r>
            <a:r>
              <a:rPr lang="en-US" altLang="zh-CN" sz="1400" b="1" dirty="0">
                <a:solidFill>
                  <a:schemeClr val="bg1"/>
                </a:solidFill>
              </a:rPr>
              <a:t>’[</a:t>
            </a:r>
            <a:r>
              <a:rPr lang="zh-CN" altLang="en-US" sz="1400" b="1" dirty="0">
                <a:solidFill>
                  <a:schemeClr val="bg1"/>
                </a:solidFill>
              </a:rPr>
              <a:t>日期</a:t>
            </a:r>
            <a:r>
              <a:rPr lang="en-US" altLang="zh-CN" sz="1400" b="1" dirty="0">
                <a:solidFill>
                  <a:schemeClr val="bg1"/>
                </a:solidFill>
              </a:rPr>
              <a:t>]</a:t>
            </a:r>
            <a:r>
              <a:rPr lang="zh-CN" altLang="en-US" sz="1400" b="1" dirty="0">
                <a:solidFill>
                  <a:schemeClr val="bg1"/>
                </a:solidFill>
              </a:rPr>
              <a:t>，</a:t>
            </a:r>
            <a:r>
              <a:rPr lang="en-US" altLang="zh-CN" sz="1400" b="1" dirty="0">
                <a:solidFill>
                  <a:schemeClr val="bg1"/>
                </a:solidFill>
              </a:rPr>
              <a:t>max(‘</a:t>
            </a:r>
            <a:r>
              <a:rPr lang="zh-CN" altLang="en-US" sz="1400" b="1" dirty="0">
                <a:solidFill>
                  <a:schemeClr val="bg1"/>
                </a:solidFill>
              </a:rPr>
              <a:t>日期表</a:t>
            </a:r>
            <a:r>
              <a:rPr lang="en-US" altLang="zh-CN" sz="1400" b="1" dirty="0">
                <a:solidFill>
                  <a:schemeClr val="bg1"/>
                </a:solidFill>
              </a:rPr>
              <a:t>’[</a:t>
            </a:r>
            <a:r>
              <a:rPr lang="zh-CN" altLang="en-US" sz="1400" b="1" dirty="0">
                <a:solidFill>
                  <a:schemeClr val="bg1"/>
                </a:solidFill>
              </a:rPr>
              <a:t>日期</a:t>
            </a:r>
            <a:r>
              <a:rPr lang="en-US" altLang="zh-CN" sz="1400" b="1" dirty="0">
                <a:solidFill>
                  <a:schemeClr val="bg1"/>
                </a:solidFill>
              </a:rPr>
              <a:t>]),-30,day)/30</a:t>
            </a:r>
          </a:p>
        </p:txBody>
      </p:sp>
    </p:spTree>
    <p:extLst>
      <p:ext uri="{BB962C8B-B14F-4D97-AF65-F5344CB8AC3E}">
        <p14:creationId xmlns:p14="http://schemas.microsoft.com/office/powerpoint/2010/main" val="470405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1B9622-6515-467F-A37C-23BCB1D81497}"/>
              </a:ext>
            </a:extLst>
          </p:cNvPr>
          <p:cNvSpPr txBox="1"/>
          <p:nvPr/>
        </p:nvSpPr>
        <p:spPr>
          <a:xfrm>
            <a:off x="323528" y="411510"/>
            <a:ext cx="882047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时间点函数：用于指定某一个特定日期，它们返回的是一个有唯一值的表，这个值就某一个日期。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例如：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Firstdate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函数求最早日期，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Lastdate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函数求最晚日期。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Firstdate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’[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       </a:t>
            </a:r>
            <a:r>
              <a:rPr lang="en-US" altLang="zh-CN" sz="16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Lastdate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’[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      </a:t>
            </a:r>
          </a:p>
          <a:p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其实就是：</a:t>
            </a:r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’[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                max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’[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 </a:t>
            </a:r>
          </a:p>
          <a:p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结果一样，但是有区别，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Firstdate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函数和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Lastdate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函数可以直接引用表，但是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只能是字段。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Firstdate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ALL(’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’[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]))</a:t>
            </a:r>
          </a:p>
          <a:p>
            <a:r>
              <a:rPr lang="en-US" altLang="zh-CN" sz="16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Lastdate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ALL(’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日期表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’[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]))</a:t>
            </a:r>
          </a:p>
        </p:txBody>
      </p:sp>
    </p:spTree>
    <p:extLst>
      <p:ext uri="{BB962C8B-B14F-4D97-AF65-F5344CB8AC3E}">
        <p14:creationId xmlns:p14="http://schemas.microsoft.com/office/powerpoint/2010/main" val="3946323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5D2783-C427-4BA1-852C-037C8C8F2BD1}"/>
              </a:ext>
            </a:extLst>
          </p:cNvPr>
          <p:cNvSpPr txBox="1"/>
          <p:nvPr/>
        </p:nvSpPr>
        <p:spPr>
          <a:xfrm>
            <a:off x="323528" y="411510"/>
            <a:ext cx="88204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时间点函数：用于指定某一个特定日期，它们返回的是一个有唯一值的表，这个值就某一个日期。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Endof</a:t>
            </a:r>
            <a:r>
              <a:rPr lang="en-US" altLang="zh-CN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quanter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year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返回这个月最晚的一天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startof</a:t>
            </a:r>
            <a:r>
              <a:rPr lang="en-US" altLang="zh-CN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quanter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year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返回这个月最早的一天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CC716B-B876-4E0B-8060-848C720D5825}"/>
              </a:ext>
            </a:extLst>
          </p:cNvPr>
          <p:cNvSpPr txBox="1"/>
          <p:nvPr/>
        </p:nvSpPr>
        <p:spPr>
          <a:xfrm>
            <a:off x="251520" y="2283718"/>
            <a:ext cx="8820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总结：时间段和时间点函数配合使用可以得到想要得到的精准时间，注意：时间段和时间点函数返回的都是表，它们是不能单独使用的，所以我们经常配合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使用，把它们作为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的筛选条件。</a:t>
            </a:r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2634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45E7D47-8E5E-4515-BF3E-A3A408922411}"/>
              </a:ext>
            </a:extLst>
          </p:cNvPr>
          <p:cNvSpPr txBox="1"/>
          <p:nvPr/>
        </p:nvSpPr>
        <p:spPr>
          <a:xfrm>
            <a:off x="323528" y="411510"/>
            <a:ext cx="88204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计算类函数：返回的是值不是表，他们可以让公式变短，但是运算意义上没有差别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Totalmtd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ytd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/qtd  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从月初（年初、季初）至今的累计值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语法：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Totalmtd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（表达式或度量值，日期列，</a:t>
            </a:r>
            <a:r>
              <a:rPr lang="en-US" altLang="zh-CN" sz="16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【</a:t>
            </a:r>
            <a:r>
              <a:rPr lang="zh-CN" altLang="en-US" sz="16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筛选表达式</a:t>
            </a:r>
            <a:r>
              <a:rPr lang="en-US" altLang="zh-CN" sz="16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月度累计销售额 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totalmtd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([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，‘日期表’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日期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565560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6390</TotalTime>
  <Words>1425</Words>
  <Application>Microsoft Office PowerPoint</Application>
  <PresentationFormat>全屏显示(16:9)</PresentationFormat>
  <Paragraphs>108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1183</cp:revision>
  <dcterms:created xsi:type="dcterms:W3CDTF">2014-02-28T09:23:05Z</dcterms:created>
  <dcterms:modified xsi:type="dcterms:W3CDTF">2020-03-14T12:32:02Z</dcterms:modified>
</cp:coreProperties>
</file>