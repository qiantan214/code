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79" r:id="rId2"/>
    <p:sldId id="377" r:id="rId3"/>
    <p:sldId id="381" r:id="rId4"/>
    <p:sldId id="382" r:id="rId5"/>
    <p:sldId id="380" r:id="rId6"/>
    <p:sldId id="384" r:id="rId7"/>
    <p:sldId id="383" r:id="rId8"/>
    <p:sldId id="385" r:id="rId9"/>
    <p:sldId id="386" r:id="rId10"/>
    <p:sldId id="387" r:id="rId11"/>
  </p:sldIdLst>
  <p:sldSz cx="9144000" cy="5143500" type="screen16x9"/>
  <p:notesSz cx="6858000" cy="9144000"/>
  <p:custDataLst>
    <p:tags r:id="rId14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5511" userDrawn="1">
          <p15:clr>
            <a:srgbClr val="A4A3A4"/>
          </p15:clr>
        </p15:guide>
        <p15:guide id="7" pos="612" userDrawn="1">
          <p15:clr>
            <a:srgbClr val="A4A3A4"/>
          </p15:clr>
        </p15:guide>
        <p15:guide id="8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78F4"/>
    <a:srgbClr val="C5C5C5"/>
    <a:srgbClr val="192834"/>
    <a:srgbClr val="FBE9EC"/>
    <a:srgbClr val="FEE4F6"/>
    <a:srgbClr val="FEFEFE"/>
    <a:srgbClr val="D5DBDE"/>
    <a:srgbClr val="DDE5ED"/>
    <a:srgbClr val="C6D0D6"/>
    <a:srgbClr val="D6DF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11" autoAdjust="0"/>
    <p:restoredTop sz="95013" autoAdjust="0"/>
  </p:normalViewPr>
  <p:slideViewPr>
    <p:cSldViewPr>
      <p:cViewPr varScale="1">
        <p:scale>
          <a:sx n="150" d="100"/>
          <a:sy n="150" d="100"/>
        </p:scale>
        <p:origin x="432" y="120"/>
      </p:cViewPr>
      <p:guideLst>
        <p:guide pos="5511"/>
        <p:guide pos="612"/>
        <p:guide orient="horz" pos="1620"/>
      </p:guideLst>
    </p:cSldViewPr>
  </p:slideViewPr>
  <p:outlineViewPr>
    <p:cViewPr>
      <p:scale>
        <a:sx n="33" d="100"/>
        <a:sy n="33" d="100"/>
      </p:scale>
      <p:origin x="0" y="-440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36"/>
    </p:cViewPr>
  </p:sorterViewPr>
  <p:notesViewPr>
    <p:cSldViewPr showGuides="1">
      <p:cViewPr varScale="1">
        <p:scale>
          <a:sx n="120" d="100"/>
          <a:sy n="120" d="100"/>
        </p:scale>
        <p:origin x="383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C304B3-FA9F-49C1-859E-2458D1B84048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B05DBC-4E0E-43E3-A060-4938178F1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8614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4EB415-5FD7-4318-806E-930189874889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2A4CF9-9236-450D-BC13-91858061C6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472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色有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2332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ko-KR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57200" y="4803998"/>
            <a:ext cx="1217000" cy="246221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spcBef>
                <a:spcPct val="0"/>
              </a:spcBef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lvl="0"/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</a:rPr>
              <a:t>www.pptmall.net</a:t>
            </a:r>
            <a:endParaRPr lang="zh-CN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78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黑色有标题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124EB12D-71AA-4797-9E53-6CDD91A37DC7}"/>
              </a:ext>
            </a:extLst>
          </p:cNvPr>
          <p:cNvSpPr txBox="1"/>
          <p:nvPr userDrawn="1"/>
        </p:nvSpPr>
        <p:spPr>
          <a:xfrm>
            <a:off x="409220" y="4731990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C5C5C5"/>
                </a:solidFill>
              </a:rPr>
              <a:t>主讲：孙兴华</a:t>
            </a:r>
          </a:p>
        </p:txBody>
      </p:sp>
    </p:spTree>
    <p:extLst>
      <p:ext uri="{BB962C8B-B14F-4D97-AF65-F5344CB8AC3E}">
        <p14:creationId xmlns:p14="http://schemas.microsoft.com/office/powerpoint/2010/main" val="326619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762BF6-6E3F-433B-AB39-F4DEF76FD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87EF-A92C-4F47-B9B3-48D91E515FA5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4014B5B-56D1-4541-8470-F1DD30F29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BF0C11-692D-4D1E-B3C9-068673586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F675-5BB6-4475-9536-7FDBB6229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068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>
                <a:lumMod val="85000"/>
                <a:alpha val="60000"/>
              </a:schemeClr>
            </a:gs>
            <a:gs pos="0">
              <a:schemeClr val="bg1">
                <a:lumMod val="85000"/>
                <a:alpha val="60000"/>
              </a:schemeClr>
            </a:gs>
            <a:gs pos="50000">
              <a:schemeClr val="bg1"/>
            </a:gs>
            <a:gs pos="73000">
              <a:schemeClr val="bg1"/>
            </a:gs>
            <a:gs pos="26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5230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701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FE8F1C0-17A7-4425-8392-4C12DB4B3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771550"/>
            <a:ext cx="6953250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12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6DA0A6E-870A-4AC1-AE5A-B2D601091BE1}"/>
              </a:ext>
            </a:extLst>
          </p:cNvPr>
          <p:cNvSpPr txBox="1"/>
          <p:nvPr/>
        </p:nvSpPr>
        <p:spPr>
          <a:xfrm>
            <a:off x="0" y="462945"/>
            <a:ext cx="27363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</a:rPr>
              <a:t>Values</a:t>
            </a:r>
            <a:r>
              <a:rPr lang="zh-CN" altLang="en-US" sz="1600" b="1" dirty="0">
                <a:solidFill>
                  <a:schemeClr val="bg1"/>
                </a:solidFill>
              </a:rPr>
              <a:t>函数：不重复值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CC78965-E03E-455F-8DB1-CF6BCDCC596D}"/>
              </a:ext>
            </a:extLst>
          </p:cNvPr>
          <p:cNvSpPr txBox="1"/>
          <p:nvPr/>
        </p:nvSpPr>
        <p:spPr>
          <a:xfrm>
            <a:off x="611560" y="915566"/>
            <a:ext cx="71194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</a:rPr>
              <a:t>返回由一列构成的一个表，该表包含来自指定表或列的非重复值。</a:t>
            </a:r>
            <a:r>
              <a:rPr lang="zh-CN" altLang="en-US" sz="1200" b="1" dirty="0">
                <a:solidFill>
                  <a:srgbClr val="FFFF00"/>
                </a:solidFill>
              </a:rPr>
              <a:t>表中重复值将被删除，返回唯一值。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DB83BB5-F3CC-4AEE-B3B3-05104D224663}"/>
              </a:ext>
            </a:extLst>
          </p:cNvPr>
          <p:cNvSpPr txBox="1"/>
          <p:nvPr/>
        </p:nvSpPr>
        <p:spPr>
          <a:xfrm>
            <a:off x="611560" y="1491630"/>
            <a:ext cx="71194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Values</a:t>
            </a:r>
            <a:r>
              <a:rPr lang="zh-CN" altLang="en-US" sz="1200" b="1" dirty="0">
                <a:solidFill>
                  <a:schemeClr val="bg1"/>
                </a:solidFill>
              </a:rPr>
              <a:t>函数生成的表是一张虚拟表。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44509AD-7F47-4BA9-B82D-DF36A883615E}"/>
              </a:ext>
            </a:extLst>
          </p:cNvPr>
          <p:cNvSpPr txBox="1"/>
          <p:nvPr/>
        </p:nvSpPr>
        <p:spPr>
          <a:xfrm>
            <a:off x="611560" y="2051973"/>
            <a:ext cx="7776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</a:rPr>
              <a:t>在很多时候使用</a:t>
            </a:r>
            <a:r>
              <a:rPr lang="en-US" altLang="zh-CN" sz="1200" b="1" dirty="0">
                <a:solidFill>
                  <a:schemeClr val="bg1"/>
                </a:solidFill>
              </a:rPr>
              <a:t>Filter</a:t>
            </a:r>
            <a:r>
              <a:rPr lang="zh-CN" altLang="en-US" sz="1200" b="1" dirty="0">
                <a:solidFill>
                  <a:schemeClr val="bg1"/>
                </a:solidFill>
              </a:rPr>
              <a:t>、</a:t>
            </a:r>
            <a:r>
              <a:rPr lang="en-US" altLang="zh-CN" sz="1200" b="1" dirty="0">
                <a:solidFill>
                  <a:schemeClr val="bg1"/>
                </a:solidFill>
              </a:rPr>
              <a:t>Calculate</a:t>
            </a:r>
            <a:r>
              <a:rPr lang="zh-CN" altLang="en-US" sz="1200" b="1" dirty="0">
                <a:solidFill>
                  <a:schemeClr val="bg1"/>
                </a:solidFill>
              </a:rPr>
              <a:t>、</a:t>
            </a:r>
            <a:r>
              <a:rPr lang="en-US" altLang="zh-CN" sz="1200" b="1" dirty="0" err="1">
                <a:solidFill>
                  <a:schemeClr val="bg1"/>
                </a:solidFill>
              </a:rPr>
              <a:t>Countrows</a:t>
            </a:r>
            <a:r>
              <a:rPr lang="zh-CN" altLang="en-US" sz="1200" b="1" dirty="0">
                <a:solidFill>
                  <a:schemeClr val="bg1"/>
                </a:solidFill>
              </a:rPr>
              <a:t>、</a:t>
            </a:r>
            <a:r>
              <a:rPr lang="en-US" altLang="zh-CN" sz="1200" b="1" dirty="0" err="1">
                <a:solidFill>
                  <a:schemeClr val="bg1"/>
                </a:solidFill>
              </a:rPr>
              <a:t>SumX</a:t>
            </a:r>
            <a:r>
              <a:rPr lang="zh-CN" altLang="en-US" sz="1200" b="1" dirty="0">
                <a:solidFill>
                  <a:schemeClr val="bg1"/>
                </a:solidFill>
              </a:rPr>
              <a:t>、</a:t>
            </a:r>
            <a:r>
              <a:rPr lang="en-US" altLang="zh-CN" sz="1200" b="1" dirty="0" err="1">
                <a:solidFill>
                  <a:schemeClr val="bg1"/>
                </a:solidFill>
              </a:rPr>
              <a:t>TopN</a:t>
            </a:r>
            <a:r>
              <a:rPr lang="zh-CN" altLang="en-US" sz="1200" b="1" dirty="0">
                <a:solidFill>
                  <a:schemeClr val="bg1"/>
                </a:solidFill>
              </a:rPr>
              <a:t>这些函数，需要引用表而不能直接引用列。</a:t>
            </a:r>
            <a:r>
              <a:rPr lang="en-US" altLang="zh-CN" sz="1200" b="1" dirty="0">
                <a:solidFill>
                  <a:schemeClr val="bg1"/>
                </a:solidFill>
              </a:rPr>
              <a:t>Values</a:t>
            </a:r>
            <a:r>
              <a:rPr lang="zh-CN" altLang="en-US" sz="1200" b="1" dirty="0">
                <a:solidFill>
                  <a:schemeClr val="bg1"/>
                </a:solidFill>
              </a:rPr>
              <a:t>函数的功能是把列转化成包含列的表，这时只需要嵌套一个</a:t>
            </a:r>
            <a:r>
              <a:rPr lang="en-US" altLang="zh-CN" sz="1200" b="1" dirty="0">
                <a:solidFill>
                  <a:schemeClr val="bg1"/>
                </a:solidFill>
              </a:rPr>
              <a:t>Values</a:t>
            </a:r>
            <a:r>
              <a:rPr lang="zh-CN" altLang="en-US" sz="1200" b="1" dirty="0">
                <a:solidFill>
                  <a:schemeClr val="bg1"/>
                </a:solidFill>
              </a:rPr>
              <a:t>函数就可以引用了。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974A619-2D3E-4C28-910B-0C8D400EBFBF}"/>
              </a:ext>
            </a:extLst>
          </p:cNvPr>
          <p:cNvSpPr txBox="1"/>
          <p:nvPr/>
        </p:nvSpPr>
        <p:spPr>
          <a:xfrm>
            <a:off x="611560" y="2571750"/>
            <a:ext cx="7776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</a:rPr>
              <a:t>注意：这张表，是不重复的信息表！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EAF02EC-D493-48FB-A6FD-ADE5A0C7BCD1}"/>
              </a:ext>
            </a:extLst>
          </p:cNvPr>
          <p:cNvSpPr txBox="1"/>
          <p:nvPr/>
        </p:nvSpPr>
        <p:spPr>
          <a:xfrm>
            <a:off x="611560" y="3087296"/>
            <a:ext cx="7776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Filter</a:t>
            </a:r>
            <a:r>
              <a:rPr lang="zh-CN" altLang="en-US" sz="1200" b="1" dirty="0">
                <a:solidFill>
                  <a:schemeClr val="bg1"/>
                </a:solidFill>
              </a:rPr>
              <a:t>销售量 </a:t>
            </a:r>
            <a:r>
              <a:rPr lang="en-US" altLang="zh-CN" sz="1200" b="1" dirty="0">
                <a:solidFill>
                  <a:schemeClr val="bg1"/>
                </a:solidFill>
              </a:rPr>
              <a:t>= Calculate([</a:t>
            </a:r>
            <a:r>
              <a:rPr lang="zh-CN" altLang="en-US" sz="1200" b="1" dirty="0">
                <a:solidFill>
                  <a:schemeClr val="bg1"/>
                </a:solidFill>
              </a:rPr>
              <a:t>销售量</a:t>
            </a:r>
            <a:r>
              <a:rPr lang="en-US" altLang="zh-CN" sz="1200" b="1" dirty="0">
                <a:solidFill>
                  <a:schemeClr val="bg1"/>
                </a:solidFill>
              </a:rPr>
              <a:t>],Filter(‘</a:t>
            </a:r>
            <a:r>
              <a:rPr lang="zh-CN" altLang="en-US" sz="1200" b="1" dirty="0">
                <a:solidFill>
                  <a:schemeClr val="bg1"/>
                </a:solidFill>
              </a:rPr>
              <a:t>店铺表</a:t>
            </a:r>
            <a:r>
              <a:rPr lang="en-US" altLang="zh-CN" sz="1200" b="1" dirty="0">
                <a:solidFill>
                  <a:schemeClr val="bg1"/>
                </a:solidFill>
              </a:rPr>
              <a:t>’,[</a:t>
            </a:r>
            <a:r>
              <a:rPr lang="zh-CN" altLang="en-US" sz="1200" b="1" dirty="0">
                <a:solidFill>
                  <a:schemeClr val="bg1"/>
                </a:solidFill>
              </a:rPr>
              <a:t>销售量</a:t>
            </a:r>
            <a:r>
              <a:rPr lang="en-US" altLang="zh-CN" sz="1200" b="1" dirty="0">
                <a:solidFill>
                  <a:schemeClr val="bg1"/>
                </a:solidFill>
              </a:rPr>
              <a:t>]&gt;300))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8" name="箭头: 下 7">
            <a:extLst>
              <a:ext uri="{FF2B5EF4-FFF2-40B4-BE49-F238E27FC236}">
                <a16:creationId xmlns:a16="http://schemas.microsoft.com/office/drawing/2014/main" id="{C7F8149F-FC86-482D-B793-815138B9014C}"/>
              </a:ext>
            </a:extLst>
          </p:cNvPr>
          <p:cNvSpPr/>
          <p:nvPr/>
        </p:nvSpPr>
        <p:spPr>
          <a:xfrm>
            <a:off x="3955281" y="3373046"/>
            <a:ext cx="216024" cy="276999"/>
          </a:xfrm>
          <a:prstGeom prst="downArrow">
            <a:avLst/>
          </a:prstGeom>
          <a:solidFill>
            <a:srgbClr val="FF0000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F8E9629-3912-46D8-A2A4-92AA1FC0EC22}"/>
              </a:ext>
            </a:extLst>
          </p:cNvPr>
          <p:cNvSpPr txBox="1"/>
          <p:nvPr/>
        </p:nvSpPr>
        <p:spPr>
          <a:xfrm>
            <a:off x="2627784" y="3662527"/>
            <a:ext cx="3024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FFFF00"/>
                </a:solidFill>
              </a:rPr>
              <a:t>店铺表 </a:t>
            </a:r>
            <a:r>
              <a:rPr lang="en-US" altLang="zh-CN" sz="1200" b="1" dirty="0">
                <a:solidFill>
                  <a:srgbClr val="FFFF00"/>
                </a:solidFill>
              </a:rPr>
              <a:t>= Values(‘</a:t>
            </a:r>
            <a:r>
              <a:rPr lang="zh-CN" altLang="en-US" sz="1200" b="1" dirty="0">
                <a:solidFill>
                  <a:srgbClr val="FFFF00"/>
                </a:solidFill>
              </a:rPr>
              <a:t>销售数据表’</a:t>
            </a:r>
            <a:r>
              <a:rPr lang="en-US" altLang="zh-CN" sz="1200" b="1" dirty="0">
                <a:solidFill>
                  <a:srgbClr val="FFFF00"/>
                </a:solidFill>
              </a:rPr>
              <a:t>[</a:t>
            </a:r>
            <a:r>
              <a:rPr lang="zh-CN" altLang="en-US" sz="1200" b="1" dirty="0">
                <a:solidFill>
                  <a:srgbClr val="FFFF00"/>
                </a:solidFill>
              </a:rPr>
              <a:t>门店</a:t>
            </a:r>
            <a:r>
              <a:rPr lang="en-US" altLang="zh-CN" sz="1200" b="1" dirty="0">
                <a:solidFill>
                  <a:srgbClr val="FFFF00"/>
                </a:solidFill>
              </a:rPr>
              <a:t>])</a:t>
            </a:r>
            <a:endParaRPr lang="zh-CN" altLang="en-US" sz="1200" b="1" dirty="0">
              <a:solidFill>
                <a:srgbClr val="FFFF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2AD5CE1-7A6D-4E8A-A003-2F8690A1BA11}"/>
              </a:ext>
            </a:extLst>
          </p:cNvPr>
          <p:cNvSpPr txBox="1"/>
          <p:nvPr/>
        </p:nvSpPr>
        <p:spPr>
          <a:xfrm>
            <a:off x="540060" y="3664919"/>
            <a:ext cx="1656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00B050"/>
                </a:solidFill>
              </a:rPr>
              <a:t>生成一张虚拟表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C8B1C4C-50DF-40A5-98A4-229D1D014493}"/>
              </a:ext>
            </a:extLst>
          </p:cNvPr>
          <p:cNvSpPr txBox="1"/>
          <p:nvPr/>
        </p:nvSpPr>
        <p:spPr>
          <a:xfrm>
            <a:off x="625674" y="4146825"/>
            <a:ext cx="7776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</a:rPr>
              <a:t>经典语句： </a:t>
            </a:r>
            <a:r>
              <a:rPr lang="en-US" altLang="zh-CN" sz="1200" b="1" dirty="0">
                <a:solidFill>
                  <a:schemeClr val="bg1"/>
                </a:solidFill>
              </a:rPr>
              <a:t>Calculate([</a:t>
            </a:r>
            <a:r>
              <a:rPr lang="zh-CN" altLang="en-US" sz="1200" b="1" dirty="0">
                <a:solidFill>
                  <a:srgbClr val="FFFF00"/>
                </a:solidFill>
              </a:rPr>
              <a:t>度量值</a:t>
            </a:r>
            <a:r>
              <a:rPr lang="en-US" altLang="zh-CN" sz="1200" b="1" dirty="0">
                <a:solidFill>
                  <a:schemeClr val="bg1"/>
                </a:solidFill>
              </a:rPr>
              <a:t>],Filter(Values(</a:t>
            </a:r>
            <a:r>
              <a:rPr lang="en-US" altLang="zh-CN" sz="1200" b="1" dirty="0">
                <a:solidFill>
                  <a:srgbClr val="FFFF00"/>
                </a:solidFill>
              </a:rPr>
              <a:t>‘</a:t>
            </a:r>
            <a:r>
              <a:rPr lang="zh-CN" altLang="en-US" sz="1200" b="1" dirty="0">
                <a:solidFill>
                  <a:srgbClr val="FFFF00"/>
                </a:solidFill>
              </a:rPr>
              <a:t>表</a:t>
            </a:r>
            <a:r>
              <a:rPr lang="en-US" altLang="zh-CN" sz="1200" b="1" dirty="0">
                <a:solidFill>
                  <a:srgbClr val="FFFF00"/>
                </a:solidFill>
              </a:rPr>
              <a:t>’[</a:t>
            </a:r>
            <a:r>
              <a:rPr lang="zh-CN" altLang="en-US" sz="1200" b="1" dirty="0">
                <a:solidFill>
                  <a:srgbClr val="FFFF00"/>
                </a:solidFill>
              </a:rPr>
              <a:t>列名</a:t>
            </a:r>
            <a:r>
              <a:rPr lang="en-US" altLang="zh-CN" sz="1200" b="1" dirty="0">
                <a:solidFill>
                  <a:srgbClr val="FFFF00"/>
                </a:solidFill>
              </a:rPr>
              <a:t>]</a:t>
            </a:r>
            <a:r>
              <a:rPr lang="en-US" altLang="zh-CN" sz="1200" b="1" dirty="0">
                <a:solidFill>
                  <a:schemeClr val="bg1"/>
                </a:solidFill>
              </a:rPr>
              <a:t>),…))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51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1229D86-0FB3-410F-92F0-D17D08974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339502"/>
            <a:ext cx="4267200" cy="291465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8C2CBC0-4E60-43BD-8DB2-051531464522}"/>
              </a:ext>
            </a:extLst>
          </p:cNvPr>
          <p:cNvSpPr txBox="1"/>
          <p:nvPr/>
        </p:nvSpPr>
        <p:spPr>
          <a:xfrm>
            <a:off x="1187624" y="3661344"/>
            <a:ext cx="7776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Filter</a:t>
            </a:r>
            <a:r>
              <a:rPr lang="zh-CN" altLang="en-US" sz="1200" b="1" dirty="0">
                <a:solidFill>
                  <a:schemeClr val="bg1"/>
                </a:solidFill>
              </a:rPr>
              <a:t>销售量 </a:t>
            </a:r>
            <a:r>
              <a:rPr lang="en-US" altLang="zh-CN" sz="1200" b="1" dirty="0">
                <a:solidFill>
                  <a:schemeClr val="bg1"/>
                </a:solidFill>
              </a:rPr>
              <a:t>= Calculate([</a:t>
            </a:r>
            <a:r>
              <a:rPr lang="zh-CN" altLang="en-US" sz="1200" b="1" dirty="0">
                <a:solidFill>
                  <a:schemeClr val="bg1"/>
                </a:solidFill>
              </a:rPr>
              <a:t>销售量</a:t>
            </a:r>
            <a:r>
              <a:rPr lang="en-US" altLang="zh-CN" sz="1200" b="1" dirty="0">
                <a:solidFill>
                  <a:schemeClr val="bg1"/>
                </a:solidFill>
              </a:rPr>
              <a:t>],Filter(‘</a:t>
            </a:r>
            <a:r>
              <a:rPr lang="zh-CN" altLang="en-US" sz="1200" b="1" dirty="0">
                <a:solidFill>
                  <a:schemeClr val="bg1"/>
                </a:solidFill>
              </a:rPr>
              <a:t>店铺表</a:t>
            </a:r>
            <a:r>
              <a:rPr lang="en-US" altLang="zh-CN" sz="1200" b="1" dirty="0">
                <a:solidFill>
                  <a:schemeClr val="bg1"/>
                </a:solidFill>
              </a:rPr>
              <a:t>’,[</a:t>
            </a:r>
            <a:r>
              <a:rPr lang="zh-CN" altLang="en-US" sz="1200" b="1" dirty="0">
                <a:solidFill>
                  <a:schemeClr val="bg1"/>
                </a:solidFill>
              </a:rPr>
              <a:t>销售量</a:t>
            </a:r>
            <a:r>
              <a:rPr lang="en-US" altLang="zh-CN" sz="1200" b="1" dirty="0">
                <a:solidFill>
                  <a:schemeClr val="bg1"/>
                </a:solidFill>
              </a:rPr>
              <a:t>]&gt;300))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ED5BC9B-1611-4B18-8174-A7ADE0CC22A1}"/>
              </a:ext>
            </a:extLst>
          </p:cNvPr>
          <p:cNvSpPr txBox="1"/>
          <p:nvPr/>
        </p:nvSpPr>
        <p:spPr>
          <a:xfrm>
            <a:off x="3203848" y="4236575"/>
            <a:ext cx="3024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FFFF00"/>
                </a:solidFill>
              </a:rPr>
              <a:t>店铺表 </a:t>
            </a:r>
            <a:r>
              <a:rPr lang="en-US" altLang="zh-CN" sz="1200" b="1" dirty="0">
                <a:solidFill>
                  <a:srgbClr val="FFFF00"/>
                </a:solidFill>
              </a:rPr>
              <a:t>= Values(‘</a:t>
            </a:r>
            <a:r>
              <a:rPr lang="zh-CN" altLang="en-US" sz="1200" b="1" dirty="0">
                <a:solidFill>
                  <a:srgbClr val="FFFF00"/>
                </a:solidFill>
              </a:rPr>
              <a:t>销售数据表’</a:t>
            </a:r>
            <a:r>
              <a:rPr lang="en-US" altLang="zh-CN" sz="1200" b="1" dirty="0">
                <a:solidFill>
                  <a:srgbClr val="FFFF00"/>
                </a:solidFill>
              </a:rPr>
              <a:t>[</a:t>
            </a:r>
            <a:r>
              <a:rPr lang="zh-CN" altLang="en-US" sz="1200" b="1" dirty="0">
                <a:solidFill>
                  <a:srgbClr val="FFFF00"/>
                </a:solidFill>
              </a:rPr>
              <a:t>门店</a:t>
            </a:r>
            <a:r>
              <a:rPr lang="en-US" altLang="zh-CN" sz="1200" b="1" dirty="0">
                <a:solidFill>
                  <a:srgbClr val="FFFF00"/>
                </a:solidFill>
              </a:rPr>
              <a:t>])</a:t>
            </a:r>
            <a:endParaRPr lang="zh-CN" altLang="en-US" sz="1200" b="1" dirty="0">
              <a:solidFill>
                <a:srgbClr val="FFFF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6FDBAE4-E1F1-492F-9D54-33A3DF66669F}"/>
              </a:ext>
            </a:extLst>
          </p:cNvPr>
          <p:cNvSpPr txBox="1"/>
          <p:nvPr/>
        </p:nvSpPr>
        <p:spPr>
          <a:xfrm>
            <a:off x="1116124" y="4238967"/>
            <a:ext cx="1656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00B050"/>
                </a:solidFill>
              </a:rPr>
              <a:t>生成一张虚拟表</a:t>
            </a:r>
          </a:p>
        </p:txBody>
      </p:sp>
      <p:sp>
        <p:nvSpPr>
          <p:cNvPr id="6" name="箭头: 下 5">
            <a:extLst>
              <a:ext uri="{FF2B5EF4-FFF2-40B4-BE49-F238E27FC236}">
                <a16:creationId xmlns:a16="http://schemas.microsoft.com/office/drawing/2014/main" id="{4B321653-C080-4FC1-8313-F3DFA935C8B1}"/>
              </a:ext>
            </a:extLst>
          </p:cNvPr>
          <p:cNvSpPr/>
          <p:nvPr/>
        </p:nvSpPr>
        <p:spPr>
          <a:xfrm>
            <a:off x="4384111" y="3976017"/>
            <a:ext cx="216024" cy="276999"/>
          </a:xfrm>
          <a:prstGeom prst="downArrow">
            <a:avLst/>
          </a:prstGeom>
          <a:solidFill>
            <a:srgbClr val="FF0000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243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1D6943E-4F86-4635-8480-3AE5A195F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123478"/>
            <a:ext cx="4238625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068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EEE56AF-2793-42BB-9886-CF1C41ABF5D4}"/>
              </a:ext>
            </a:extLst>
          </p:cNvPr>
          <p:cNvSpPr txBox="1"/>
          <p:nvPr/>
        </p:nvSpPr>
        <p:spPr>
          <a:xfrm>
            <a:off x="0" y="462945"/>
            <a:ext cx="4139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err="1">
                <a:solidFill>
                  <a:schemeClr val="bg1"/>
                </a:solidFill>
              </a:rPr>
              <a:t>Hasonevalue</a:t>
            </a:r>
            <a:r>
              <a:rPr lang="zh-CN" altLang="en-US" sz="1600" b="1" dirty="0">
                <a:solidFill>
                  <a:schemeClr val="bg1"/>
                </a:solidFill>
              </a:rPr>
              <a:t>函数：只有一个值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360CE5D-6090-48B6-98C4-8A52CE5176D4}"/>
              </a:ext>
            </a:extLst>
          </p:cNvPr>
          <p:cNvSpPr txBox="1"/>
          <p:nvPr/>
        </p:nvSpPr>
        <p:spPr>
          <a:xfrm>
            <a:off x="1115616" y="1059582"/>
            <a:ext cx="4139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</a:rPr>
              <a:t>返回值：“真”或“假”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6D23AE-4180-4390-BA04-D41A92098341}"/>
              </a:ext>
            </a:extLst>
          </p:cNvPr>
          <p:cNvSpPr txBox="1"/>
          <p:nvPr/>
        </p:nvSpPr>
        <p:spPr>
          <a:xfrm>
            <a:off x="1043608" y="1635646"/>
            <a:ext cx="7776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</a:rPr>
              <a:t>经典语句： </a:t>
            </a:r>
            <a:r>
              <a:rPr lang="en-US" altLang="zh-CN" sz="1200" b="1" dirty="0">
                <a:solidFill>
                  <a:schemeClr val="bg1"/>
                </a:solidFill>
              </a:rPr>
              <a:t>if(</a:t>
            </a:r>
            <a:r>
              <a:rPr lang="en-US" altLang="zh-CN" sz="1200" b="1" dirty="0" err="1">
                <a:solidFill>
                  <a:schemeClr val="bg1"/>
                </a:solidFill>
              </a:rPr>
              <a:t>Hasonevalue</a:t>
            </a:r>
            <a:r>
              <a:rPr lang="en-US" altLang="zh-CN" sz="1200" b="1" dirty="0">
                <a:solidFill>
                  <a:schemeClr val="bg1"/>
                </a:solidFill>
              </a:rPr>
              <a:t>(</a:t>
            </a:r>
            <a:r>
              <a:rPr lang="en-US" altLang="zh-CN" sz="1200" b="1" dirty="0">
                <a:solidFill>
                  <a:srgbClr val="FFFF00"/>
                </a:solidFill>
              </a:rPr>
              <a:t>‘</a:t>
            </a:r>
            <a:r>
              <a:rPr lang="zh-CN" altLang="en-US" sz="1200" b="1" dirty="0">
                <a:solidFill>
                  <a:srgbClr val="FFFF00"/>
                </a:solidFill>
              </a:rPr>
              <a:t>表名</a:t>
            </a:r>
            <a:r>
              <a:rPr lang="en-US" altLang="zh-CN" sz="1200" b="1" dirty="0">
                <a:solidFill>
                  <a:srgbClr val="FFFF00"/>
                </a:solidFill>
              </a:rPr>
              <a:t>’[</a:t>
            </a:r>
            <a:r>
              <a:rPr lang="zh-CN" altLang="en-US" sz="1200" b="1" dirty="0">
                <a:solidFill>
                  <a:srgbClr val="FFFF00"/>
                </a:solidFill>
              </a:rPr>
              <a:t>列名</a:t>
            </a:r>
            <a:r>
              <a:rPr lang="en-US" altLang="zh-CN" sz="1200" b="1" dirty="0">
                <a:solidFill>
                  <a:srgbClr val="FFFF00"/>
                </a:solidFill>
              </a:rPr>
              <a:t>]</a:t>
            </a:r>
            <a:r>
              <a:rPr lang="zh-CN" altLang="en-US" sz="1200" b="1" dirty="0">
                <a:solidFill>
                  <a:schemeClr val="bg1"/>
                </a:solidFill>
              </a:rPr>
              <a:t>）</a:t>
            </a:r>
            <a:r>
              <a:rPr lang="en-US" altLang="zh-CN" sz="1200" b="1" dirty="0">
                <a:solidFill>
                  <a:schemeClr val="bg1"/>
                </a:solidFill>
              </a:rPr>
              <a:t>,[</a:t>
            </a:r>
            <a:r>
              <a:rPr lang="zh-CN" altLang="en-US" sz="1200" b="1" dirty="0">
                <a:solidFill>
                  <a:srgbClr val="FF0000"/>
                </a:solidFill>
              </a:rPr>
              <a:t>度量值</a:t>
            </a:r>
            <a:r>
              <a:rPr lang="en-US" altLang="zh-CN" sz="1200" b="1" dirty="0">
                <a:solidFill>
                  <a:schemeClr val="bg1"/>
                </a:solidFill>
              </a:rPr>
              <a:t>],blank())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22CA68-0ABC-484E-A5D2-2285A79208D8}"/>
              </a:ext>
            </a:extLst>
          </p:cNvPr>
          <p:cNvSpPr txBox="1"/>
          <p:nvPr/>
        </p:nvSpPr>
        <p:spPr>
          <a:xfrm>
            <a:off x="1043608" y="2232283"/>
            <a:ext cx="7776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</a:rPr>
              <a:t>例：</a:t>
            </a:r>
            <a:r>
              <a:rPr lang="en-US" altLang="zh-CN" sz="1200" b="1" dirty="0">
                <a:solidFill>
                  <a:schemeClr val="bg1"/>
                </a:solidFill>
              </a:rPr>
              <a:t>if(</a:t>
            </a:r>
            <a:r>
              <a:rPr lang="en-US" altLang="zh-CN" sz="1200" b="1" dirty="0" err="1">
                <a:solidFill>
                  <a:schemeClr val="bg1"/>
                </a:solidFill>
              </a:rPr>
              <a:t>Hasonevalue</a:t>
            </a:r>
            <a:r>
              <a:rPr lang="en-US" altLang="zh-CN" sz="1200" b="1" dirty="0">
                <a:solidFill>
                  <a:schemeClr val="bg1"/>
                </a:solidFill>
              </a:rPr>
              <a:t>(‘</a:t>
            </a:r>
            <a:r>
              <a:rPr lang="zh-CN" altLang="en-US" sz="1200" b="1" dirty="0">
                <a:solidFill>
                  <a:schemeClr val="bg1"/>
                </a:solidFill>
              </a:rPr>
              <a:t>日期</a:t>
            </a:r>
            <a:r>
              <a:rPr lang="en-US" altLang="zh-CN" sz="1200" b="1" dirty="0">
                <a:solidFill>
                  <a:schemeClr val="bg1"/>
                </a:solidFill>
              </a:rPr>
              <a:t>’[</a:t>
            </a:r>
            <a:r>
              <a:rPr lang="zh-CN" altLang="en-US" sz="1200" b="1" dirty="0">
                <a:solidFill>
                  <a:schemeClr val="bg1"/>
                </a:solidFill>
              </a:rPr>
              <a:t>年份季度</a:t>
            </a:r>
            <a:r>
              <a:rPr lang="en-US" altLang="zh-CN" sz="1200" b="1" dirty="0">
                <a:solidFill>
                  <a:schemeClr val="bg1"/>
                </a:solidFill>
              </a:rPr>
              <a:t>]),[filter</a:t>
            </a:r>
            <a:r>
              <a:rPr lang="zh-CN" altLang="en-US" sz="1200" b="1" dirty="0">
                <a:solidFill>
                  <a:schemeClr val="bg1"/>
                </a:solidFill>
              </a:rPr>
              <a:t>销售量</a:t>
            </a:r>
            <a:r>
              <a:rPr lang="en-US" altLang="zh-CN" sz="1200" b="1" dirty="0">
                <a:solidFill>
                  <a:schemeClr val="bg1"/>
                </a:solidFill>
              </a:rPr>
              <a:t>],blank())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40C2E23-9C0E-4A27-80A4-F6AF4FA47155}"/>
              </a:ext>
            </a:extLst>
          </p:cNvPr>
          <p:cNvSpPr txBox="1"/>
          <p:nvPr/>
        </p:nvSpPr>
        <p:spPr>
          <a:xfrm>
            <a:off x="2555776" y="2859782"/>
            <a:ext cx="5184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Filter</a:t>
            </a:r>
            <a:r>
              <a:rPr lang="zh-CN" altLang="en-US" sz="1200" b="1" dirty="0">
                <a:solidFill>
                  <a:schemeClr val="bg1"/>
                </a:solidFill>
              </a:rPr>
              <a:t>销售量 </a:t>
            </a:r>
            <a:r>
              <a:rPr lang="en-US" altLang="zh-CN" sz="1200" b="1" dirty="0">
                <a:solidFill>
                  <a:schemeClr val="bg1"/>
                </a:solidFill>
              </a:rPr>
              <a:t>= Calculate([</a:t>
            </a:r>
            <a:r>
              <a:rPr lang="zh-CN" altLang="en-US" sz="1200" b="1" dirty="0">
                <a:solidFill>
                  <a:schemeClr val="bg1"/>
                </a:solidFill>
              </a:rPr>
              <a:t>销售量</a:t>
            </a:r>
            <a:r>
              <a:rPr lang="en-US" altLang="zh-CN" sz="1200" b="1" dirty="0">
                <a:solidFill>
                  <a:schemeClr val="bg1"/>
                </a:solidFill>
              </a:rPr>
              <a:t>],Filter(‘</a:t>
            </a:r>
            <a:r>
              <a:rPr lang="zh-CN" altLang="en-US" sz="1200" b="1" dirty="0">
                <a:solidFill>
                  <a:schemeClr val="bg1"/>
                </a:solidFill>
              </a:rPr>
              <a:t>店铺表</a:t>
            </a:r>
            <a:r>
              <a:rPr lang="en-US" altLang="zh-CN" sz="1200" b="1" dirty="0">
                <a:solidFill>
                  <a:schemeClr val="bg1"/>
                </a:solidFill>
              </a:rPr>
              <a:t>’,[</a:t>
            </a:r>
            <a:r>
              <a:rPr lang="zh-CN" altLang="en-US" sz="1200" b="1" dirty="0">
                <a:solidFill>
                  <a:schemeClr val="bg1"/>
                </a:solidFill>
              </a:rPr>
              <a:t>销售量</a:t>
            </a:r>
            <a:r>
              <a:rPr lang="en-US" altLang="zh-CN" sz="1200" b="1" dirty="0">
                <a:solidFill>
                  <a:schemeClr val="bg1"/>
                </a:solidFill>
              </a:rPr>
              <a:t>]&gt;300))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4436E934-ADC8-41AF-B993-97555BD07DAE}"/>
              </a:ext>
            </a:extLst>
          </p:cNvPr>
          <p:cNvSpPr/>
          <p:nvPr/>
        </p:nvSpPr>
        <p:spPr>
          <a:xfrm>
            <a:off x="4433348" y="2597476"/>
            <a:ext cx="144016" cy="237510"/>
          </a:xfrm>
          <a:prstGeom prst="downArrow">
            <a:avLst/>
          </a:prstGeom>
          <a:solidFill>
            <a:srgbClr val="FF0000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2C9593E-94C6-4C9D-8BAB-EB7FA0DD310C}"/>
              </a:ext>
            </a:extLst>
          </p:cNvPr>
          <p:cNvSpPr txBox="1"/>
          <p:nvPr/>
        </p:nvSpPr>
        <p:spPr>
          <a:xfrm>
            <a:off x="4860032" y="3487281"/>
            <a:ext cx="3024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FFFF00"/>
                </a:solidFill>
              </a:rPr>
              <a:t>店铺表 </a:t>
            </a:r>
            <a:r>
              <a:rPr lang="en-US" altLang="zh-CN" sz="1200" b="1" dirty="0">
                <a:solidFill>
                  <a:srgbClr val="FFFF00"/>
                </a:solidFill>
              </a:rPr>
              <a:t>= Values(‘</a:t>
            </a:r>
            <a:r>
              <a:rPr lang="zh-CN" altLang="en-US" sz="1200" b="1" dirty="0">
                <a:solidFill>
                  <a:srgbClr val="FFFF00"/>
                </a:solidFill>
              </a:rPr>
              <a:t>销售数据表’</a:t>
            </a:r>
            <a:r>
              <a:rPr lang="en-US" altLang="zh-CN" sz="1200" b="1" dirty="0">
                <a:solidFill>
                  <a:srgbClr val="FFFF00"/>
                </a:solidFill>
              </a:rPr>
              <a:t>[</a:t>
            </a:r>
            <a:r>
              <a:rPr lang="zh-CN" altLang="en-US" sz="1200" b="1" dirty="0">
                <a:solidFill>
                  <a:srgbClr val="FFFF00"/>
                </a:solidFill>
              </a:rPr>
              <a:t>门店</a:t>
            </a:r>
            <a:r>
              <a:rPr lang="en-US" altLang="zh-CN" sz="1200" b="1" dirty="0">
                <a:solidFill>
                  <a:srgbClr val="FFFF00"/>
                </a:solidFill>
              </a:rPr>
              <a:t>])</a:t>
            </a:r>
            <a:endParaRPr lang="zh-CN" altLang="en-US" sz="1200" b="1" dirty="0">
              <a:solidFill>
                <a:srgbClr val="FFFF00"/>
              </a:solidFill>
            </a:endParaRPr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D606BA08-278F-4135-9478-BA5F22F013A0}"/>
              </a:ext>
            </a:extLst>
          </p:cNvPr>
          <p:cNvSpPr/>
          <p:nvPr/>
        </p:nvSpPr>
        <p:spPr>
          <a:xfrm>
            <a:off x="5868144" y="3193276"/>
            <a:ext cx="144016" cy="237510"/>
          </a:xfrm>
          <a:prstGeom prst="downArrow">
            <a:avLst/>
          </a:prstGeom>
          <a:solidFill>
            <a:srgbClr val="FF0000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412742F-EC56-4DFE-A0FF-69E05A89A751}"/>
              </a:ext>
            </a:extLst>
          </p:cNvPr>
          <p:cNvSpPr txBox="1"/>
          <p:nvPr/>
        </p:nvSpPr>
        <p:spPr>
          <a:xfrm>
            <a:off x="1115616" y="4149292"/>
            <a:ext cx="7776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</a:rPr>
              <a:t>说明：当求总计时，筛选上下文件是</a:t>
            </a:r>
            <a:r>
              <a:rPr lang="en-US" altLang="zh-CN" sz="1200" b="1" dirty="0">
                <a:solidFill>
                  <a:schemeClr val="bg1"/>
                </a:solidFill>
              </a:rPr>
              <a:t>2019</a:t>
            </a:r>
            <a:r>
              <a:rPr lang="zh-CN" altLang="en-US" sz="1200" b="1" dirty="0">
                <a:solidFill>
                  <a:schemeClr val="bg1"/>
                </a:solidFill>
              </a:rPr>
              <a:t>年全年，在日期表中，</a:t>
            </a:r>
            <a:r>
              <a:rPr lang="en-US" altLang="zh-CN" sz="1200" b="1" dirty="0">
                <a:solidFill>
                  <a:schemeClr val="bg1"/>
                </a:solidFill>
              </a:rPr>
              <a:t>2019</a:t>
            </a:r>
            <a:r>
              <a:rPr lang="zh-CN" altLang="en-US" sz="1200" b="1" dirty="0">
                <a:solidFill>
                  <a:schemeClr val="bg1"/>
                </a:solidFill>
              </a:rPr>
              <a:t>年有</a:t>
            </a:r>
            <a:r>
              <a:rPr lang="en-US" altLang="zh-CN" sz="1200" b="1" dirty="0">
                <a:solidFill>
                  <a:schemeClr val="bg1"/>
                </a:solidFill>
              </a:rPr>
              <a:t>4</a:t>
            </a:r>
            <a:r>
              <a:rPr lang="zh-CN" altLang="en-US" sz="1200" b="1" dirty="0">
                <a:solidFill>
                  <a:schemeClr val="bg1"/>
                </a:solidFill>
              </a:rPr>
              <a:t>个季度，不是唯一值，所以返回空值</a:t>
            </a:r>
          </a:p>
        </p:txBody>
      </p:sp>
    </p:spTree>
    <p:extLst>
      <p:ext uri="{BB962C8B-B14F-4D97-AF65-F5344CB8AC3E}">
        <p14:creationId xmlns:p14="http://schemas.microsoft.com/office/powerpoint/2010/main" val="2044417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8A591D9-B3B9-4B97-B1A1-067697687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387" y="985837"/>
            <a:ext cx="5991225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528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CCB1425-34F0-4BCA-AAD5-2687628BC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862" y="981075"/>
            <a:ext cx="6010275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936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D1B1E97-BE92-4D6D-A593-0460E1231840}"/>
              </a:ext>
            </a:extLst>
          </p:cNvPr>
          <p:cNvSpPr txBox="1"/>
          <p:nvPr/>
        </p:nvSpPr>
        <p:spPr>
          <a:xfrm>
            <a:off x="251520" y="339502"/>
            <a:ext cx="4139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err="1">
                <a:solidFill>
                  <a:schemeClr val="bg1"/>
                </a:solidFill>
              </a:rPr>
              <a:t>SumX</a:t>
            </a:r>
            <a:r>
              <a:rPr lang="zh-CN" altLang="en-US" sz="1600" b="1" dirty="0">
                <a:solidFill>
                  <a:schemeClr val="bg1"/>
                </a:solidFill>
              </a:rPr>
              <a:t>函数：掌握</a:t>
            </a:r>
            <a:r>
              <a:rPr lang="en-US" altLang="zh-CN" sz="1600" b="1" dirty="0">
                <a:solidFill>
                  <a:schemeClr val="bg1"/>
                </a:solidFill>
              </a:rPr>
              <a:t>X</a:t>
            </a:r>
            <a:r>
              <a:rPr lang="zh-CN" altLang="en-US" sz="1600" b="1" dirty="0">
                <a:solidFill>
                  <a:schemeClr val="bg1"/>
                </a:solidFill>
              </a:rPr>
              <a:t>类函数   </a:t>
            </a:r>
            <a:r>
              <a:rPr lang="en-US" altLang="zh-CN" sz="1600" b="1" dirty="0">
                <a:solidFill>
                  <a:srgbClr val="FFFF00"/>
                </a:solidFill>
              </a:rPr>
              <a:t>【</a:t>
            </a:r>
            <a:r>
              <a:rPr lang="zh-CN" altLang="en-US" sz="1600" b="1" dirty="0">
                <a:solidFill>
                  <a:srgbClr val="FFFF00"/>
                </a:solidFill>
              </a:rPr>
              <a:t>行上下文</a:t>
            </a:r>
            <a:r>
              <a:rPr lang="en-US" altLang="zh-CN" sz="1600" b="1" dirty="0">
                <a:solidFill>
                  <a:srgbClr val="FFFF00"/>
                </a:solidFill>
              </a:rPr>
              <a:t>】</a:t>
            </a:r>
            <a:endParaRPr lang="zh-CN" altLang="en-US" sz="1600" b="1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43E529A-DCB0-4213-84B8-A67C69658B1C}"/>
              </a:ext>
            </a:extLst>
          </p:cNvPr>
          <p:cNvSpPr txBox="1"/>
          <p:nvPr/>
        </p:nvSpPr>
        <p:spPr>
          <a:xfrm>
            <a:off x="1331640" y="915566"/>
            <a:ext cx="4139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</a:rPr>
              <a:t>语法：</a:t>
            </a:r>
            <a:r>
              <a:rPr lang="en-US" altLang="zh-CN" sz="1600" b="1" dirty="0" err="1">
                <a:solidFill>
                  <a:schemeClr val="bg1"/>
                </a:solidFill>
              </a:rPr>
              <a:t>SumX</a:t>
            </a:r>
            <a:r>
              <a:rPr lang="en-US" altLang="zh-CN" sz="1600" b="1" dirty="0">
                <a:solidFill>
                  <a:schemeClr val="bg1"/>
                </a:solidFill>
              </a:rPr>
              <a:t>(‘</a:t>
            </a:r>
            <a:r>
              <a:rPr lang="zh-CN" altLang="en-US" sz="1600" b="1" dirty="0">
                <a:solidFill>
                  <a:schemeClr val="bg1"/>
                </a:solidFill>
              </a:rPr>
              <a:t>表名</a:t>
            </a:r>
            <a:r>
              <a:rPr lang="en-US" altLang="zh-CN" sz="1600" b="1" dirty="0">
                <a:solidFill>
                  <a:schemeClr val="bg1"/>
                </a:solidFill>
              </a:rPr>
              <a:t>’,</a:t>
            </a:r>
            <a:r>
              <a:rPr lang="zh-CN" altLang="en-US" sz="1600" b="1" dirty="0">
                <a:solidFill>
                  <a:schemeClr val="bg1"/>
                </a:solidFill>
              </a:rPr>
              <a:t>算术表达式）</a:t>
            </a:r>
          </a:p>
        </p:txBody>
      </p:sp>
      <p:sp>
        <p:nvSpPr>
          <p:cNvPr id="4" name="箭头: 下 3">
            <a:extLst>
              <a:ext uri="{FF2B5EF4-FFF2-40B4-BE49-F238E27FC236}">
                <a16:creationId xmlns:a16="http://schemas.microsoft.com/office/drawing/2014/main" id="{1623304C-4B40-4698-B425-538BE0EC5E57}"/>
              </a:ext>
            </a:extLst>
          </p:cNvPr>
          <p:cNvSpPr/>
          <p:nvPr/>
        </p:nvSpPr>
        <p:spPr>
          <a:xfrm>
            <a:off x="3995936" y="1275606"/>
            <a:ext cx="216024" cy="216024"/>
          </a:xfrm>
          <a:prstGeom prst="downArrow">
            <a:avLst/>
          </a:prstGeom>
          <a:solidFill>
            <a:srgbClr val="FF0000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02A9C5-DCB2-4955-AFE4-69CE933E953F}"/>
              </a:ext>
            </a:extLst>
          </p:cNvPr>
          <p:cNvSpPr txBox="1"/>
          <p:nvPr/>
        </p:nvSpPr>
        <p:spPr>
          <a:xfrm>
            <a:off x="3239852" y="1513116"/>
            <a:ext cx="1944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</a:rPr>
              <a:t>[</a:t>
            </a:r>
            <a:r>
              <a:rPr lang="zh-CN" altLang="en-US" sz="1600" b="1" dirty="0">
                <a:solidFill>
                  <a:schemeClr val="bg1"/>
                </a:solidFill>
              </a:rPr>
              <a:t>销售数量</a:t>
            </a:r>
            <a:r>
              <a:rPr lang="en-US" altLang="zh-CN" sz="1600" b="1" dirty="0">
                <a:solidFill>
                  <a:schemeClr val="bg1"/>
                </a:solidFill>
              </a:rPr>
              <a:t>]*[</a:t>
            </a:r>
            <a:r>
              <a:rPr lang="zh-CN" altLang="en-US" sz="1600" b="1" dirty="0">
                <a:solidFill>
                  <a:schemeClr val="bg1"/>
                </a:solidFill>
              </a:rPr>
              <a:t>单价</a:t>
            </a:r>
            <a:r>
              <a:rPr lang="en-US" altLang="zh-CN" sz="1600" b="1" dirty="0">
                <a:solidFill>
                  <a:schemeClr val="bg1"/>
                </a:solidFill>
              </a:rPr>
              <a:t>]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2B1CE6C-BA8B-41F9-90AB-C4CE440433E1}"/>
              </a:ext>
            </a:extLst>
          </p:cNvPr>
          <p:cNvSpPr txBox="1"/>
          <p:nvPr/>
        </p:nvSpPr>
        <p:spPr>
          <a:xfrm>
            <a:off x="467544" y="2499742"/>
            <a:ext cx="6696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1</a:t>
            </a:r>
            <a:r>
              <a:rPr lang="zh-CN" altLang="en-US" sz="1200" b="1" dirty="0">
                <a:solidFill>
                  <a:schemeClr val="bg1"/>
                </a:solidFill>
              </a:rPr>
              <a:t>、逐行扫描</a:t>
            </a:r>
            <a:endParaRPr lang="en-US" altLang="zh-CN" sz="1200" b="1" dirty="0">
              <a:solidFill>
                <a:schemeClr val="bg1"/>
              </a:solidFill>
            </a:endParaRPr>
          </a:p>
          <a:p>
            <a:r>
              <a:rPr lang="en-US" altLang="zh-CN" sz="1200" b="1" dirty="0">
                <a:solidFill>
                  <a:schemeClr val="bg1"/>
                </a:solidFill>
              </a:rPr>
              <a:t>2</a:t>
            </a:r>
            <a:r>
              <a:rPr lang="zh-CN" altLang="en-US" sz="1200" b="1" dirty="0">
                <a:solidFill>
                  <a:schemeClr val="bg1"/>
                </a:solidFill>
              </a:rPr>
              <a:t>、执行运算，每一行都会返回一个值，例如 </a:t>
            </a:r>
            <a:r>
              <a:rPr lang="en-US" altLang="zh-CN" sz="1200" b="1" dirty="0">
                <a:solidFill>
                  <a:schemeClr val="bg1"/>
                </a:solidFill>
              </a:rPr>
              <a:t>15x1.1=16.5</a:t>
            </a:r>
          </a:p>
          <a:p>
            <a:r>
              <a:rPr lang="en-US" altLang="zh-CN" sz="1200" b="1" dirty="0">
                <a:solidFill>
                  <a:schemeClr val="bg1"/>
                </a:solidFill>
              </a:rPr>
              <a:t>3</a:t>
            </a:r>
            <a:r>
              <a:rPr lang="zh-CN" altLang="en-US" sz="1200" b="1" dirty="0">
                <a:solidFill>
                  <a:schemeClr val="bg1"/>
                </a:solidFill>
              </a:rPr>
              <a:t>、</a:t>
            </a:r>
            <a:r>
              <a:rPr lang="en-US" altLang="zh-CN" sz="1200" b="1" dirty="0" err="1">
                <a:solidFill>
                  <a:schemeClr val="bg1"/>
                </a:solidFill>
              </a:rPr>
              <a:t>SumX</a:t>
            </a:r>
            <a:r>
              <a:rPr lang="zh-CN" altLang="en-US" sz="1200" b="1" dirty="0">
                <a:solidFill>
                  <a:schemeClr val="bg1"/>
                </a:solidFill>
              </a:rPr>
              <a:t>函数记住了每一行返回的值，最后把所有的值相加求和。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746268C-25EF-4BC5-93EF-5318BCCB2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755" y="413581"/>
            <a:ext cx="3133725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530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F9472C4-D319-493C-B1A1-5135E5B65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3991252" cy="185167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23A110D-AB41-43C2-9D87-7ED172C952BD}"/>
              </a:ext>
            </a:extLst>
          </p:cNvPr>
          <p:cNvSpPr txBox="1"/>
          <p:nvPr/>
        </p:nvSpPr>
        <p:spPr>
          <a:xfrm>
            <a:off x="231430" y="1972963"/>
            <a:ext cx="39912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err="1">
                <a:solidFill>
                  <a:schemeClr val="bg1"/>
                </a:solidFill>
              </a:rPr>
              <a:t>SumX</a:t>
            </a:r>
            <a:r>
              <a:rPr lang="en-US" altLang="zh-CN" sz="1200" b="1" dirty="0">
                <a:solidFill>
                  <a:schemeClr val="bg1"/>
                </a:solidFill>
              </a:rPr>
              <a:t>(Values(‘</a:t>
            </a:r>
            <a:r>
              <a:rPr lang="zh-CN" altLang="en-US" sz="1200" b="1" dirty="0">
                <a:solidFill>
                  <a:schemeClr val="bg1"/>
                </a:solidFill>
              </a:rPr>
              <a:t>日期表</a:t>
            </a:r>
            <a:r>
              <a:rPr lang="en-US" altLang="zh-CN" sz="1200" b="1" dirty="0">
                <a:solidFill>
                  <a:schemeClr val="bg1"/>
                </a:solidFill>
              </a:rPr>
              <a:t>’[</a:t>
            </a:r>
            <a:r>
              <a:rPr lang="zh-CN" altLang="en-US" sz="1200" b="1" dirty="0">
                <a:solidFill>
                  <a:schemeClr val="bg1"/>
                </a:solidFill>
              </a:rPr>
              <a:t>年份季度</a:t>
            </a:r>
            <a:r>
              <a:rPr lang="en-US" altLang="zh-CN" sz="1200" b="1" dirty="0">
                <a:solidFill>
                  <a:schemeClr val="bg1"/>
                </a:solidFill>
              </a:rPr>
              <a:t>]),[Filter</a:t>
            </a:r>
            <a:r>
              <a:rPr lang="zh-CN" altLang="en-US" sz="1200" b="1" dirty="0">
                <a:solidFill>
                  <a:schemeClr val="bg1"/>
                </a:solidFill>
              </a:rPr>
              <a:t>销售量</a:t>
            </a:r>
            <a:r>
              <a:rPr lang="en-US" altLang="zh-CN" sz="1200" b="1" dirty="0">
                <a:solidFill>
                  <a:schemeClr val="bg1"/>
                </a:solidFill>
              </a:rPr>
              <a:t>])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B288972-A956-447E-B18D-93BB3EFE0359}"/>
              </a:ext>
            </a:extLst>
          </p:cNvPr>
          <p:cNvSpPr txBox="1"/>
          <p:nvPr/>
        </p:nvSpPr>
        <p:spPr>
          <a:xfrm>
            <a:off x="1475656" y="2474016"/>
            <a:ext cx="5184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Filter</a:t>
            </a:r>
            <a:r>
              <a:rPr lang="zh-CN" altLang="en-US" sz="1200" b="1" dirty="0">
                <a:solidFill>
                  <a:schemeClr val="bg1"/>
                </a:solidFill>
              </a:rPr>
              <a:t>销售量 </a:t>
            </a:r>
            <a:r>
              <a:rPr lang="en-US" altLang="zh-CN" sz="1200" b="1" dirty="0">
                <a:solidFill>
                  <a:schemeClr val="bg1"/>
                </a:solidFill>
              </a:rPr>
              <a:t>= Calculate([</a:t>
            </a:r>
            <a:r>
              <a:rPr lang="zh-CN" altLang="en-US" sz="1200" b="1" dirty="0">
                <a:solidFill>
                  <a:schemeClr val="bg1"/>
                </a:solidFill>
              </a:rPr>
              <a:t>销售量</a:t>
            </a:r>
            <a:r>
              <a:rPr lang="en-US" altLang="zh-CN" sz="1200" b="1" dirty="0">
                <a:solidFill>
                  <a:schemeClr val="bg1"/>
                </a:solidFill>
              </a:rPr>
              <a:t>],Filter(‘</a:t>
            </a:r>
            <a:r>
              <a:rPr lang="zh-CN" altLang="en-US" sz="1200" b="1" dirty="0">
                <a:solidFill>
                  <a:schemeClr val="bg1"/>
                </a:solidFill>
              </a:rPr>
              <a:t>店铺表</a:t>
            </a:r>
            <a:r>
              <a:rPr lang="en-US" altLang="zh-CN" sz="1200" b="1" dirty="0">
                <a:solidFill>
                  <a:schemeClr val="bg1"/>
                </a:solidFill>
              </a:rPr>
              <a:t>’,[</a:t>
            </a:r>
            <a:r>
              <a:rPr lang="zh-CN" altLang="en-US" sz="1200" b="1" dirty="0">
                <a:solidFill>
                  <a:schemeClr val="bg1"/>
                </a:solidFill>
              </a:rPr>
              <a:t>销售量</a:t>
            </a:r>
            <a:r>
              <a:rPr lang="en-US" altLang="zh-CN" sz="1200" b="1" dirty="0">
                <a:solidFill>
                  <a:schemeClr val="bg1"/>
                </a:solidFill>
              </a:rPr>
              <a:t>]&gt;300))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5" name="箭头: 下 4">
            <a:extLst>
              <a:ext uri="{FF2B5EF4-FFF2-40B4-BE49-F238E27FC236}">
                <a16:creationId xmlns:a16="http://schemas.microsoft.com/office/drawing/2014/main" id="{85BDE914-EAAD-4012-8115-B2081333013E}"/>
              </a:ext>
            </a:extLst>
          </p:cNvPr>
          <p:cNvSpPr/>
          <p:nvPr/>
        </p:nvSpPr>
        <p:spPr>
          <a:xfrm>
            <a:off x="3353228" y="2211710"/>
            <a:ext cx="144016" cy="237510"/>
          </a:xfrm>
          <a:prstGeom prst="downArrow">
            <a:avLst/>
          </a:prstGeom>
          <a:solidFill>
            <a:srgbClr val="FF0000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BC29093-EF31-4338-80BB-312E898120A4}"/>
              </a:ext>
            </a:extLst>
          </p:cNvPr>
          <p:cNvSpPr txBox="1"/>
          <p:nvPr/>
        </p:nvSpPr>
        <p:spPr>
          <a:xfrm>
            <a:off x="3779912" y="3101515"/>
            <a:ext cx="3024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FFFF00"/>
                </a:solidFill>
              </a:rPr>
              <a:t>店铺表 </a:t>
            </a:r>
            <a:r>
              <a:rPr lang="en-US" altLang="zh-CN" sz="1200" b="1" dirty="0">
                <a:solidFill>
                  <a:srgbClr val="FFFF00"/>
                </a:solidFill>
              </a:rPr>
              <a:t>= Values(‘</a:t>
            </a:r>
            <a:r>
              <a:rPr lang="zh-CN" altLang="en-US" sz="1200" b="1" dirty="0">
                <a:solidFill>
                  <a:srgbClr val="FFFF00"/>
                </a:solidFill>
              </a:rPr>
              <a:t>销售数据表’</a:t>
            </a:r>
            <a:r>
              <a:rPr lang="en-US" altLang="zh-CN" sz="1200" b="1" dirty="0">
                <a:solidFill>
                  <a:srgbClr val="FFFF00"/>
                </a:solidFill>
              </a:rPr>
              <a:t>[</a:t>
            </a:r>
            <a:r>
              <a:rPr lang="zh-CN" altLang="en-US" sz="1200" b="1" dirty="0">
                <a:solidFill>
                  <a:srgbClr val="FFFF00"/>
                </a:solidFill>
              </a:rPr>
              <a:t>门店</a:t>
            </a:r>
            <a:r>
              <a:rPr lang="en-US" altLang="zh-CN" sz="1200" b="1" dirty="0">
                <a:solidFill>
                  <a:srgbClr val="FFFF00"/>
                </a:solidFill>
              </a:rPr>
              <a:t>])</a:t>
            </a:r>
            <a:endParaRPr lang="zh-CN" altLang="en-US" sz="1200" b="1" dirty="0">
              <a:solidFill>
                <a:srgbClr val="FFFF00"/>
              </a:solidFill>
            </a:endParaRPr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533A1C5C-29D3-468E-A26D-5E7CB51A26BB}"/>
              </a:ext>
            </a:extLst>
          </p:cNvPr>
          <p:cNvSpPr/>
          <p:nvPr/>
        </p:nvSpPr>
        <p:spPr>
          <a:xfrm>
            <a:off x="4788024" y="2807510"/>
            <a:ext cx="144016" cy="237510"/>
          </a:xfrm>
          <a:prstGeom prst="downArrow">
            <a:avLst/>
          </a:prstGeom>
          <a:solidFill>
            <a:srgbClr val="FF0000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C2CBBA8-DA9A-4F86-BC17-AB8AA7AE5091}"/>
              </a:ext>
            </a:extLst>
          </p:cNvPr>
          <p:cNvSpPr txBox="1"/>
          <p:nvPr/>
        </p:nvSpPr>
        <p:spPr>
          <a:xfrm>
            <a:off x="395536" y="3939902"/>
            <a:ext cx="4248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err="1">
                <a:solidFill>
                  <a:schemeClr val="bg1"/>
                </a:solidFill>
              </a:rPr>
              <a:t>SumX</a:t>
            </a:r>
            <a:r>
              <a:rPr lang="en-US" altLang="zh-CN" sz="1600" b="1" dirty="0">
                <a:solidFill>
                  <a:schemeClr val="bg1"/>
                </a:solidFill>
              </a:rPr>
              <a:t>(Values(‘</a:t>
            </a:r>
            <a:r>
              <a:rPr lang="zh-CN" altLang="en-US" sz="1600" b="1" dirty="0">
                <a:solidFill>
                  <a:schemeClr val="bg1"/>
                </a:solidFill>
              </a:rPr>
              <a:t>表名</a:t>
            </a:r>
            <a:r>
              <a:rPr lang="en-US" altLang="zh-CN" sz="1600" b="1" dirty="0">
                <a:solidFill>
                  <a:schemeClr val="bg1"/>
                </a:solidFill>
              </a:rPr>
              <a:t>’[</a:t>
            </a:r>
            <a:r>
              <a:rPr lang="zh-CN" altLang="en-US" sz="1600" b="1" dirty="0">
                <a:solidFill>
                  <a:schemeClr val="bg1"/>
                </a:solidFill>
              </a:rPr>
              <a:t>列名</a:t>
            </a:r>
            <a:r>
              <a:rPr lang="en-US" altLang="zh-CN" sz="1600" b="1" dirty="0">
                <a:solidFill>
                  <a:schemeClr val="bg1"/>
                </a:solidFill>
              </a:rPr>
              <a:t>]</a:t>
            </a:r>
            <a:r>
              <a:rPr lang="zh-CN" altLang="en-US" sz="1600" b="1" dirty="0">
                <a:solidFill>
                  <a:schemeClr val="bg1"/>
                </a:solidFill>
              </a:rPr>
              <a:t>），</a:t>
            </a:r>
            <a:r>
              <a:rPr lang="en-US" altLang="zh-CN" sz="1600" b="1" dirty="0">
                <a:solidFill>
                  <a:schemeClr val="bg1"/>
                </a:solidFill>
              </a:rPr>
              <a:t>[</a:t>
            </a:r>
            <a:r>
              <a:rPr lang="zh-CN" altLang="en-US" sz="1600" b="1" dirty="0">
                <a:solidFill>
                  <a:schemeClr val="bg1"/>
                </a:solidFill>
              </a:rPr>
              <a:t>度量值</a:t>
            </a:r>
            <a:r>
              <a:rPr lang="en-US" altLang="zh-CN" sz="1600" b="1" dirty="0">
                <a:solidFill>
                  <a:schemeClr val="bg1"/>
                </a:solidFill>
              </a:rPr>
              <a:t>])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5AEA0CE-7303-4F49-8C49-2D78E910105E}"/>
              </a:ext>
            </a:extLst>
          </p:cNvPr>
          <p:cNvSpPr txBox="1"/>
          <p:nvPr/>
        </p:nvSpPr>
        <p:spPr>
          <a:xfrm>
            <a:off x="3425236" y="4301820"/>
            <a:ext cx="4248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</a:rPr>
              <a:t>作用：对显示的数据求总计</a:t>
            </a:r>
          </a:p>
        </p:txBody>
      </p:sp>
    </p:spTree>
    <p:extLst>
      <p:ext uri="{BB962C8B-B14F-4D97-AF65-F5344CB8AC3E}">
        <p14:creationId xmlns:p14="http://schemas.microsoft.com/office/powerpoint/2010/main" val="1354234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70A479D-4AF0-4AC4-B9A8-230264CCFDA9}"/>
              </a:ext>
            </a:extLst>
          </p:cNvPr>
          <p:cNvSpPr txBox="1"/>
          <p:nvPr/>
        </p:nvSpPr>
        <p:spPr>
          <a:xfrm>
            <a:off x="683568" y="411510"/>
            <a:ext cx="770485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学会了</a:t>
            </a:r>
            <a:r>
              <a:rPr lang="en-US" altLang="zh-CN" sz="2800" b="1" dirty="0" err="1">
                <a:solidFill>
                  <a:schemeClr val="bg1"/>
                </a:solidFill>
              </a:rPr>
              <a:t>SumX</a:t>
            </a:r>
            <a:r>
              <a:rPr lang="zh-CN" altLang="en-US" sz="2800" b="1" dirty="0">
                <a:solidFill>
                  <a:schemeClr val="bg1"/>
                </a:solidFill>
              </a:rPr>
              <a:t>函数，对于其它的</a:t>
            </a:r>
            <a:r>
              <a:rPr lang="en-US" altLang="zh-CN" sz="2800" b="1" dirty="0">
                <a:solidFill>
                  <a:schemeClr val="bg1"/>
                </a:solidFill>
              </a:rPr>
              <a:t>X</a:t>
            </a:r>
            <a:r>
              <a:rPr lang="zh-CN" altLang="en-US" sz="2800" b="1" dirty="0">
                <a:solidFill>
                  <a:schemeClr val="bg1"/>
                </a:solidFill>
              </a:rPr>
              <a:t>函数，</a:t>
            </a:r>
            <a:endParaRPr lang="en-US" altLang="zh-CN" sz="2800" b="1" dirty="0">
              <a:solidFill>
                <a:schemeClr val="bg1"/>
              </a:solidFill>
            </a:endParaRPr>
          </a:p>
          <a:p>
            <a:endParaRPr lang="en-US" altLang="zh-CN" sz="2800" b="1" dirty="0">
              <a:solidFill>
                <a:schemeClr val="bg1"/>
              </a:solidFill>
            </a:endParaRPr>
          </a:p>
          <a:p>
            <a:r>
              <a:rPr lang="zh-CN" altLang="en-US" sz="2800" b="1" dirty="0">
                <a:solidFill>
                  <a:schemeClr val="bg1"/>
                </a:solidFill>
              </a:rPr>
              <a:t>如</a:t>
            </a:r>
            <a:r>
              <a:rPr lang="en-US" altLang="zh-CN" sz="2800" b="1" dirty="0" err="1">
                <a:solidFill>
                  <a:schemeClr val="bg1"/>
                </a:solidFill>
              </a:rPr>
              <a:t>MinX</a:t>
            </a:r>
            <a:r>
              <a:rPr lang="zh-CN" altLang="en-US" sz="2800" b="1" dirty="0">
                <a:solidFill>
                  <a:schemeClr val="bg1"/>
                </a:solidFill>
              </a:rPr>
              <a:t>、</a:t>
            </a:r>
            <a:r>
              <a:rPr lang="en-US" altLang="zh-CN" sz="2800" b="1" dirty="0" err="1">
                <a:solidFill>
                  <a:schemeClr val="bg1"/>
                </a:solidFill>
              </a:rPr>
              <a:t>MaxX</a:t>
            </a:r>
            <a:r>
              <a:rPr lang="zh-CN" altLang="en-US" sz="2800" b="1" dirty="0">
                <a:solidFill>
                  <a:schemeClr val="bg1"/>
                </a:solidFill>
              </a:rPr>
              <a:t>、</a:t>
            </a:r>
            <a:r>
              <a:rPr lang="en-US" altLang="zh-CN" sz="2800" b="1" dirty="0" err="1">
                <a:solidFill>
                  <a:schemeClr val="bg1"/>
                </a:solidFill>
              </a:rPr>
              <a:t>AverageX</a:t>
            </a:r>
            <a:r>
              <a:rPr lang="zh-CN" altLang="en-US" sz="2800" b="1" dirty="0">
                <a:solidFill>
                  <a:schemeClr val="bg1"/>
                </a:solidFill>
              </a:rPr>
              <a:t>，</a:t>
            </a:r>
            <a:endParaRPr lang="en-US" altLang="zh-CN" sz="2800" b="1" dirty="0">
              <a:solidFill>
                <a:schemeClr val="bg1"/>
              </a:solidFill>
            </a:endParaRPr>
          </a:p>
          <a:p>
            <a:endParaRPr lang="en-US" altLang="zh-CN" sz="2800" b="1" dirty="0">
              <a:solidFill>
                <a:schemeClr val="bg1"/>
              </a:solidFill>
            </a:endParaRPr>
          </a:p>
          <a:p>
            <a:r>
              <a:rPr lang="zh-CN" altLang="en-US" sz="2800" b="1" dirty="0">
                <a:solidFill>
                  <a:schemeClr val="bg1"/>
                </a:solidFill>
              </a:rPr>
              <a:t>工作原理是一样的，唯一区别是最后的计算不是加总和，</a:t>
            </a:r>
            <a:endParaRPr lang="en-US" altLang="zh-CN" sz="2800" b="1" dirty="0">
              <a:solidFill>
                <a:schemeClr val="bg1"/>
              </a:solidFill>
            </a:endParaRPr>
          </a:p>
          <a:p>
            <a:endParaRPr lang="en-US" altLang="zh-CN" sz="2800" b="1" dirty="0">
              <a:solidFill>
                <a:schemeClr val="bg1"/>
              </a:solidFill>
            </a:endParaRPr>
          </a:p>
          <a:p>
            <a:r>
              <a:rPr lang="zh-CN" altLang="en-US" sz="2800" b="1" dirty="0">
                <a:solidFill>
                  <a:schemeClr val="bg1"/>
                </a:solidFill>
              </a:rPr>
              <a:t>而是对应的求最小值，最大值，平均值。</a:t>
            </a:r>
          </a:p>
        </p:txBody>
      </p:sp>
    </p:spTree>
    <p:extLst>
      <p:ext uri="{BB962C8B-B14F-4D97-AF65-F5344CB8AC3E}">
        <p14:creationId xmlns:p14="http://schemas.microsoft.com/office/powerpoint/2010/main" val="36290981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无&quot;,&quot;HeaderHeight&quot;:0.0,&quot;FooterHeight&quot;:0.0,&quot;SideMargin&quot;:0.0,&quot;TopMargin&quot;:0.0,&quot;BottomMargin&quot;:0.0,&quot;IntervalMargin&quot;:0.0,&quot;SettingType&quot;:&quot;System&quot;}"/>
</p:tagLst>
</file>

<file path=ppt/theme/theme1.xml><?xml version="1.0" encoding="utf-8"?>
<a:theme xmlns:a="http://schemas.openxmlformats.org/drawingml/2006/main" name="Office Theme">
  <a:themeElements>
    <a:clrScheme name="x2m0mzta">
      <a:dk1>
        <a:srgbClr val="000000"/>
      </a:dk1>
      <a:lt1>
        <a:srgbClr val="FFFFFF"/>
      </a:lt1>
      <a:dk2>
        <a:srgbClr val="FAB220"/>
      </a:dk2>
      <a:lt2>
        <a:srgbClr val="FA7901"/>
      </a:lt2>
      <a:accent1>
        <a:srgbClr val="CB2332"/>
      </a:accent1>
      <a:accent2>
        <a:srgbClr val="A6325B"/>
      </a:accent2>
      <a:accent3>
        <a:srgbClr val="0B4366"/>
      </a:accent3>
      <a:accent4>
        <a:srgbClr val="21A0D3"/>
      </a:accent4>
      <a:accent5>
        <a:srgbClr val="3CC5D1"/>
      </a:accent5>
      <a:accent6>
        <a:srgbClr val="4CC9A9"/>
      </a:accent6>
      <a:hlink>
        <a:srgbClr val="3B424C"/>
      </a:hlink>
      <a:folHlink>
        <a:srgbClr val="1C171E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cap="rnd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ctr">
          <a:defRPr sz="4800" b="1" dirty="0" smtClean="0">
            <a:solidFill>
              <a:schemeClr val="bg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6526</TotalTime>
  <Words>480</Words>
  <Application>Microsoft Office PowerPoint</Application>
  <PresentationFormat>全屏显示(16:9)</PresentationFormat>
  <Paragraphs>37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微软雅黑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pptmall.net</dc:title>
  <dc:creator>pptmall.net</dc:creator>
  <cp:lastModifiedBy>孙艺航</cp:lastModifiedBy>
  <cp:revision>1211</cp:revision>
  <dcterms:created xsi:type="dcterms:W3CDTF">2014-02-28T09:23:05Z</dcterms:created>
  <dcterms:modified xsi:type="dcterms:W3CDTF">2020-03-14T12:32:15Z</dcterms:modified>
</cp:coreProperties>
</file>