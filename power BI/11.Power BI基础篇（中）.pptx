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377" r:id="rId2"/>
    <p:sldId id="378" r:id="rId3"/>
    <p:sldId id="379" r:id="rId4"/>
    <p:sldId id="380" r:id="rId5"/>
    <p:sldId id="381" r:id="rId6"/>
    <p:sldId id="382" r:id="rId7"/>
    <p:sldId id="383" r:id="rId8"/>
    <p:sldId id="384" r:id="rId9"/>
    <p:sldId id="385" r:id="rId10"/>
    <p:sldId id="386" r:id="rId11"/>
    <p:sldId id="387" r:id="rId12"/>
    <p:sldId id="388" r:id="rId13"/>
    <p:sldId id="389" r:id="rId14"/>
  </p:sldIdLst>
  <p:sldSz cx="9144000" cy="5143500" type="screen16x9"/>
  <p:notesSz cx="6858000" cy="9144000"/>
  <p:custDataLst>
    <p:tags r:id="rId17"/>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5511" userDrawn="1">
          <p15:clr>
            <a:srgbClr val="A4A3A4"/>
          </p15:clr>
        </p15:guide>
        <p15:guide id="7" pos="612" userDrawn="1">
          <p15:clr>
            <a:srgbClr val="A4A3A4"/>
          </p15:clr>
        </p15:guide>
        <p15:guide id="8"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a:srgbClr val="8E78F4"/>
    <a:srgbClr val="C5C5C5"/>
    <a:srgbClr val="192834"/>
    <a:srgbClr val="FBE9EC"/>
    <a:srgbClr val="FEE4F6"/>
    <a:srgbClr val="D5DBDE"/>
    <a:srgbClr val="DDE5ED"/>
    <a:srgbClr val="C6D0D6"/>
    <a:srgbClr val="D6DF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14" autoAdjust="0"/>
    <p:restoredTop sz="95013" autoAdjust="0"/>
  </p:normalViewPr>
  <p:slideViewPr>
    <p:cSldViewPr>
      <p:cViewPr varScale="1">
        <p:scale>
          <a:sx n="150" d="100"/>
          <a:sy n="150" d="100"/>
        </p:scale>
        <p:origin x="420" y="120"/>
      </p:cViewPr>
      <p:guideLst>
        <p:guide pos="5511"/>
        <p:guide pos="612"/>
        <p:guide orient="horz" pos="1620"/>
      </p:guideLst>
    </p:cSldViewPr>
  </p:slideViewPr>
  <p:outlineViewPr>
    <p:cViewPr>
      <p:scale>
        <a:sx n="33" d="100"/>
        <a:sy n="33" d="100"/>
      </p:scale>
      <p:origin x="0" y="-4402"/>
    </p:cViewPr>
  </p:outlineViewPr>
  <p:notesTextViewPr>
    <p:cViewPr>
      <p:scale>
        <a:sx n="1" d="1"/>
        <a:sy n="1" d="1"/>
      </p:scale>
      <p:origin x="0" y="0"/>
    </p:cViewPr>
  </p:notesTextViewPr>
  <p:sorterViewPr>
    <p:cViewPr varScale="1">
      <p:scale>
        <a:sx n="1" d="1"/>
        <a:sy n="1" d="1"/>
      </p:scale>
      <p:origin x="0" y="-8136"/>
    </p:cViewPr>
  </p:sorterViewPr>
  <p:notesViewPr>
    <p:cSldViewPr showGuides="1">
      <p:cViewPr varScale="1">
        <p:scale>
          <a:sx n="120" d="100"/>
          <a:sy n="120" d="100"/>
        </p:scale>
        <p:origin x="3834"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C304B3-FA9F-49C1-859E-2458D1B84048}" type="datetimeFigureOut">
              <a:rPr lang="zh-CN" altLang="en-US" smtClean="0"/>
              <a:t>2020/3/14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B05DBC-4E0E-43E3-A060-4938178F158A}" type="slidenum">
              <a:rPr lang="zh-CN" altLang="en-US" smtClean="0"/>
              <a:t>‹#›</a:t>
            </a:fld>
            <a:endParaRPr lang="zh-CN" altLang="en-US"/>
          </a:p>
        </p:txBody>
      </p:sp>
    </p:spTree>
    <p:extLst>
      <p:ext uri="{BB962C8B-B14F-4D97-AF65-F5344CB8AC3E}">
        <p14:creationId xmlns:p14="http://schemas.microsoft.com/office/powerpoint/2010/main" val="3995861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4EB415-5FD7-4318-806E-930189874889}" type="datetimeFigureOut">
              <a:rPr lang="zh-CN" altLang="en-US" smtClean="0"/>
              <a:t>2020/3/14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2A4CF9-9236-450D-BC13-91858061C6E9}" type="slidenum">
              <a:rPr lang="zh-CN" altLang="en-US" smtClean="0"/>
              <a:t>‹#›</a:t>
            </a:fld>
            <a:endParaRPr lang="zh-CN" altLang="en-US"/>
          </a:p>
        </p:txBody>
      </p:sp>
    </p:spTree>
    <p:extLst>
      <p:ext uri="{BB962C8B-B14F-4D97-AF65-F5344CB8AC3E}">
        <p14:creationId xmlns:p14="http://schemas.microsoft.com/office/powerpoint/2010/main" val="3526472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色有标题">
    <p:bg>
      <p:bgPr>
        <a:solidFill>
          <a:schemeClr val="bg1"/>
        </a:solidFill>
        <a:effectLst/>
      </p:bgPr>
    </p:bg>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457200" y="202332"/>
            <a:ext cx="2646878" cy="461665"/>
          </a:xfrm>
          <a:prstGeom prst="rect">
            <a:avLst/>
          </a:prstGeom>
        </p:spPr>
        <p:txBody>
          <a:bodyPr wrap="none">
            <a:spAutoFit/>
          </a:bodyPr>
          <a:lstStyle>
            <a:lvl1pPr algn="l">
              <a:defRPr sz="2400">
                <a:latin typeface="微软雅黑" panose="020B0503020204020204" pitchFamily="34" charset="-122"/>
                <a:ea typeface="微软雅黑" panose="020B0503020204020204" pitchFamily="34" charset="-122"/>
              </a:defRPr>
            </a:lvl1pPr>
          </a:lstStyle>
          <a:p>
            <a:r>
              <a:rPr lang="zh-CN" altLang="en-US" dirty="0"/>
              <a:t>单击此处编辑标题</a:t>
            </a:r>
            <a:endParaRPr lang="ko-KR" altLang="en-US" dirty="0"/>
          </a:p>
        </p:txBody>
      </p:sp>
      <p:sp>
        <p:nvSpPr>
          <p:cNvPr id="13" name="文本框 12"/>
          <p:cNvSpPr txBox="1"/>
          <p:nvPr userDrawn="1"/>
        </p:nvSpPr>
        <p:spPr>
          <a:xfrm>
            <a:off x="457200" y="4803998"/>
            <a:ext cx="1217000" cy="246221"/>
          </a:xfrm>
          <a:prstGeom prst="rect">
            <a:avLst/>
          </a:prstGeom>
        </p:spPr>
        <p:txBody>
          <a:bodyPr wrap="none">
            <a:spAutoFit/>
          </a:bodyPr>
          <a:lstStyle>
            <a:lvl1pPr>
              <a:spcBef>
                <a:spcPct val="0"/>
              </a:spcBef>
              <a:buNone/>
              <a:defRPr sz="2400">
                <a:solidFill>
                  <a:schemeClr val="bg1"/>
                </a:solidFill>
                <a:latin typeface="微软雅黑" panose="020B0503020204020204" pitchFamily="34" charset="-122"/>
                <a:ea typeface="微软雅黑" panose="020B0503020204020204" pitchFamily="34" charset="-122"/>
                <a:cs typeface="+mj-cs"/>
              </a:defRPr>
            </a:lvl1pPr>
          </a:lstStyle>
          <a:p>
            <a:pPr lvl="0"/>
            <a:r>
              <a:rPr lang="en-US" altLang="zh-CN" sz="1000" dirty="0">
                <a:solidFill>
                  <a:schemeClr val="bg1">
                    <a:lumMod val="75000"/>
                  </a:schemeClr>
                </a:solidFill>
              </a:rPr>
              <a:t>www.pptmall.net</a:t>
            </a:r>
            <a:endParaRPr lang="zh-CN" altLang="en-US" sz="1000" dirty="0">
              <a:solidFill>
                <a:schemeClr val="bg1">
                  <a:lumMod val="75000"/>
                </a:schemeClr>
              </a:solidFill>
            </a:endParaRPr>
          </a:p>
        </p:txBody>
      </p:sp>
    </p:spTree>
    <p:extLst>
      <p:ext uri="{BB962C8B-B14F-4D97-AF65-F5344CB8AC3E}">
        <p14:creationId xmlns:p14="http://schemas.microsoft.com/office/powerpoint/2010/main" val="2857781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黑色有标题">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124EB12D-71AA-4797-9E53-6CDD91A37DC7}"/>
              </a:ext>
            </a:extLst>
          </p:cNvPr>
          <p:cNvSpPr txBox="1"/>
          <p:nvPr userDrawn="1"/>
        </p:nvSpPr>
        <p:spPr>
          <a:xfrm>
            <a:off x="409220" y="4731990"/>
            <a:ext cx="1031051" cy="261610"/>
          </a:xfrm>
          <a:prstGeom prst="rect">
            <a:avLst/>
          </a:prstGeom>
          <a:noFill/>
        </p:spPr>
        <p:txBody>
          <a:bodyPr wrap="none" rtlCol="0">
            <a:spAutoFit/>
          </a:bodyPr>
          <a:lstStyle/>
          <a:p>
            <a:pPr algn="ctr"/>
            <a:r>
              <a:rPr lang="zh-CN" altLang="en-US" sz="1100" b="1" dirty="0">
                <a:solidFill>
                  <a:srgbClr val="C5C5C5"/>
                </a:solidFill>
              </a:rPr>
              <a:t>主讲：孙兴华</a:t>
            </a:r>
          </a:p>
        </p:txBody>
      </p:sp>
      <p:sp>
        <p:nvSpPr>
          <p:cNvPr id="3" name="矩形 2">
            <a:extLst>
              <a:ext uri="{FF2B5EF4-FFF2-40B4-BE49-F238E27FC236}">
                <a16:creationId xmlns:a16="http://schemas.microsoft.com/office/drawing/2014/main" id="{9CA418F3-F843-4883-B540-8F3C3CDE8841}"/>
              </a:ext>
            </a:extLst>
          </p:cNvPr>
          <p:cNvSpPr/>
          <p:nvPr userDrawn="1"/>
        </p:nvSpPr>
        <p:spPr>
          <a:xfrm>
            <a:off x="0" y="4656206"/>
            <a:ext cx="9144000" cy="352784"/>
          </a:xfrm>
          <a:prstGeom prst="rect">
            <a:avLst/>
          </a:prstGeom>
          <a:gradFill>
            <a:gsLst>
              <a:gs pos="0">
                <a:schemeClr val="bg1">
                  <a:lumMod val="65000"/>
                </a:schemeClr>
              </a:gs>
              <a:gs pos="100000">
                <a:schemeClr val="bg1">
                  <a:lumMod val="65000"/>
                  <a:alpha val="30000"/>
                </a:schemeClr>
              </a:gs>
            </a:gsLst>
            <a:lin ang="5400000" scaled="1"/>
          </a:gradFill>
          <a:ln cap="rnd">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p14="http://schemas.microsoft.com/office/powerpoint/2010/main" val="326619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2762BF6-6E3F-433B-AB39-F4DEF76FD658}"/>
              </a:ext>
            </a:extLst>
          </p:cNvPr>
          <p:cNvSpPr>
            <a:spLocks noGrp="1"/>
          </p:cNvSpPr>
          <p:nvPr>
            <p:ph type="dt" sz="half" idx="10"/>
          </p:nvPr>
        </p:nvSpPr>
        <p:spPr/>
        <p:txBody>
          <a:bodyPr/>
          <a:lstStyle/>
          <a:p>
            <a:fld id="{718787EF-A92C-4F47-B9B3-48D91E515FA5}" type="datetimeFigureOut">
              <a:rPr lang="zh-CN" altLang="en-US" smtClean="0"/>
              <a:t>2020/3/14</a:t>
            </a:fld>
            <a:endParaRPr lang="zh-CN" altLang="en-US"/>
          </a:p>
        </p:txBody>
      </p:sp>
      <p:sp>
        <p:nvSpPr>
          <p:cNvPr id="3" name="页脚占位符 2">
            <a:extLst>
              <a:ext uri="{FF2B5EF4-FFF2-40B4-BE49-F238E27FC236}">
                <a16:creationId xmlns:a16="http://schemas.microsoft.com/office/drawing/2014/main" id="{54014B5B-56D1-4541-8470-F1DD30F297B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9BF0C11-692D-4D1E-B3C9-068673586273}"/>
              </a:ext>
            </a:extLst>
          </p:cNvPr>
          <p:cNvSpPr>
            <a:spLocks noGrp="1"/>
          </p:cNvSpPr>
          <p:nvPr>
            <p:ph type="sldNum" sz="quarter" idx="12"/>
          </p:nvPr>
        </p:nvSpPr>
        <p:spPr/>
        <p:txBody>
          <a:bodyPr/>
          <a:lstStyle/>
          <a:p>
            <a:fld id="{45FAF675-5BB6-4475-9536-7FDBB62290AB}" type="slidenum">
              <a:rPr lang="zh-CN" altLang="en-US" smtClean="0"/>
              <a:t>‹#›</a:t>
            </a:fld>
            <a:endParaRPr lang="zh-CN" altLang="en-US"/>
          </a:p>
        </p:txBody>
      </p:sp>
    </p:spTree>
    <p:extLst>
      <p:ext uri="{BB962C8B-B14F-4D97-AF65-F5344CB8AC3E}">
        <p14:creationId xmlns:p14="http://schemas.microsoft.com/office/powerpoint/2010/main" val="36650689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lumMod val="85000"/>
                <a:alpha val="60000"/>
              </a:schemeClr>
            </a:gs>
            <a:gs pos="0">
              <a:schemeClr val="bg1">
                <a:lumMod val="85000"/>
                <a:alpha val="60000"/>
              </a:schemeClr>
            </a:gs>
            <a:gs pos="50000">
              <a:schemeClr val="bg1"/>
            </a:gs>
            <a:gs pos="73000">
              <a:schemeClr val="bg1"/>
            </a:gs>
            <a:gs pos="26000">
              <a:schemeClr val="bg1"/>
            </a:gs>
          </a:gsLst>
          <a:lin ang="54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230527"/>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701" r:id="rId3"/>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B82A748-B14A-4DC8-B242-49D70073B2AD}"/>
              </a:ext>
            </a:extLst>
          </p:cNvPr>
          <p:cNvSpPr txBox="1"/>
          <p:nvPr/>
        </p:nvSpPr>
        <p:spPr>
          <a:xfrm>
            <a:off x="683568" y="483518"/>
            <a:ext cx="1224136" cy="369332"/>
          </a:xfrm>
          <a:prstGeom prst="rect">
            <a:avLst/>
          </a:prstGeom>
          <a:noFill/>
        </p:spPr>
        <p:txBody>
          <a:bodyPr wrap="square" rtlCol="0">
            <a:spAutoFit/>
          </a:bodyPr>
          <a:lstStyle/>
          <a:p>
            <a:r>
              <a:rPr lang="en-US" altLang="zh-CN" b="1" dirty="0">
                <a:solidFill>
                  <a:schemeClr val="bg1"/>
                </a:solidFill>
              </a:rPr>
              <a:t>1.</a:t>
            </a:r>
            <a:r>
              <a:rPr lang="zh-CN" altLang="en-US" b="1" dirty="0">
                <a:solidFill>
                  <a:schemeClr val="bg1"/>
                </a:solidFill>
              </a:rPr>
              <a:t>矩阵表</a:t>
            </a:r>
          </a:p>
        </p:txBody>
      </p:sp>
      <p:sp>
        <p:nvSpPr>
          <p:cNvPr id="3" name="文本框 2">
            <a:extLst>
              <a:ext uri="{FF2B5EF4-FFF2-40B4-BE49-F238E27FC236}">
                <a16:creationId xmlns:a16="http://schemas.microsoft.com/office/drawing/2014/main" id="{03940E09-2389-4B95-B75B-A15B3D8AEB97}"/>
              </a:ext>
            </a:extLst>
          </p:cNvPr>
          <p:cNvSpPr txBox="1"/>
          <p:nvPr/>
        </p:nvSpPr>
        <p:spPr>
          <a:xfrm>
            <a:off x="1043608" y="1059582"/>
            <a:ext cx="7848872" cy="1477328"/>
          </a:xfrm>
          <a:prstGeom prst="rect">
            <a:avLst/>
          </a:prstGeom>
          <a:noFill/>
        </p:spPr>
        <p:txBody>
          <a:bodyPr wrap="square" rtlCol="0">
            <a:spAutoFit/>
          </a:bodyPr>
          <a:lstStyle/>
          <a:p>
            <a:r>
              <a:rPr lang="zh-CN" altLang="en-US" b="1" dirty="0">
                <a:solidFill>
                  <a:schemeClr val="bg1"/>
                </a:solidFill>
              </a:rPr>
              <a:t>（</a:t>
            </a:r>
            <a:r>
              <a:rPr lang="en-US" altLang="zh-CN" b="1" dirty="0">
                <a:solidFill>
                  <a:schemeClr val="bg1"/>
                </a:solidFill>
              </a:rPr>
              <a:t>1</a:t>
            </a:r>
            <a:r>
              <a:rPr lang="zh-CN" altLang="en-US" b="1" dirty="0">
                <a:solidFill>
                  <a:schemeClr val="bg1"/>
                </a:solidFill>
              </a:rPr>
              <a:t>）数据钻取：根据一个 类的钻取，右键</a:t>
            </a:r>
            <a:r>
              <a:rPr lang="en-US" altLang="zh-CN" b="1" dirty="0">
                <a:solidFill>
                  <a:schemeClr val="bg1"/>
                </a:solidFill>
              </a:rPr>
              <a:t>-</a:t>
            </a:r>
            <a:r>
              <a:rPr lang="zh-CN" altLang="en-US" b="1" dirty="0">
                <a:solidFill>
                  <a:schemeClr val="bg1"/>
                </a:solidFill>
              </a:rPr>
              <a:t>向上</a:t>
            </a:r>
            <a:r>
              <a:rPr lang="en-US" altLang="zh-CN" b="1" dirty="0">
                <a:solidFill>
                  <a:schemeClr val="bg1"/>
                </a:solidFill>
              </a:rPr>
              <a:t>/</a:t>
            </a:r>
            <a:r>
              <a:rPr lang="zh-CN" altLang="en-US" b="1" dirty="0">
                <a:solidFill>
                  <a:schemeClr val="bg1"/>
                </a:solidFill>
              </a:rPr>
              <a:t>向下钻取</a:t>
            </a:r>
            <a:endParaRPr lang="en-US" altLang="zh-CN" b="1" dirty="0">
              <a:solidFill>
                <a:schemeClr val="bg1"/>
              </a:solidFill>
            </a:endParaRPr>
          </a:p>
          <a:p>
            <a:endParaRPr lang="en-US" altLang="zh-CN" b="1" dirty="0">
              <a:solidFill>
                <a:schemeClr val="bg1"/>
              </a:solidFill>
            </a:endParaRPr>
          </a:p>
          <a:p>
            <a:r>
              <a:rPr lang="zh-CN" altLang="en-US" b="1" dirty="0">
                <a:solidFill>
                  <a:schemeClr val="bg1"/>
                </a:solidFill>
              </a:rPr>
              <a:t>（</a:t>
            </a:r>
            <a:r>
              <a:rPr lang="en-US" altLang="zh-CN" b="1" dirty="0">
                <a:solidFill>
                  <a:schemeClr val="bg1"/>
                </a:solidFill>
              </a:rPr>
              <a:t>2</a:t>
            </a:r>
            <a:r>
              <a:rPr lang="zh-CN" altLang="en-US" b="1" dirty="0">
                <a:solidFill>
                  <a:schemeClr val="bg1"/>
                </a:solidFill>
              </a:rPr>
              <a:t>）格式设置：条件格式</a:t>
            </a:r>
            <a:r>
              <a:rPr lang="en-US" altLang="zh-CN" b="1" dirty="0">
                <a:solidFill>
                  <a:schemeClr val="bg1"/>
                </a:solidFill>
              </a:rPr>
              <a:t>-</a:t>
            </a:r>
            <a:r>
              <a:rPr lang="zh-CN" altLang="en-US" b="1" dirty="0">
                <a:solidFill>
                  <a:schemeClr val="bg1"/>
                </a:solidFill>
              </a:rPr>
              <a:t>高级控件</a:t>
            </a:r>
            <a:endParaRPr lang="en-US" altLang="zh-CN" b="1" dirty="0">
              <a:solidFill>
                <a:schemeClr val="bg1"/>
              </a:solidFill>
            </a:endParaRPr>
          </a:p>
          <a:p>
            <a:endParaRPr lang="en-US" altLang="zh-CN" b="1" dirty="0">
              <a:solidFill>
                <a:schemeClr val="bg1"/>
              </a:solidFill>
            </a:endParaRPr>
          </a:p>
          <a:p>
            <a:r>
              <a:rPr lang="en-US" altLang="zh-CN" b="1" dirty="0">
                <a:solidFill>
                  <a:schemeClr val="bg1"/>
                </a:solidFill>
              </a:rPr>
              <a:t>	a.</a:t>
            </a:r>
            <a:r>
              <a:rPr lang="zh-CN" altLang="en-US" b="1" dirty="0">
                <a:solidFill>
                  <a:schemeClr val="bg1"/>
                </a:solidFill>
              </a:rPr>
              <a:t>背景色  </a:t>
            </a:r>
            <a:r>
              <a:rPr lang="en-US" altLang="zh-CN" b="1" dirty="0">
                <a:solidFill>
                  <a:schemeClr val="bg1"/>
                </a:solidFill>
              </a:rPr>
              <a:t>b.</a:t>
            </a:r>
            <a:r>
              <a:rPr lang="zh-CN" altLang="en-US" b="1" dirty="0">
                <a:solidFill>
                  <a:schemeClr val="bg1"/>
                </a:solidFill>
              </a:rPr>
              <a:t>字体颜色 </a:t>
            </a:r>
            <a:r>
              <a:rPr lang="en-US" altLang="zh-CN" b="1" dirty="0">
                <a:solidFill>
                  <a:schemeClr val="bg1"/>
                </a:solidFill>
              </a:rPr>
              <a:t>c.</a:t>
            </a:r>
            <a:r>
              <a:rPr lang="zh-CN" altLang="en-US" b="1" dirty="0">
                <a:solidFill>
                  <a:schemeClr val="bg1"/>
                </a:solidFill>
              </a:rPr>
              <a:t>数据条 </a:t>
            </a:r>
            <a:r>
              <a:rPr lang="en-US" altLang="zh-CN" b="1" dirty="0">
                <a:solidFill>
                  <a:schemeClr val="bg1"/>
                </a:solidFill>
              </a:rPr>
              <a:t>d.</a:t>
            </a:r>
            <a:r>
              <a:rPr lang="zh-CN" altLang="en-US" b="1" dirty="0">
                <a:solidFill>
                  <a:schemeClr val="bg1"/>
                </a:solidFill>
              </a:rPr>
              <a:t>图标</a:t>
            </a:r>
          </a:p>
        </p:txBody>
      </p:sp>
      <p:sp>
        <p:nvSpPr>
          <p:cNvPr id="4" name="文本框 3">
            <a:extLst>
              <a:ext uri="{FF2B5EF4-FFF2-40B4-BE49-F238E27FC236}">
                <a16:creationId xmlns:a16="http://schemas.microsoft.com/office/drawing/2014/main" id="{1F44BA63-4A4B-46BB-BC28-F58DD3F30394}"/>
              </a:ext>
            </a:extLst>
          </p:cNvPr>
          <p:cNvSpPr txBox="1"/>
          <p:nvPr/>
        </p:nvSpPr>
        <p:spPr>
          <a:xfrm>
            <a:off x="667272" y="2607023"/>
            <a:ext cx="1224136" cy="369332"/>
          </a:xfrm>
          <a:prstGeom prst="rect">
            <a:avLst/>
          </a:prstGeom>
          <a:noFill/>
        </p:spPr>
        <p:txBody>
          <a:bodyPr wrap="square" rtlCol="0">
            <a:spAutoFit/>
          </a:bodyPr>
          <a:lstStyle/>
          <a:p>
            <a:r>
              <a:rPr lang="en-US" altLang="zh-CN" b="1" dirty="0">
                <a:solidFill>
                  <a:schemeClr val="bg1"/>
                </a:solidFill>
              </a:rPr>
              <a:t>2.</a:t>
            </a:r>
            <a:r>
              <a:rPr lang="zh-CN" altLang="en-US" b="1" dirty="0">
                <a:solidFill>
                  <a:schemeClr val="bg1"/>
                </a:solidFill>
              </a:rPr>
              <a:t>表</a:t>
            </a:r>
          </a:p>
        </p:txBody>
      </p:sp>
      <p:sp>
        <p:nvSpPr>
          <p:cNvPr id="5" name="文本框 4">
            <a:extLst>
              <a:ext uri="{FF2B5EF4-FFF2-40B4-BE49-F238E27FC236}">
                <a16:creationId xmlns:a16="http://schemas.microsoft.com/office/drawing/2014/main" id="{86F49E5C-2669-4F47-B2CA-8FB39DF1A021}"/>
              </a:ext>
            </a:extLst>
          </p:cNvPr>
          <p:cNvSpPr txBox="1"/>
          <p:nvPr/>
        </p:nvSpPr>
        <p:spPr>
          <a:xfrm>
            <a:off x="1295636" y="2606591"/>
            <a:ext cx="2196244" cy="369332"/>
          </a:xfrm>
          <a:prstGeom prst="rect">
            <a:avLst/>
          </a:prstGeom>
          <a:noFill/>
        </p:spPr>
        <p:txBody>
          <a:bodyPr wrap="square" rtlCol="0">
            <a:spAutoFit/>
          </a:bodyPr>
          <a:lstStyle/>
          <a:p>
            <a:r>
              <a:rPr lang="zh-CN" altLang="en-US" b="1" dirty="0">
                <a:solidFill>
                  <a:srgbClr val="FF0000"/>
                </a:solidFill>
                <a:effectLst>
                  <a:outerShdw blurRad="38100" dist="38100" dir="2700000" algn="tl">
                    <a:srgbClr val="000000">
                      <a:alpha val="43137"/>
                    </a:srgbClr>
                  </a:outerShdw>
                </a:effectLst>
              </a:rPr>
              <a:t>自动查找群集功能</a:t>
            </a:r>
            <a:endParaRPr lang="en-US" altLang="zh-CN" b="1" dirty="0">
              <a:solidFill>
                <a:srgbClr val="FF0000"/>
              </a:solidFill>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4AF2DE64-0615-4922-9ACC-C8FD64B444BF}"/>
              </a:ext>
            </a:extLst>
          </p:cNvPr>
          <p:cNvSpPr txBox="1"/>
          <p:nvPr/>
        </p:nvSpPr>
        <p:spPr>
          <a:xfrm>
            <a:off x="1279340" y="3363838"/>
            <a:ext cx="7613140" cy="369332"/>
          </a:xfrm>
          <a:prstGeom prst="rect">
            <a:avLst/>
          </a:prstGeom>
          <a:noFill/>
        </p:spPr>
        <p:txBody>
          <a:bodyPr wrap="square" rtlCol="0">
            <a:spAutoFit/>
          </a:bodyPr>
          <a:lstStyle/>
          <a:p>
            <a:r>
              <a:rPr lang="zh-CN" altLang="en-US" b="1" dirty="0">
                <a:solidFill>
                  <a:schemeClr val="bg1"/>
                </a:solidFill>
              </a:rPr>
              <a:t>群集在散点图上应用，用到的时候比较少。</a:t>
            </a:r>
          </a:p>
        </p:txBody>
      </p:sp>
    </p:spTree>
    <p:extLst>
      <p:ext uri="{BB962C8B-B14F-4D97-AF65-F5344CB8AC3E}">
        <p14:creationId xmlns:p14="http://schemas.microsoft.com/office/powerpoint/2010/main" val="910386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0BD9E60-ADB7-4DDE-ACE8-CC71D7AAD20C}"/>
              </a:ext>
            </a:extLst>
          </p:cNvPr>
          <p:cNvSpPr txBox="1"/>
          <p:nvPr/>
        </p:nvSpPr>
        <p:spPr>
          <a:xfrm>
            <a:off x="611560" y="555526"/>
            <a:ext cx="2736304" cy="369332"/>
          </a:xfrm>
          <a:prstGeom prst="rect">
            <a:avLst/>
          </a:prstGeom>
          <a:noFill/>
        </p:spPr>
        <p:txBody>
          <a:bodyPr wrap="square" rtlCol="0">
            <a:spAutoFit/>
          </a:bodyPr>
          <a:lstStyle/>
          <a:p>
            <a:r>
              <a:rPr lang="en-US" altLang="zh-CN" b="1" dirty="0">
                <a:solidFill>
                  <a:schemeClr val="bg1"/>
                </a:solidFill>
              </a:rPr>
              <a:t>【</a:t>
            </a:r>
            <a:r>
              <a:rPr lang="zh-CN" altLang="en-US" b="1" dirty="0">
                <a:solidFill>
                  <a:schemeClr val="bg1"/>
                </a:solidFill>
              </a:rPr>
              <a:t>建模</a:t>
            </a:r>
            <a:r>
              <a:rPr lang="en-US" altLang="zh-CN" b="1" dirty="0">
                <a:solidFill>
                  <a:schemeClr val="bg1"/>
                </a:solidFill>
              </a:rPr>
              <a:t>】</a:t>
            </a:r>
            <a:r>
              <a:rPr lang="zh-CN" altLang="en-US" b="1" dirty="0">
                <a:solidFill>
                  <a:schemeClr val="bg1"/>
                </a:solidFill>
              </a:rPr>
              <a:t>选项卡</a:t>
            </a:r>
            <a:r>
              <a:rPr lang="en-US" altLang="zh-CN" b="1" dirty="0">
                <a:solidFill>
                  <a:schemeClr val="bg1"/>
                </a:solidFill>
              </a:rPr>
              <a:t>-</a:t>
            </a:r>
            <a:r>
              <a:rPr lang="zh-CN" altLang="en-US" b="1" dirty="0">
                <a:solidFill>
                  <a:schemeClr val="bg1"/>
                </a:solidFill>
              </a:rPr>
              <a:t>新表</a:t>
            </a:r>
          </a:p>
        </p:txBody>
      </p:sp>
      <p:sp>
        <p:nvSpPr>
          <p:cNvPr id="3" name="文本框 2">
            <a:extLst>
              <a:ext uri="{FF2B5EF4-FFF2-40B4-BE49-F238E27FC236}">
                <a16:creationId xmlns:a16="http://schemas.microsoft.com/office/drawing/2014/main" id="{1787234C-6286-479E-AB32-93179E1EA6EE}"/>
              </a:ext>
            </a:extLst>
          </p:cNvPr>
          <p:cNvSpPr txBox="1"/>
          <p:nvPr/>
        </p:nvSpPr>
        <p:spPr>
          <a:xfrm>
            <a:off x="683568" y="1131590"/>
            <a:ext cx="8136904" cy="369332"/>
          </a:xfrm>
          <a:prstGeom prst="rect">
            <a:avLst/>
          </a:prstGeom>
          <a:noFill/>
        </p:spPr>
        <p:txBody>
          <a:bodyPr wrap="square" rtlCol="0">
            <a:spAutoFit/>
          </a:bodyPr>
          <a:lstStyle/>
          <a:p>
            <a:r>
              <a:rPr lang="en-US" altLang="zh-CN" b="1" dirty="0">
                <a:solidFill>
                  <a:schemeClr val="bg1"/>
                </a:solidFill>
              </a:rPr>
              <a:t>1.</a:t>
            </a:r>
            <a:r>
              <a:rPr lang="zh-CN" altLang="en-US" b="1" dirty="0">
                <a:solidFill>
                  <a:schemeClr val="bg1"/>
                </a:solidFill>
              </a:rPr>
              <a:t>合并数据表：</a:t>
            </a:r>
            <a:r>
              <a:rPr lang="zh-CN" altLang="en-US" b="1" dirty="0">
                <a:solidFill>
                  <a:srgbClr val="FF0000"/>
                </a:solidFill>
                <a:effectLst>
                  <a:outerShdw blurRad="38100" dist="38100" dir="2700000" algn="tl">
                    <a:srgbClr val="000000">
                      <a:alpha val="43137"/>
                    </a:srgbClr>
                  </a:outerShdw>
                </a:effectLst>
              </a:rPr>
              <a:t>汇总表 </a:t>
            </a:r>
            <a:r>
              <a:rPr lang="en-US" altLang="zh-CN" b="1" dirty="0">
                <a:solidFill>
                  <a:srgbClr val="FF0000"/>
                </a:solidFill>
                <a:effectLst>
                  <a:outerShdw blurRad="38100" dist="38100" dir="2700000" algn="tl">
                    <a:srgbClr val="000000">
                      <a:alpha val="43137"/>
                    </a:srgbClr>
                  </a:outerShdw>
                </a:effectLst>
              </a:rPr>
              <a:t>= UNION('</a:t>
            </a:r>
            <a:r>
              <a:rPr lang="zh-CN" altLang="en-US" b="1" dirty="0">
                <a:solidFill>
                  <a:srgbClr val="FF0000"/>
                </a:solidFill>
                <a:effectLst>
                  <a:outerShdw blurRad="38100" dist="38100" dir="2700000" algn="tl">
                    <a:srgbClr val="000000">
                      <a:alpha val="43137"/>
                    </a:srgbClr>
                  </a:outerShdw>
                </a:effectLst>
              </a:rPr>
              <a:t>表</a:t>
            </a:r>
            <a:r>
              <a:rPr lang="en-US" altLang="zh-CN" b="1" dirty="0">
                <a:solidFill>
                  <a:srgbClr val="FF0000"/>
                </a:solidFill>
                <a:effectLst>
                  <a:outerShdw blurRad="38100" dist="38100" dir="2700000" algn="tl">
                    <a:srgbClr val="000000">
                      <a:alpha val="43137"/>
                    </a:srgbClr>
                  </a:outerShdw>
                </a:effectLst>
              </a:rPr>
              <a:t>1','</a:t>
            </a:r>
            <a:r>
              <a:rPr lang="zh-CN" altLang="en-US" b="1" dirty="0">
                <a:solidFill>
                  <a:srgbClr val="FF0000"/>
                </a:solidFill>
                <a:effectLst>
                  <a:outerShdw blurRad="38100" dist="38100" dir="2700000" algn="tl">
                    <a:srgbClr val="000000">
                      <a:alpha val="43137"/>
                    </a:srgbClr>
                  </a:outerShdw>
                </a:effectLst>
              </a:rPr>
              <a:t>表</a:t>
            </a:r>
            <a:r>
              <a:rPr lang="en-US" altLang="zh-CN" b="1" dirty="0">
                <a:solidFill>
                  <a:srgbClr val="FF0000"/>
                </a:solidFill>
                <a:effectLst>
                  <a:outerShdw blurRad="38100" dist="38100" dir="2700000" algn="tl">
                    <a:srgbClr val="000000">
                      <a:alpha val="43137"/>
                    </a:srgbClr>
                  </a:outerShdw>
                </a:effectLst>
              </a:rPr>
              <a:t>2')  </a:t>
            </a:r>
          </a:p>
        </p:txBody>
      </p:sp>
      <p:sp>
        <p:nvSpPr>
          <p:cNvPr id="4" name="文本框 3">
            <a:extLst>
              <a:ext uri="{FF2B5EF4-FFF2-40B4-BE49-F238E27FC236}">
                <a16:creationId xmlns:a16="http://schemas.microsoft.com/office/drawing/2014/main" id="{9AE0D01B-F7AE-4E2B-9CCB-7FAFE9C47DD3}"/>
              </a:ext>
            </a:extLst>
          </p:cNvPr>
          <p:cNvSpPr txBox="1"/>
          <p:nvPr/>
        </p:nvSpPr>
        <p:spPr>
          <a:xfrm>
            <a:off x="1619672" y="1522988"/>
            <a:ext cx="4248472" cy="369332"/>
          </a:xfrm>
          <a:prstGeom prst="rect">
            <a:avLst/>
          </a:prstGeom>
          <a:noFill/>
        </p:spPr>
        <p:txBody>
          <a:bodyPr wrap="square" rtlCol="0">
            <a:spAutoFit/>
          </a:bodyPr>
          <a:lstStyle/>
          <a:p>
            <a:r>
              <a:rPr lang="zh-CN" altLang="en-US" b="1" dirty="0">
                <a:solidFill>
                  <a:schemeClr val="bg1"/>
                </a:solidFill>
              </a:rPr>
              <a:t>等同于</a:t>
            </a:r>
            <a:r>
              <a:rPr lang="en-US" altLang="zh-CN" b="1" dirty="0">
                <a:solidFill>
                  <a:schemeClr val="bg1"/>
                </a:solidFill>
              </a:rPr>
              <a:t>PQ</a:t>
            </a:r>
            <a:r>
              <a:rPr lang="zh-CN" altLang="en-US" b="1" dirty="0">
                <a:solidFill>
                  <a:schemeClr val="bg1"/>
                </a:solidFill>
              </a:rPr>
              <a:t>和</a:t>
            </a:r>
            <a:r>
              <a:rPr lang="en-US" altLang="zh-CN" b="1" dirty="0">
                <a:solidFill>
                  <a:schemeClr val="bg1"/>
                </a:solidFill>
              </a:rPr>
              <a:t>VBA</a:t>
            </a:r>
            <a:r>
              <a:rPr lang="zh-CN" altLang="en-US" b="1" dirty="0">
                <a:solidFill>
                  <a:schemeClr val="bg1"/>
                </a:solidFill>
              </a:rPr>
              <a:t>的合并，只能纵向追加</a:t>
            </a:r>
            <a:endParaRPr lang="en-US" altLang="zh-CN" b="1" dirty="0">
              <a:solidFill>
                <a:srgbClr val="FF0000"/>
              </a:solidFill>
              <a:effectLst>
                <a:outerShdw blurRad="38100" dist="38100" dir="2700000" algn="tl">
                  <a:srgbClr val="000000">
                    <a:alpha val="43137"/>
                  </a:srgbClr>
                </a:outerShdw>
              </a:effectLst>
            </a:endParaRPr>
          </a:p>
        </p:txBody>
      </p:sp>
      <p:sp>
        <p:nvSpPr>
          <p:cNvPr id="5" name="文本框 4">
            <a:extLst>
              <a:ext uri="{FF2B5EF4-FFF2-40B4-BE49-F238E27FC236}">
                <a16:creationId xmlns:a16="http://schemas.microsoft.com/office/drawing/2014/main" id="{316B83DF-2126-4901-9496-0564A1AD0763}"/>
              </a:ext>
            </a:extLst>
          </p:cNvPr>
          <p:cNvSpPr txBox="1"/>
          <p:nvPr/>
        </p:nvSpPr>
        <p:spPr>
          <a:xfrm>
            <a:off x="710283" y="2067694"/>
            <a:ext cx="8136904" cy="369332"/>
          </a:xfrm>
          <a:prstGeom prst="rect">
            <a:avLst/>
          </a:prstGeom>
          <a:noFill/>
        </p:spPr>
        <p:txBody>
          <a:bodyPr wrap="square" rtlCol="0">
            <a:spAutoFit/>
          </a:bodyPr>
          <a:lstStyle/>
          <a:p>
            <a:r>
              <a:rPr lang="en-US" altLang="zh-CN" b="1" dirty="0">
                <a:solidFill>
                  <a:schemeClr val="bg1"/>
                </a:solidFill>
              </a:rPr>
              <a:t>2.</a:t>
            </a:r>
            <a:r>
              <a:rPr lang="zh-CN" altLang="en-US" b="1" dirty="0">
                <a:solidFill>
                  <a:schemeClr val="bg1"/>
                </a:solidFill>
              </a:rPr>
              <a:t>交叉联结</a:t>
            </a:r>
            <a:r>
              <a:rPr lang="en-US" altLang="zh-CN" b="1" dirty="0" err="1">
                <a:solidFill>
                  <a:schemeClr val="bg1"/>
                </a:solidFill>
              </a:rPr>
              <a:t>VlookUP</a:t>
            </a:r>
            <a:r>
              <a:rPr lang="zh-CN" altLang="en-US" b="1" dirty="0">
                <a:solidFill>
                  <a:schemeClr val="bg1"/>
                </a:solidFill>
              </a:rPr>
              <a:t>：</a:t>
            </a:r>
            <a:r>
              <a:rPr lang="zh-CN" altLang="en-US" b="1" dirty="0">
                <a:solidFill>
                  <a:srgbClr val="FF0000"/>
                </a:solidFill>
                <a:effectLst>
                  <a:outerShdw blurRad="38100" dist="38100" dir="2700000" algn="tl">
                    <a:srgbClr val="000000">
                      <a:alpha val="43137"/>
                    </a:srgbClr>
                  </a:outerShdw>
                </a:effectLst>
              </a:rPr>
              <a:t>合并联结 </a:t>
            </a:r>
            <a:r>
              <a:rPr lang="en-US" altLang="zh-CN" b="1" dirty="0">
                <a:solidFill>
                  <a:srgbClr val="FF0000"/>
                </a:solidFill>
                <a:effectLst>
                  <a:outerShdw blurRad="38100" dist="38100" dir="2700000" algn="tl">
                    <a:srgbClr val="000000">
                      <a:alpha val="43137"/>
                    </a:srgbClr>
                  </a:outerShdw>
                </a:effectLst>
              </a:rPr>
              <a:t>= NATURALINNERJOIN('</a:t>
            </a:r>
            <a:r>
              <a:rPr lang="zh-CN" altLang="en-US" b="1" dirty="0">
                <a:solidFill>
                  <a:srgbClr val="FF0000"/>
                </a:solidFill>
                <a:effectLst>
                  <a:outerShdw blurRad="38100" dist="38100" dir="2700000" algn="tl">
                    <a:srgbClr val="000000">
                      <a:alpha val="43137"/>
                    </a:srgbClr>
                  </a:outerShdw>
                </a:effectLst>
              </a:rPr>
              <a:t>汇总表</a:t>
            </a:r>
            <a:r>
              <a:rPr lang="en-US" altLang="zh-CN" b="1" dirty="0">
                <a:solidFill>
                  <a:srgbClr val="FF0000"/>
                </a:solidFill>
                <a:effectLst>
                  <a:outerShdw blurRad="38100" dist="38100" dir="2700000" algn="tl">
                    <a:srgbClr val="000000">
                      <a:alpha val="43137"/>
                    </a:srgbClr>
                  </a:outerShdw>
                </a:effectLst>
              </a:rPr>
              <a:t>','</a:t>
            </a:r>
            <a:r>
              <a:rPr lang="zh-CN" altLang="en-US" b="1" dirty="0">
                <a:solidFill>
                  <a:srgbClr val="FF0000"/>
                </a:solidFill>
                <a:effectLst>
                  <a:outerShdw blurRad="38100" dist="38100" dir="2700000" algn="tl">
                    <a:srgbClr val="000000">
                      <a:alpha val="43137"/>
                    </a:srgbClr>
                  </a:outerShdw>
                </a:effectLst>
              </a:rPr>
              <a:t>表</a:t>
            </a:r>
            <a:r>
              <a:rPr lang="en-US" altLang="zh-CN" b="1" dirty="0">
                <a:solidFill>
                  <a:srgbClr val="FF0000"/>
                </a:solidFill>
                <a:effectLst>
                  <a:outerShdw blurRad="38100" dist="38100" dir="2700000" algn="tl">
                    <a:srgbClr val="000000">
                      <a:alpha val="43137"/>
                    </a:srgbClr>
                  </a:outerShdw>
                </a:effectLst>
              </a:rPr>
              <a:t>3')</a:t>
            </a:r>
          </a:p>
        </p:txBody>
      </p:sp>
      <p:sp>
        <p:nvSpPr>
          <p:cNvPr id="6" name="文本框 5">
            <a:extLst>
              <a:ext uri="{FF2B5EF4-FFF2-40B4-BE49-F238E27FC236}">
                <a16:creationId xmlns:a16="http://schemas.microsoft.com/office/drawing/2014/main" id="{14C1AD9C-0546-433F-BAD5-1EBDC36EC20D}"/>
              </a:ext>
            </a:extLst>
          </p:cNvPr>
          <p:cNvSpPr txBox="1"/>
          <p:nvPr/>
        </p:nvSpPr>
        <p:spPr>
          <a:xfrm>
            <a:off x="1259632" y="2643758"/>
            <a:ext cx="6696744" cy="1077218"/>
          </a:xfrm>
          <a:prstGeom prst="rect">
            <a:avLst/>
          </a:prstGeom>
          <a:noFill/>
        </p:spPr>
        <p:txBody>
          <a:bodyPr wrap="square" rtlCol="0">
            <a:spAutoFit/>
          </a:bodyPr>
          <a:lstStyle/>
          <a:p>
            <a:r>
              <a:rPr lang="zh-CN" altLang="en-US" sz="1600" b="1" dirty="0">
                <a:solidFill>
                  <a:schemeClr val="bg1"/>
                </a:solidFill>
              </a:rPr>
              <a:t>注意</a:t>
            </a:r>
            <a:r>
              <a:rPr lang="en-US" altLang="zh-CN" sz="1600" b="1" dirty="0">
                <a:solidFill>
                  <a:schemeClr val="bg1"/>
                </a:solidFill>
              </a:rPr>
              <a:t>0</a:t>
            </a:r>
            <a:r>
              <a:rPr lang="zh-CN" altLang="en-US" sz="1600" b="1" dirty="0">
                <a:solidFill>
                  <a:schemeClr val="bg1"/>
                </a:solidFill>
              </a:rPr>
              <a:t>：</a:t>
            </a:r>
            <a:r>
              <a:rPr lang="zh-CN" altLang="en-US" sz="1600" b="1" dirty="0">
                <a:solidFill>
                  <a:srgbClr val="FFFF00"/>
                </a:solidFill>
              </a:rPr>
              <a:t>要先建议连接线</a:t>
            </a:r>
            <a:endParaRPr lang="en-US" altLang="zh-CN" sz="1600" b="1" dirty="0">
              <a:solidFill>
                <a:srgbClr val="FFFF00"/>
              </a:solidFill>
            </a:endParaRPr>
          </a:p>
          <a:p>
            <a:r>
              <a:rPr lang="zh-CN" altLang="en-US" sz="1600" b="1" dirty="0">
                <a:solidFill>
                  <a:schemeClr val="bg1"/>
                </a:solidFill>
              </a:rPr>
              <a:t>注意</a:t>
            </a:r>
            <a:r>
              <a:rPr lang="en-US" altLang="zh-CN" sz="1600" b="1" dirty="0">
                <a:solidFill>
                  <a:schemeClr val="bg1"/>
                </a:solidFill>
              </a:rPr>
              <a:t>1</a:t>
            </a:r>
            <a:r>
              <a:rPr lang="zh-CN" altLang="en-US" sz="1600" b="1" dirty="0">
                <a:solidFill>
                  <a:schemeClr val="bg1"/>
                </a:solidFill>
              </a:rPr>
              <a:t>：两个表字段名不能相同</a:t>
            </a:r>
            <a:endParaRPr lang="en-US" altLang="zh-CN" sz="1600" b="1" dirty="0">
              <a:solidFill>
                <a:schemeClr val="bg1"/>
              </a:solidFill>
            </a:endParaRPr>
          </a:p>
          <a:p>
            <a:r>
              <a:rPr lang="zh-CN" altLang="en-US" sz="1600" b="1" dirty="0">
                <a:solidFill>
                  <a:schemeClr val="bg1"/>
                </a:solidFill>
              </a:rPr>
              <a:t>注意</a:t>
            </a:r>
            <a:r>
              <a:rPr lang="en-US" altLang="zh-CN" sz="1600" b="1" dirty="0">
                <a:solidFill>
                  <a:schemeClr val="bg1"/>
                </a:solidFill>
              </a:rPr>
              <a:t>2</a:t>
            </a:r>
            <a:r>
              <a:rPr lang="zh-CN" altLang="en-US" sz="1600" b="1" dirty="0">
                <a:solidFill>
                  <a:schemeClr val="bg1"/>
                </a:solidFill>
              </a:rPr>
              <a:t>：参数的第一个表是数据表，第二个表是</a:t>
            </a:r>
            <a:r>
              <a:rPr lang="en-US" altLang="zh-CN" sz="1600" b="1" dirty="0">
                <a:solidFill>
                  <a:schemeClr val="bg1"/>
                </a:solidFill>
              </a:rPr>
              <a:t>LOOK</a:t>
            </a:r>
            <a:r>
              <a:rPr lang="zh-CN" altLang="en-US" sz="1600" b="1" dirty="0">
                <a:solidFill>
                  <a:schemeClr val="bg1"/>
                </a:solidFill>
              </a:rPr>
              <a:t>表，相当于是左连接，与</a:t>
            </a:r>
            <a:r>
              <a:rPr lang="en-US" altLang="zh-CN" sz="1600" b="1" dirty="0" err="1">
                <a:solidFill>
                  <a:schemeClr val="bg1"/>
                </a:solidFill>
              </a:rPr>
              <a:t>VLookup</a:t>
            </a:r>
            <a:r>
              <a:rPr lang="zh-CN" altLang="en-US" sz="1600" b="1" dirty="0">
                <a:solidFill>
                  <a:schemeClr val="bg1"/>
                </a:solidFill>
              </a:rPr>
              <a:t>相同，只能多端</a:t>
            </a:r>
            <a:r>
              <a:rPr lang="en-US" altLang="zh-CN" sz="1600" b="1" dirty="0">
                <a:solidFill>
                  <a:schemeClr val="bg1"/>
                </a:solidFill>
              </a:rPr>
              <a:t>V</a:t>
            </a:r>
            <a:r>
              <a:rPr lang="zh-CN" altLang="en-US" sz="1600" b="1" dirty="0">
                <a:solidFill>
                  <a:schemeClr val="bg1"/>
                </a:solidFill>
              </a:rPr>
              <a:t>单端。</a:t>
            </a:r>
          </a:p>
        </p:txBody>
      </p:sp>
    </p:spTree>
    <p:extLst>
      <p:ext uri="{BB962C8B-B14F-4D97-AF65-F5344CB8AC3E}">
        <p14:creationId xmlns:p14="http://schemas.microsoft.com/office/powerpoint/2010/main" val="2809962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F22AFD-85E8-46B5-B62A-17BE9D7B56A2}"/>
              </a:ext>
            </a:extLst>
          </p:cNvPr>
          <p:cNvSpPr txBox="1"/>
          <p:nvPr/>
        </p:nvSpPr>
        <p:spPr>
          <a:xfrm>
            <a:off x="611560" y="555526"/>
            <a:ext cx="2736304" cy="369332"/>
          </a:xfrm>
          <a:prstGeom prst="rect">
            <a:avLst/>
          </a:prstGeom>
          <a:noFill/>
        </p:spPr>
        <p:txBody>
          <a:bodyPr wrap="square" rtlCol="0">
            <a:spAutoFit/>
          </a:bodyPr>
          <a:lstStyle/>
          <a:p>
            <a:r>
              <a:rPr lang="en-US" altLang="zh-CN" b="1" dirty="0">
                <a:solidFill>
                  <a:schemeClr val="bg1"/>
                </a:solidFill>
              </a:rPr>
              <a:t>【</a:t>
            </a:r>
            <a:r>
              <a:rPr lang="zh-CN" altLang="en-US" b="1" dirty="0">
                <a:solidFill>
                  <a:schemeClr val="bg1"/>
                </a:solidFill>
              </a:rPr>
              <a:t>建模</a:t>
            </a:r>
            <a:r>
              <a:rPr lang="en-US" altLang="zh-CN" b="1" dirty="0">
                <a:solidFill>
                  <a:schemeClr val="bg1"/>
                </a:solidFill>
              </a:rPr>
              <a:t>】</a:t>
            </a:r>
            <a:r>
              <a:rPr lang="zh-CN" altLang="en-US" b="1" dirty="0">
                <a:solidFill>
                  <a:schemeClr val="bg1"/>
                </a:solidFill>
              </a:rPr>
              <a:t>选项卡</a:t>
            </a:r>
            <a:r>
              <a:rPr lang="en-US" altLang="zh-CN" b="1" dirty="0">
                <a:solidFill>
                  <a:schemeClr val="bg1"/>
                </a:solidFill>
              </a:rPr>
              <a:t>-</a:t>
            </a:r>
            <a:r>
              <a:rPr lang="zh-CN" altLang="en-US" b="1" dirty="0">
                <a:solidFill>
                  <a:schemeClr val="bg1"/>
                </a:solidFill>
              </a:rPr>
              <a:t>新表</a:t>
            </a:r>
          </a:p>
        </p:txBody>
      </p:sp>
      <p:sp>
        <p:nvSpPr>
          <p:cNvPr id="3" name="文本框 2">
            <a:extLst>
              <a:ext uri="{FF2B5EF4-FFF2-40B4-BE49-F238E27FC236}">
                <a16:creationId xmlns:a16="http://schemas.microsoft.com/office/drawing/2014/main" id="{4497929A-9720-4F97-90A3-477AAF2816F7}"/>
              </a:ext>
            </a:extLst>
          </p:cNvPr>
          <p:cNvSpPr txBox="1"/>
          <p:nvPr/>
        </p:nvSpPr>
        <p:spPr>
          <a:xfrm>
            <a:off x="683568" y="1131590"/>
            <a:ext cx="8136904" cy="1200329"/>
          </a:xfrm>
          <a:prstGeom prst="rect">
            <a:avLst/>
          </a:prstGeom>
          <a:noFill/>
        </p:spPr>
        <p:txBody>
          <a:bodyPr wrap="square" rtlCol="0">
            <a:spAutoFit/>
          </a:bodyPr>
          <a:lstStyle/>
          <a:p>
            <a:r>
              <a:rPr lang="en-US" altLang="zh-CN" b="1" dirty="0">
                <a:solidFill>
                  <a:schemeClr val="bg1"/>
                </a:solidFill>
              </a:rPr>
              <a:t>3.</a:t>
            </a:r>
            <a:r>
              <a:rPr lang="zh-CN" altLang="en-US" b="1" dirty="0">
                <a:solidFill>
                  <a:schemeClr val="bg1"/>
                </a:solidFill>
              </a:rPr>
              <a:t>提取维度表：维度表就是</a:t>
            </a:r>
            <a:r>
              <a:rPr lang="zh-CN" altLang="en-US" b="1" dirty="0">
                <a:solidFill>
                  <a:srgbClr val="FF0000"/>
                </a:solidFill>
              </a:rPr>
              <a:t>基础表</a:t>
            </a:r>
            <a:r>
              <a:rPr lang="zh-CN" altLang="en-US" b="1" dirty="0">
                <a:solidFill>
                  <a:schemeClr val="bg1"/>
                </a:solidFill>
              </a:rPr>
              <a:t>，事实表就是交易表！</a:t>
            </a:r>
            <a:endParaRPr lang="en-US" altLang="zh-CN" b="1" dirty="0">
              <a:solidFill>
                <a:schemeClr val="bg1"/>
              </a:solidFill>
            </a:endParaRPr>
          </a:p>
          <a:p>
            <a:r>
              <a:rPr lang="zh-CN" altLang="en-US" b="1" dirty="0">
                <a:solidFill>
                  <a:schemeClr val="bg1"/>
                </a:solidFill>
                <a:effectLst>
                  <a:outerShdw blurRad="38100" dist="38100" dir="2700000" algn="tl">
                    <a:srgbClr val="000000">
                      <a:alpha val="43137"/>
                    </a:srgbClr>
                  </a:outerShdw>
                </a:effectLst>
              </a:rPr>
              <a:t>基础表：例如店铺表，日期表，商品名称表</a:t>
            </a:r>
            <a:endParaRPr lang="en-US" altLang="zh-CN" b="1" dirty="0">
              <a:solidFill>
                <a:schemeClr val="bg1"/>
              </a:solidFill>
              <a:effectLst>
                <a:outerShdw blurRad="38100" dist="38100" dir="2700000" algn="tl">
                  <a:srgbClr val="000000">
                    <a:alpha val="43137"/>
                  </a:srgbClr>
                </a:outerShdw>
              </a:effectLst>
            </a:endParaRPr>
          </a:p>
          <a:p>
            <a:endParaRPr lang="en-US" altLang="zh-CN" b="1" dirty="0">
              <a:solidFill>
                <a:schemeClr val="bg1"/>
              </a:solidFill>
              <a:effectLst>
                <a:outerShdw blurRad="38100" dist="38100" dir="2700000" algn="tl">
                  <a:srgbClr val="000000">
                    <a:alpha val="43137"/>
                  </a:srgbClr>
                </a:outerShdw>
              </a:effectLst>
            </a:endParaRPr>
          </a:p>
          <a:p>
            <a:r>
              <a:rPr lang="zh-CN" altLang="en-US" b="1" dirty="0">
                <a:solidFill>
                  <a:srgbClr val="FF0000"/>
                </a:solidFill>
                <a:effectLst>
                  <a:outerShdw blurRad="38100" dist="38100" dir="2700000" algn="tl">
                    <a:srgbClr val="000000">
                      <a:alpha val="43137"/>
                    </a:srgbClr>
                  </a:outerShdw>
                </a:effectLst>
              </a:rPr>
              <a:t>基础表 </a:t>
            </a:r>
            <a:r>
              <a:rPr lang="en-US" altLang="zh-CN" b="1" dirty="0">
                <a:solidFill>
                  <a:srgbClr val="FF0000"/>
                </a:solidFill>
                <a:effectLst>
                  <a:outerShdw blurRad="38100" dist="38100" dir="2700000" algn="tl">
                    <a:srgbClr val="000000">
                      <a:alpha val="43137"/>
                    </a:srgbClr>
                  </a:outerShdw>
                </a:effectLst>
              </a:rPr>
              <a:t>= DISTINCT('</a:t>
            </a:r>
            <a:r>
              <a:rPr lang="zh-CN" altLang="en-US" b="1" dirty="0">
                <a:solidFill>
                  <a:srgbClr val="FF0000"/>
                </a:solidFill>
                <a:effectLst>
                  <a:outerShdw blurRad="38100" dist="38100" dir="2700000" algn="tl">
                    <a:srgbClr val="000000">
                      <a:alpha val="43137"/>
                    </a:srgbClr>
                  </a:outerShdw>
                </a:effectLst>
              </a:rPr>
              <a:t>合并联结</a:t>
            </a:r>
            <a:r>
              <a:rPr lang="en-US" altLang="zh-CN" b="1" dirty="0">
                <a:solidFill>
                  <a:srgbClr val="FF0000"/>
                </a:solidFill>
                <a:effectLst>
                  <a:outerShdw blurRad="38100" dist="38100" dir="2700000" algn="tl">
                    <a:srgbClr val="000000">
                      <a:alpha val="43137"/>
                    </a:srgbClr>
                  </a:outerShdw>
                </a:effectLst>
              </a:rPr>
              <a:t>'[</a:t>
            </a:r>
            <a:r>
              <a:rPr lang="zh-CN" altLang="en-US" b="1" dirty="0">
                <a:solidFill>
                  <a:srgbClr val="FF0000"/>
                </a:solidFill>
                <a:effectLst>
                  <a:outerShdw blurRad="38100" dist="38100" dir="2700000" algn="tl">
                    <a:srgbClr val="000000">
                      <a:alpha val="43137"/>
                    </a:srgbClr>
                  </a:outerShdw>
                </a:effectLst>
              </a:rPr>
              <a:t>姓名</a:t>
            </a:r>
            <a:r>
              <a:rPr lang="en-US" altLang="zh-CN" b="1" dirty="0">
                <a:solidFill>
                  <a:srgbClr val="FF0000"/>
                </a:solidFill>
                <a:effectLst>
                  <a:outerShdw blurRad="38100" dist="38100" dir="2700000" algn="tl">
                    <a:srgbClr val="000000">
                      <a:alpha val="43137"/>
                    </a:srgbClr>
                  </a:outerShdw>
                </a:effectLst>
              </a:rPr>
              <a:t>])</a:t>
            </a:r>
          </a:p>
        </p:txBody>
      </p:sp>
      <p:sp>
        <p:nvSpPr>
          <p:cNvPr id="4" name="文本框 3">
            <a:extLst>
              <a:ext uri="{FF2B5EF4-FFF2-40B4-BE49-F238E27FC236}">
                <a16:creationId xmlns:a16="http://schemas.microsoft.com/office/drawing/2014/main" id="{1637D1DB-D787-4B7B-9EFD-61F6B5E44965}"/>
              </a:ext>
            </a:extLst>
          </p:cNvPr>
          <p:cNvSpPr txBox="1"/>
          <p:nvPr/>
        </p:nvSpPr>
        <p:spPr>
          <a:xfrm>
            <a:off x="4860032" y="1993365"/>
            <a:ext cx="2376264" cy="338554"/>
          </a:xfrm>
          <a:prstGeom prst="rect">
            <a:avLst/>
          </a:prstGeom>
          <a:noFill/>
        </p:spPr>
        <p:txBody>
          <a:bodyPr wrap="square" rtlCol="0">
            <a:spAutoFit/>
          </a:bodyPr>
          <a:lstStyle/>
          <a:p>
            <a:pPr algn="ctr"/>
            <a:r>
              <a:rPr lang="en-US" altLang="zh-CN" sz="1600" b="1" dirty="0">
                <a:solidFill>
                  <a:schemeClr val="bg1"/>
                </a:solidFill>
              </a:rPr>
              <a:t>DISTINCT</a:t>
            </a:r>
            <a:r>
              <a:rPr lang="zh-CN" altLang="en-US" sz="1600" b="1" dirty="0">
                <a:solidFill>
                  <a:schemeClr val="bg1"/>
                </a:solidFill>
              </a:rPr>
              <a:t>提取不重复</a:t>
            </a:r>
          </a:p>
        </p:txBody>
      </p:sp>
      <p:sp>
        <p:nvSpPr>
          <p:cNvPr id="5" name="文本框 4">
            <a:extLst>
              <a:ext uri="{FF2B5EF4-FFF2-40B4-BE49-F238E27FC236}">
                <a16:creationId xmlns:a16="http://schemas.microsoft.com/office/drawing/2014/main" id="{1E525737-14A0-4CB6-84D7-C283F71748AF}"/>
              </a:ext>
            </a:extLst>
          </p:cNvPr>
          <p:cNvSpPr txBox="1"/>
          <p:nvPr/>
        </p:nvSpPr>
        <p:spPr>
          <a:xfrm>
            <a:off x="683568" y="2611319"/>
            <a:ext cx="8136904" cy="923330"/>
          </a:xfrm>
          <a:prstGeom prst="rect">
            <a:avLst/>
          </a:prstGeom>
          <a:noFill/>
        </p:spPr>
        <p:txBody>
          <a:bodyPr wrap="square" rtlCol="0">
            <a:spAutoFit/>
          </a:bodyPr>
          <a:lstStyle/>
          <a:p>
            <a:r>
              <a:rPr lang="en-US" altLang="zh-CN" b="1" dirty="0">
                <a:solidFill>
                  <a:schemeClr val="bg1"/>
                </a:solidFill>
              </a:rPr>
              <a:t>4.</a:t>
            </a:r>
            <a:r>
              <a:rPr lang="zh-CN" altLang="en-US" b="1" dirty="0">
                <a:solidFill>
                  <a:schemeClr val="bg1"/>
                </a:solidFill>
              </a:rPr>
              <a:t>新增空表：当度量值较多时用来存放度量值</a:t>
            </a:r>
            <a:endParaRPr lang="en-US" altLang="zh-CN" b="1" dirty="0">
              <a:solidFill>
                <a:schemeClr val="bg1"/>
              </a:solidFill>
              <a:effectLst>
                <a:outerShdw blurRad="38100" dist="38100" dir="2700000" algn="tl">
                  <a:srgbClr val="000000">
                    <a:alpha val="43137"/>
                  </a:srgbClr>
                </a:outerShdw>
              </a:effectLst>
            </a:endParaRPr>
          </a:p>
          <a:p>
            <a:endParaRPr lang="en-US" altLang="zh-CN" b="1" dirty="0">
              <a:solidFill>
                <a:schemeClr val="bg1"/>
              </a:solidFill>
              <a:effectLst>
                <a:outerShdw blurRad="38100" dist="38100" dir="2700000" algn="tl">
                  <a:srgbClr val="000000">
                    <a:alpha val="43137"/>
                  </a:srgbClr>
                </a:outerShdw>
              </a:effectLst>
            </a:endParaRPr>
          </a:p>
          <a:p>
            <a:r>
              <a:rPr lang="zh-CN" altLang="en-US" b="1" dirty="0">
                <a:solidFill>
                  <a:srgbClr val="FF0000"/>
                </a:solidFill>
                <a:effectLst>
                  <a:outerShdw blurRad="38100" dist="38100" dir="2700000" algn="tl">
                    <a:srgbClr val="000000">
                      <a:alpha val="43137"/>
                    </a:srgbClr>
                  </a:outerShdw>
                </a:effectLst>
              </a:rPr>
              <a:t>度量值表 </a:t>
            </a:r>
            <a:r>
              <a:rPr lang="en-US" altLang="zh-CN" b="1" dirty="0">
                <a:solidFill>
                  <a:srgbClr val="FF0000"/>
                </a:solidFill>
                <a:effectLst>
                  <a:outerShdw blurRad="38100" dist="38100" dir="2700000" algn="tl">
                    <a:srgbClr val="000000">
                      <a:alpha val="43137"/>
                    </a:srgbClr>
                  </a:outerShdw>
                </a:effectLst>
              </a:rPr>
              <a:t>= ROW("</a:t>
            </a:r>
            <a:r>
              <a:rPr lang="zh-CN" altLang="en-US" b="1" dirty="0">
                <a:solidFill>
                  <a:srgbClr val="FF0000"/>
                </a:solidFill>
                <a:effectLst>
                  <a:outerShdw blurRad="38100" dist="38100" dir="2700000" algn="tl">
                    <a:srgbClr val="000000">
                      <a:alpha val="43137"/>
                    </a:srgbClr>
                  </a:outerShdw>
                </a:effectLst>
              </a:rPr>
              <a:t>度量值</a:t>
            </a:r>
            <a:r>
              <a:rPr lang="en-US" altLang="zh-CN" b="1" dirty="0">
                <a:solidFill>
                  <a:srgbClr val="FF0000"/>
                </a:solidFill>
                <a:effectLst>
                  <a:outerShdw blurRad="38100" dist="38100" dir="2700000" algn="tl">
                    <a:srgbClr val="000000">
                      <a:alpha val="43137"/>
                    </a:srgbClr>
                  </a:outerShdw>
                </a:effectLst>
              </a:rPr>
              <a:t>", BLANK())</a:t>
            </a:r>
          </a:p>
        </p:txBody>
      </p:sp>
      <p:sp>
        <p:nvSpPr>
          <p:cNvPr id="6" name="文本框 5">
            <a:extLst>
              <a:ext uri="{FF2B5EF4-FFF2-40B4-BE49-F238E27FC236}">
                <a16:creationId xmlns:a16="http://schemas.microsoft.com/office/drawing/2014/main" id="{53713B4B-1486-470A-A1B5-816D02111A70}"/>
              </a:ext>
            </a:extLst>
          </p:cNvPr>
          <p:cNvSpPr txBox="1"/>
          <p:nvPr/>
        </p:nvSpPr>
        <p:spPr>
          <a:xfrm>
            <a:off x="755576" y="3867894"/>
            <a:ext cx="5184576" cy="369332"/>
          </a:xfrm>
          <a:prstGeom prst="rect">
            <a:avLst/>
          </a:prstGeom>
          <a:noFill/>
        </p:spPr>
        <p:txBody>
          <a:bodyPr wrap="square" rtlCol="0">
            <a:spAutoFit/>
          </a:bodyPr>
          <a:lstStyle/>
          <a:p>
            <a:r>
              <a:rPr lang="en-US" altLang="zh-CN" b="1" dirty="0">
                <a:solidFill>
                  <a:schemeClr val="bg1"/>
                </a:solidFill>
              </a:rPr>
              <a:t>5.</a:t>
            </a:r>
            <a:r>
              <a:rPr lang="zh-CN" altLang="en-US" b="1" dirty="0">
                <a:solidFill>
                  <a:schemeClr val="bg1"/>
                </a:solidFill>
              </a:rPr>
              <a:t>特殊需要：</a:t>
            </a:r>
            <a:r>
              <a:rPr lang="zh-CN" altLang="en-US" b="1" dirty="0">
                <a:solidFill>
                  <a:srgbClr val="FFFF00"/>
                </a:solidFill>
              </a:rPr>
              <a:t>关联</a:t>
            </a:r>
            <a:r>
              <a:rPr lang="en-US" altLang="zh-CN" b="1" dirty="0">
                <a:solidFill>
                  <a:srgbClr val="FFFF00"/>
                </a:solidFill>
              </a:rPr>
              <a:t>xx</a:t>
            </a:r>
            <a:r>
              <a:rPr lang="zh-CN" altLang="en-US" b="1" dirty="0">
                <a:solidFill>
                  <a:srgbClr val="FFFF00"/>
                </a:solidFill>
              </a:rPr>
              <a:t>表 </a:t>
            </a:r>
            <a:r>
              <a:rPr lang="en-US" altLang="zh-CN" b="1" dirty="0">
                <a:solidFill>
                  <a:srgbClr val="FFFF00"/>
                </a:solidFill>
              </a:rPr>
              <a:t>= ‘</a:t>
            </a:r>
            <a:r>
              <a:rPr lang="zh-CN" altLang="en-US" b="1" dirty="0">
                <a:solidFill>
                  <a:srgbClr val="FFFF00"/>
                </a:solidFill>
              </a:rPr>
              <a:t>表名</a:t>
            </a:r>
            <a:r>
              <a:rPr lang="en-US" altLang="zh-CN" b="1" dirty="0">
                <a:solidFill>
                  <a:srgbClr val="FFFF00"/>
                </a:solidFill>
              </a:rPr>
              <a:t>’</a:t>
            </a:r>
            <a:endParaRPr lang="zh-CN" altLang="en-US" b="1" dirty="0">
              <a:solidFill>
                <a:srgbClr val="FFFF00"/>
              </a:solidFill>
            </a:endParaRPr>
          </a:p>
        </p:txBody>
      </p:sp>
    </p:spTree>
    <p:extLst>
      <p:ext uri="{BB962C8B-B14F-4D97-AF65-F5344CB8AC3E}">
        <p14:creationId xmlns:p14="http://schemas.microsoft.com/office/powerpoint/2010/main" val="2857806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26E0B0-8268-47BB-8EF0-D0A6B9278139}"/>
              </a:ext>
            </a:extLst>
          </p:cNvPr>
          <p:cNvSpPr txBox="1"/>
          <p:nvPr/>
        </p:nvSpPr>
        <p:spPr>
          <a:xfrm>
            <a:off x="683568" y="339502"/>
            <a:ext cx="1728192" cy="369332"/>
          </a:xfrm>
          <a:prstGeom prst="rect">
            <a:avLst/>
          </a:prstGeom>
          <a:noFill/>
        </p:spPr>
        <p:txBody>
          <a:bodyPr wrap="square" rtlCol="0">
            <a:spAutoFit/>
          </a:bodyPr>
          <a:lstStyle/>
          <a:p>
            <a:r>
              <a:rPr lang="en-US" altLang="zh-CN" b="1" dirty="0">
                <a:solidFill>
                  <a:schemeClr val="bg1"/>
                </a:solidFill>
              </a:rPr>
              <a:t>6.</a:t>
            </a:r>
            <a:r>
              <a:rPr lang="zh-CN" altLang="en-US" b="1" dirty="0">
                <a:solidFill>
                  <a:schemeClr val="bg1"/>
                </a:solidFill>
              </a:rPr>
              <a:t>生成日期表</a:t>
            </a:r>
            <a:endParaRPr lang="en-US" altLang="zh-CN" b="1" dirty="0">
              <a:solidFill>
                <a:schemeClr val="bg1"/>
              </a:solidFill>
            </a:endParaRPr>
          </a:p>
        </p:txBody>
      </p:sp>
      <p:sp>
        <p:nvSpPr>
          <p:cNvPr id="3" name="文本框 2">
            <a:extLst>
              <a:ext uri="{FF2B5EF4-FFF2-40B4-BE49-F238E27FC236}">
                <a16:creationId xmlns:a16="http://schemas.microsoft.com/office/drawing/2014/main" id="{D55BB6A8-4392-4318-A21A-6795561E3A37}"/>
              </a:ext>
            </a:extLst>
          </p:cNvPr>
          <p:cNvSpPr txBox="1"/>
          <p:nvPr/>
        </p:nvSpPr>
        <p:spPr>
          <a:xfrm>
            <a:off x="899592" y="843558"/>
            <a:ext cx="8136904" cy="646331"/>
          </a:xfrm>
          <a:prstGeom prst="rect">
            <a:avLst/>
          </a:prstGeom>
          <a:noFill/>
        </p:spPr>
        <p:txBody>
          <a:bodyPr wrap="square" rtlCol="0">
            <a:spAutoFit/>
          </a:bodyPr>
          <a:lstStyle/>
          <a:p>
            <a:r>
              <a:rPr lang="zh-CN" altLang="en-US" b="1" dirty="0">
                <a:solidFill>
                  <a:schemeClr val="bg1"/>
                </a:solidFill>
              </a:rPr>
              <a:t>        如果数据模型中没有日期表，</a:t>
            </a:r>
            <a:r>
              <a:rPr lang="zh-CN" altLang="en-US" b="1" dirty="0">
                <a:solidFill>
                  <a:srgbClr val="FF0000"/>
                </a:solidFill>
              </a:rPr>
              <a:t>不用去找</a:t>
            </a:r>
            <a:r>
              <a:rPr lang="zh-CN" altLang="en-US" b="1" dirty="0">
                <a:solidFill>
                  <a:schemeClr val="bg1"/>
                </a:solidFill>
              </a:rPr>
              <a:t>一个日期表导入进来，可以直接输入以下代码生成日期表。</a:t>
            </a:r>
            <a:endParaRPr lang="en-US" altLang="zh-CN" b="1" dirty="0">
              <a:solidFill>
                <a:schemeClr val="bg1"/>
              </a:solidFill>
            </a:endParaRPr>
          </a:p>
        </p:txBody>
      </p:sp>
      <p:sp>
        <p:nvSpPr>
          <p:cNvPr id="4" name="文本框 3">
            <a:extLst>
              <a:ext uri="{FF2B5EF4-FFF2-40B4-BE49-F238E27FC236}">
                <a16:creationId xmlns:a16="http://schemas.microsoft.com/office/drawing/2014/main" id="{4912F69F-35D0-45A5-ABB1-FECFD56E7DF8}"/>
              </a:ext>
            </a:extLst>
          </p:cNvPr>
          <p:cNvSpPr txBox="1"/>
          <p:nvPr/>
        </p:nvSpPr>
        <p:spPr>
          <a:xfrm>
            <a:off x="899592" y="1851670"/>
            <a:ext cx="7848872" cy="2246769"/>
          </a:xfrm>
          <a:prstGeom prst="rect">
            <a:avLst/>
          </a:prstGeom>
          <a:noFill/>
        </p:spPr>
        <p:txBody>
          <a:bodyPr wrap="square" rtlCol="0">
            <a:spAutoFit/>
          </a:bodyPr>
          <a:lstStyle/>
          <a:p>
            <a:r>
              <a:rPr lang="zh-CN" altLang="en-US" sz="1600" b="1" dirty="0">
                <a:solidFill>
                  <a:srgbClr val="FEFEFE"/>
                </a:solidFill>
                <a:effectLst>
                  <a:outerShdw blurRad="38100" dist="38100" dir="2700000" algn="tl">
                    <a:srgbClr val="000000">
                      <a:alpha val="43137"/>
                    </a:srgbClr>
                  </a:outerShdw>
                </a:effectLst>
              </a:rPr>
              <a:t>日期 </a:t>
            </a:r>
            <a:r>
              <a:rPr lang="en-US" altLang="zh-CN" sz="1600" b="1" dirty="0">
                <a:solidFill>
                  <a:srgbClr val="FEFEFE"/>
                </a:solidFill>
                <a:effectLst>
                  <a:outerShdw blurRad="38100" dist="38100" dir="2700000" algn="tl">
                    <a:srgbClr val="000000">
                      <a:alpha val="43137"/>
                    </a:srgbClr>
                  </a:outerShdw>
                </a:effectLst>
              </a:rPr>
              <a:t>= ADDCOLUMNS (</a:t>
            </a:r>
          </a:p>
          <a:p>
            <a:r>
              <a:rPr lang="en-US" altLang="zh-CN" sz="1600" b="1" dirty="0">
                <a:solidFill>
                  <a:srgbClr val="FEFEFE"/>
                </a:solidFill>
                <a:effectLst>
                  <a:outerShdw blurRad="38100" dist="38100" dir="2700000" algn="tl">
                    <a:srgbClr val="000000">
                      <a:alpha val="43137"/>
                    </a:srgbClr>
                  </a:outerShdw>
                </a:effectLst>
              </a:rPr>
              <a:t>CALENDAR (DATE(</a:t>
            </a:r>
            <a:r>
              <a:rPr lang="en-US" altLang="zh-CN" sz="1600" b="1" dirty="0">
                <a:solidFill>
                  <a:srgbClr val="FFFF00"/>
                </a:solidFill>
                <a:effectLst>
                  <a:outerShdw blurRad="38100" dist="38100" dir="2700000" algn="tl">
                    <a:srgbClr val="000000">
                      <a:alpha val="43137"/>
                    </a:srgbClr>
                  </a:outerShdw>
                </a:effectLst>
              </a:rPr>
              <a:t>2019,1,1</a:t>
            </a:r>
            <a:r>
              <a:rPr lang="en-US" altLang="zh-CN" sz="1600" b="1" dirty="0">
                <a:solidFill>
                  <a:srgbClr val="FEFEFE"/>
                </a:solidFill>
                <a:effectLst>
                  <a:outerShdw blurRad="38100" dist="38100" dir="2700000" algn="tl">
                    <a:srgbClr val="000000">
                      <a:alpha val="43137"/>
                    </a:srgbClr>
                  </a:outerShdw>
                </a:effectLst>
              </a:rPr>
              <a:t>), DATE(</a:t>
            </a:r>
            <a:r>
              <a:rPr lang="en-US" altLang="zh-CN" sz="1600" b="1" dirty="0">
                <a:solidFill>
                  <a:srgbClr val="FFFF00"/>
                </a:solidFill>
                <a:effectLst>
                  <a:outerShdw blurRad="38100" dist="38100" dir="2700000" algn="tl">
                    <a:srgbClr val="000000">
                      <a:alpha val="43137"/>
                    </a:srgbClr>
                  </a:outerShdw>
                </a:effectLst>
              </a:rPr>
              <a:t>2019,12,31</a:t>
            </a:r>
            <a:r>
              <a:rPr lang="en-US" altLang="zh-CN" sz="1600" b="1" dirty="0">
                <a:solidFill>
                  <a:srgbClr val="FEFEFE"/>
                </a:solidFill>
                <a:effectLst>
                  <a:outerShdw blurRad="38100" dist="38100" dir="2700000" algn="tl">
                    <a:srgbClr val="000000">
                      <a:alpha val="43137"/>
                    </a:srgbClr>
                  </a:outerShdw>
                </a:effectLst>
              </a:rPr>
              <a:t>)),</a:t>
            </a:r>
          </a:p>
          <a:p>
            <a:r>
              <a:rPr lang="en-US" altLang="zh-CN" sz="1600" b="1" dirty="0">
                <a:solidFill>
                  <a:srgbClr val="FEFEFE"/>
                </a:solidFill>
                <a:effectLst>
                  <a:outerShdw blurRad="38100" dist="38100" dir="2700000" algn="tl">
                    <a:srgbClr val="000000">
                      <a:alpha val="43137"/>
                    </a:srgbClr>
                  </a:outerShdw>
                </a:effectLst>
              </a:rPr>
              <a:t>"</a:t>
            </a:r>
            <a:r>
              <a:rPr lang="zh-CN" altLang="en-US" sz="1600" b="1" dirty="0">
                <a:solidFill>
                  <a:srgbClr val="FEFEFE"/>
                </a:solidFill>
                <a:effectLst>
                  <a:outerShdw blurRad="38100" dist="38100" dir="2700000" algn="tl">
                    <a:srgbClr val="000000">
                      <a:alpha val="43137"/>
                    </a:srgbClr>
                  </a:outerShdw>
                </a:effectLst>
              </a:rPr>
              <a:t>年度</a:t>
            </a:r>
            <a:r>
              <a:rPr lang="en-US" altLang="zh-CN" sz="1600" b="1" dirty="0">
                <a:solidFill>
                  <a:srgbClr val="FEFEFE"/>
                </a:solidFill>
                <a:effectLst>
                  <a:outerShdw blurRad="38100" dist="38100" dir="2700000" algn="tl">
                    <a:srgbClr val="000000">
                      <a:alpha val="43137"/>
                    </a:srgbClr>
                  </a:outerShdw>
                </a:effectLst>
              </a:rPr>
              <a:t>", YEAR ( [Date] ),</a:t>
            </a:r>
          </a:p>
          <a:p>
            <a:r>
              <a:rPr lang="en-US" altLang="zh-CN" sz="1600" b="1" dirty="0">
                <a:solidFill>
                  <a:srgbClr val="FEFEFE"/>
                </a:solidFill>
                <a:effectLst>
                  <a:outerShdw blurRad="38100" dist="38100" dir="2700000" algn="tl">
                    <a:srgbClr val="000000">
                      <a:alpha val="43137"/>
                    </a:srgbClr>
                  </a:outerShdw>
                </a:effectLst>
              </a:rPr>
              <a:t>"</a:t>
            </a:r>
            <a:r>
              <a:rPr lang="zh-CN" altLang="en-US" sz="1600" b="1" dirty="0">
                <a:solidFill>
                  <a:srgbClr val="FEFEFE"/>
                </a:solidFill>
                <a:effectLst>
                  <a:outerShdw blurRad="38100" dist="38100" dir="2700000" algn="tl">
                    <a:srgbClr val="000000">
                      <a:alpha val="43137"/>
                    </a:srgbClr>
                  </a:outerShdw>
                </a:effectLst>
              </a:rPr>
              <a:t>月份</a:t>
            </a:r>
            <a:r>
              <a:rPr lang="en-US" altLang="zh-CN" sz="1600" b="1" dirty="0">
                <a:solidFill>
                  <a:srgbClr val="FEFEFE"/>
                </a:solidFill>
                <a:effectLst>
                  <a:outerShdw blurRad="38100" dist="38100" dir="2700000" algn="tl">
                    <a:srgbClr val="000000">
                      <a:alpha val="43137"/>
                    </a:srgbClr>
                  </a:outerShdw>
                </a:effectLst>
              </a:rPr>
              <a:t>", FORMAT ( [Date], "MM" ),</a:t>
            </a:r>
          </a:p>
          <a:p>
            <a:r>
              <a:rPr lang="en-US" altLang="zh-CN" sz="1600" b="1" dirty="0">
                <a:solidFill>
                  <a:srgbClr val="FEFEFE"/>
                </a:solidFill>
                <a:effectLst>
                  <a:outerShdw blurRad="38100" dist="38100" dir="2700000" algn="tl">
                    <a:srgbClr val="000000">
                      <a:alpha val="43137"/>
                    </a:srgbClr>
                  </a:outerShdw>
                </a:effectLst>
              </a:rPr>
              <a:t>"</a:t>
            </a:r>
            <a:r>
              <a:rPr lang="zh-CN" altLang="en-US" sz="1600" b="1" dirty="0">
                <a:solidFill>
                  <a:srgbClr val="FEFEFE"/>
                </a:solidFill>
                <a:effectLst>
                  <a:outerShdw blurRad="38100" dist="38100" dir="2700000" algn="tl">
                    <a:srgbClr val="000000">
                      <a:alpha val="43137"/>
                    </a:srgbClr>
                  </a:outerShdw>
                </a:effectLst>
              </a:rPr>
              <a:t>年月</a:t>
            </a:r>
            <a:r>
              <a:rPr lang="en-US" altLang="zh-CN" sz="1600" b="1" dirty="0">
                <a:solidFill>
                  <a:srgbClr val="FEFEFE"/>
                </a:solidFill>
                <a:effectLst>
                  <a:outerShdw blurRad="38100" dist="38100" dir="2700000" algn="tl">
                    <a:srgbClr val="000000">
                      <a:alpha val="43137"/>
                    </a:srgbClr>
                  </a:outerShdw>
                </a:effectLst>
              </a:rPr>
              <a:t>", FORMAT ( [Date], "YYYY/MM" ),</a:t>
            </a:r>
          </a:p>
          <a:p>
            <a:r>
              <a:rPr lang="en-US" altLang="zh-CN" sz="1600" b="1" dirty="0">
                <a:solidFill>
                  <a:srgbClr val="FEFEFE"/>
                </a:solidFill>
                <a:effectLst>
                  <a:outerShdw blurRad="38100" dist="38100" dir="2700000" algn="tl">
                    <a:srgbClr val="000000">
                      <a:alpha val="43137"/>
                    </a:srgbClr>
                  </a:outerShdw>
                </a:effectLst>
              </a:rPr>
              <a:t>"</a:t>
            </a:r>
            <a:r>
              <a:rPr lang="zh-CN" altLang="en-US" sz="1600" b="1" dirty="0">
                <a:solidFill>
                  <a:srgbClr val="FEFEFE"/>
                </a:solidFill>
                <a:effectLst>
                  <a:outerShdw blurRad="38100" dist="38100" dir="2700000" algn="tl">
                    <a:srgbClr val="000000">
                      <a:alpha val="43137"/>
                    </a:srgbClr>
                  </a:outerShdw>
                </a:effectLst>
              </a:rPr>
              <a:t>星期</a:t>
            </a:r>
            <a:r>
              <a:rPr lang="en-US" altLang="zh-CN" sz="1600" b="1" dirty="0">
                <a:solidFill>
                  <a:srgbClr val="FEFEFE"/>
                </a:solidFill>
                <a:effectLst>
                  <a:outerShdw blurRad="38100" dist="38100" dir="2700000" algn="tl">
                    <a:srgbClr val="000000">
                      <a:alpha val="43137"/>
                    </a:srgbClr>
                  </a:outerShdw>
                </a:effectLst>
              </a:rPr>
              <a:t>", WEEKDAY ( [Date] ) &amp; "-" &amp; FORMAT ( [Date], "</a:t>
            </a:r>
            <a:r>
              <a:rPr lang="en-US" altLang="zh-CN" sz="1600" b="1" dirty="0" err="1">
                <a:solidFill>
                  <a:srgbClr val="FEFEFE"/>
                </a:solidFill>
                <a:effectLst>
                  <a:outerShdw blurRad="38100" dist="38100" dir="2700000" algn="tl">
                    <a:srgbClr val="000000">
                      <a:alpha val="43137"/>
                    </a:srgbClr>
                  </a:outerShdw>
                </a:effectLst>
              </a:rPr>
              <a:t>ddd</a:t>
            </a:r>
            <a:r>
              <a:rPr lang="en-US" altLang="zh-CN" sz="1600" b="1" dirty="0">
                <a:solidFill>
                  <a:srgbClr val="FEFEFE"/>
                </a:solidFill>
                <a:effectLst>
                  <a:outerShdw blurRad="38100" dist="38100" dir="2700000" algn="tl">
                    <a:srgbClr val="000000">
                      <a:alpha val="43137"/>
                    </a:srgbClr>
                  </a:outerShdw>
                </a:effectLst>
              </a:rPr>
              <a:t>" ),</a:t>
            </a:r>
          </a:p>
          <a:p>
            <a:r>
              <a:rPr lang="en-US" altLang="zh-CN" sz="1600" b="1" dirty="0">
                <a:solidFill>
                  <a:srgbClr val="FEFEFE"/>
                </a:solidFill>
                <a:effectLst>
                  <a:outerShdw blurRad="38100" dist="38100" dir="2700000" algn="tl">
                    <a:srgbClr val="000000">
                      <a:alpha val="43137"/>
                    </a:srgbClr>
                  </a:outerShdw>
                </a:effectLst>
              </a:rPr>
              <a:t>"</a:t>
            </a:r>
            <a:r>
              <a:rPr lang="zh-CN" altLang="en-US" sz="1600" b="1" dirty="0">
                <a:solidFill>
                  <a:srgbClr val="FEFEFE"/>
                </a:solidFill>
                <a:effectLst>
                  <a:outerShdw blurRad="38100" dist="38100" dir="2700000" algn="tl">
                    <a:srgbClr val="000000">
                      <a:alpha val="43137"/>
                    </a:srgbClr>
                  </a:outerShdw>
                </a:effectLst>
              </a:rPr>
              <a:t>季度</a:t>
            </a:r>
            <a:r>
              <a:rPr lang="en-US" altLang="zh-CN" sz="1600" b="1" dirty="0">
                <a:solidFill>
                  <a:srgbClr val="FEFEFE"/>
                </a:solidFill>
                <a:effectLst>
                  <a:outerShdw blurRad="38100" dist="38100" dir="2700000" algn="tl">
                    <a:srgbClr val="000000">
                      <a:alpha val="43137"/>
                    </a:srgbClr>
                  </a:outerShdw>
                </a:effectLst>
              </a:rPr>
              <a:t>", "Q" &amp; FORMAT ( [Date], "Q" ),</a:t>
            </a:r>
          </a:p>
          <a:p>
            <a:r>
              <a:rPr lang="en-US" altLang="zh-CN" sz="1600" b="1" dirty="0">
                <a:solidFill>
                  <a:srgbClr val="FEFEFE"/>
                </a:solidFill>
                <a:effectLst>
                  <a:outerShdw blurRad="38100" dist="38100" dir="2700000" algn="tl">
                    <a:srgbClr val="000000">
                      <a:alpha val="43137"/>
                    </a:srgbClr>
                  </a:outerShdw>
                </a:effectLst>
              </a:rPr>
              <a:t>"</a:t>
            </a:r>
            <a:r>
              <a:rPr lang="zh-CN" altLang="en-US" sz="1600" b="1" dirty="0">
                <a:solidFill>
                  <a:srgbClr val="FEFEFE"/>
                </a:solidFill>
                <a:effectLst>
                  <a:outerShdw blurRad="38100" dist="38100" dir="2700000" algn="tl">
                    <a:srgbClr val="000000">
                      <a:alpha val="43137"/>
                    </a:srgbClr>
                  </a:outerShdw>
                </a:effectLst>
              </a:rPr>
              <a:t>年份季度</a:t>
            </a:r>
            <a:r>
              <a:rPr lang="en-US" altLang="zh-CN" sz="1600" b="1" dirty="0">
                <a:solidFill>
                  <a:srgbClr val="FEFEFE"/>
                </a:solidFill>
                <a:effectLst>
                  <a:outerShdw blurRad="38100" dist="38100" dir="2700000" algn="tl">
                    <a:srgbClr val="000000">
                      <a:alpha val="43137"/>
                    </a:srgbClr>
                  </a:outerShdw>
                </a:effectLst>
              </a:rPr>
              <a:t>", FORMAT ( [Date], "YYYY" ) &amp; "/Q" &amp; FORMAT ( [Date], "Q" ))</a:t>
            </a:r>
          </a:p>
          <a:p>
            <a:pPr algn="ctr"/>
            <a:endParaRPr lang="zh-CN" altLang="en-US" sz="1200" b="1" dirty="0">
              <a:solidFill>
                <a:schemeClr val="bg1"/>
              </a:solidFill>
            </a:endParaRPr>
          </a:p>
        </p:txBody>
      </p:sp>
      <p:sp>
        <p:nvSpPr>
          <p:cNvPr id="5" name="文本框 4">
            <a:extLst>
              <a:ext uri="{FF2B5EF4-FFF2-40B4-BE49-F238E27FC236}">
                <a16:creationId xmlns:a16="http://schemas.microsoft.com/office/drawing/2014/main" id="{D3EBA9F7-4A04-4583-A6C6-17FAE740469E}"/>
              </a:ext>
            </a:extLst>
          </p:cNvPr>
          <p:cNvSpPr txBox="1"/>
          <p:nvPr/>
        </p:nvSpPr>
        <p:spPr>
          <a:xfrm>
            <a:off x="683568" y="4227934"/>
            <a:ext cx="49857" cy="307777"/>
          </a:xfrm>
          <a:prstGeom prst="rect">
            <a:avLst/>
          </a:prstGeom>
          <a:noFill/>
        </p:spPr>
        <p:txBody>
          <a:bodyPr wrap="square" rtlCol="0">
            <a:spAutoFit/>
          </a:bodyPr>
          <a:lstStyle/>
          <a:p>
            <a:pPr algn="ctr"/>
            <a:endParaRPr lang="zh-CN" altLang="en-US" sz="1400" b="1" dirty="0">
              <a:solidFill>
                <a:schemeClr val="bg1"/>
              </a:solidFill>
            </a:endParaRPr>
          </a:p>
        </p:txBody>
      </p:sp>
      <p:sp>
        <p:nvSpPr>
          <p:cNvPr id="6" name="文本框 5">
            <a:extLst>
              <a:ext uri="{FF2B5EF4-FFF2-40B4-BE49-F238E27FC236}">
                <a16:creationId xmlns:a16="http://schemas.microsoft.com/office/drawing/2014/main" id="{D3DF3EE4-CACF-43C9-992E-AADB95A14C6E}"/>
              </a:ext>
            </a:extLst>
          </p:cNvPr>
          <p:cNvSpPr txBox="1"/>
          <p:nvPr/>
        </p:nvSpPr>
        <p:spPr>
          <a:xfrm>
            <a:off x="1037951" y="4098439"/>
            <a:ext cx="7268592" cy="276999"/>
          </a:xfrm>
          <a:prstGeom prst="rect">
            <a:avLst/>
          </a:prstGeom>
          <a:noFill/>
        </p:spPr>
        <p:txBody>
          <a:bodyPr wrap="none" rtlCol="0">
            <a:spAutoFit/>
          </a:bodyPr>
          <a:lstStyle/>
          <a:p>
            <a:pPr algn="ctr"/>
            <a:r>
              <a:rPr lang="zh-CN" altLang="en-US" sz="1200" b="1" dirty="0">
                <a:solidFill>
                  <a:srgbClr val="FFFF00"/>
                </a:solidFill>
              </a:rPr>
              <a:t>第一行利用</a:t>
            </a:r>
            <a:r>
              <a:rPr lang="en-US" altLang="zh-CN" sz="1200" b="1" dirty="0">
                <a:solidFill>
                  <a:srgbClr val="FFFF00"/>
                </a:solidFill>
              </a:rPr>
              <a:t>CALENDAR</a:t>
            </a:r>
            <a:r>
              <a:rPr lang="zh-CN" altLang="en-US" sz="1200" b="1" dirty="0">
                <a:solidFill>
                  <a:srgbClr val="FFFF00"/>
                </a:solidFill>
              </a:rPr>
              <a:t>函数设置日期表的起止日期，然后就是利用</a:t>
            </a:r>
            <a:r>
              <a:rPr lang="en-US" altLang="zh-CN" sz="1200" b="1" dirty="0">
                <a:solidFill>
                  <a:srgbClr val="FFFF00"/>
                </a:solidFill>
              </a:rPr>
              <a:t>FORMAT</a:t>
            </a:r>
            <a:r>
              <a:rPr lang="zh-CN" altLang="en-US" sz="1200" b="1" dirty="0">
                <a:solidFill>
                  <a:srgbClr val="FFFF00"/>
                </a:solidFill>
              </a:rPr>
              <a:t>函数对每一列进行格式设置</a:t>
            </a:r>
          </a:p>
        </p:txBody>
      </p:sp>
    </p:spTree>
    <p:extLst>
      <p:ext uri="{BB962C8B-B14F-4D97-AF65-F5344CB8AC3E}">
        <p14:creationId xmlns:p14="http://schemas.microsoft.com/office/powerpoint/2010/main" val="1801699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5CB0BA8-FC0D-4F3D-9203-AFE7DF2F1498}"/>
              </a:ext>
            </a:extLst>
          </p:cNvPr>
          <p:cNvSpPr txBox="1"/>
          <p:nvPr/>
        </p:nvSpPr>
        <p:spPr>
          <a:xfrm>
            <a:off x="683568" y="339502"/>
            <a:ext cx="1728192" cy="369332"/>
          </a:xfrm>
          <a:prstGeom prst="rect">
            <a:avLst/>
          </a:prstGeom>
          <a:noFill/>
        </p:spPr>
        <p:txBody>
          <a:bodyPr wrap="square" rtlCol="0">
            <a:spAutoFit/>
          </a:bodyPr>
          <a:lstStyle/>
          <a:p>
            <a:r>
              <a:rPr lang="en-US" altLang="zh-CN" b="1" dirty="0">
                <a:solidFill>
                  <a:schemeClr val="bg1"/>
                </a:solidFill>
              </a:rPr>
              <a:t>7.</a:t>
            </a:r>
            <a:r>
              <a:rPr lang="zh-CN" altLang="en-US" b="1" dirty="0">
                <a:solidFill>
                  <a:schemeClr val="bg1"/>
                </a:solidFill>
              </a:rPr>
              <a:t>快速度量值</a:t>
            </a:r>
            <a:endParaRPr lang="en-US" altLang="zh-CN" b="1" dirty="0">
              <a:solidFill>
                <a:schemeClr val="bg1"/>
              </a:solidFill>
            </a:endParaRPr>
          </a:p>
        </p:txBody>
      </p:sp>
      <p:pic>
        <p:nvPicPr>
          <p:cNvPr id="3" name="图片 2">
            <a:extLst>
              <a:ext uri="{FF2B5EF4-FFF2-40B4-BE49-F238E27FC236}">
                <a16:creationId xmlns:a16="http://schemas.microsoft.com/office/drawing/2014/main" id="{F4A920BC-64D1-416A-98ED-FDE17D14F1FA}"/>
              </a:ext>
            </a:extLst>
          </p:cNvPr>
          <p:cNvPicPr>
            <a:picLocks noChangeAspect="1"/>
          </p:cNvPicPr>
          <p:nvPr/>
        </p:nvPicPr>
        <p:blipFill>
          <a:blip r:embed="rId2"/>
          <a:stretch>
            <a:fillRect/>
          </a:stretch>
        </p:blipFill>
        <p:spPr>
          <a:xfrm>
            <a:off x="539552" y="706181"/>
            <a:ext cx="2664296" cy="1973754"/>
          </a:xfrm>
          <a:prstGeom prst="rect">
            <a:avLst/>
          </a:prstGeom>
        </p:spPr>
      </p:pic>
      <p:pic>
        <p:nvPicPr>
          <p:cNvPr id="4" name="图片 3">
            <a:extLst>
              <a:ext uri="{FF2B5EF4-FFF2-40B4-BE49-F238E27FC236}">
                <a16:creationId xmlns:a16="http://schemas.microsoft.com/office/drawing/2014/main" id="{37CA0264-5D15-4127-B8A9-71BC29005368}"/>
              </a:ext>
            </a:extLst>
          </p:cNvPr>
          <p:cNvPicPr>
            <a:picLocks noChangeAspect="1"/>
          </p:cNvPicPr>
          <p:nvPr/>
        </p:nvPicPr>
        <p:blipFill>
          <a:blip r:embed="rId3"/>
          <a:stretch>
            <a:fillRect/>
          </a:stretch>
        </p:blipFill>
        <p:spPr>
          <a:xfrm>
            <a:off x="3491880" y="1262248"/>
            <a:ext cx="4086225" cy="1438275"/>
          </a:xfrm>
          <a:prstGeom prst="rect">
            <a:avLst/>
          </a:prstGeom>
        </p:spPr>
      </p:pic>
      <p:sp>
        <p:nvSpPr>
          <p:cNvPr id="5" name="文本框 4">
            <a:extLst>
              <a:ext uri="{FF2B5EF4-FFF2-40B4-BE49-F238E27FC236}">
                <a16:creationId xmlns:a16="http://schemas.microsoft.com/office/drawing/2014/main" id="{25AE7557-7DC1-495A-BC28-77C647254C97}"/>
              </a:ext>
            </a:extLst>
          </p:cNvPr>
          <p:cNvSpPr txBox="1"/>
          <p:nvPr/>
        </p:nvSpPr>
        <p:spPr>
          <a:xfrm>
            <a:off x="3477766" y="706181"/>
            <a:ext cx="3888432" cy="369332"/>
          </a:xfrm>
          <a:prstGeom prst="rect">
            <a:avLst/>
          </a:prstGeom>
          <a:noFill/>
        </p:spPr>
        <p:txBody>
          <a:bodyPr wrap="square" rtlCol="0">
            <a:spAutoFit/>
          </a:bodyPr>
          <a:lstStyle/>
          <a:p>
            <a:pPr algn="ctr"/>
            <a:r>
              <a:rPr lang="zh-CN" altLang="en-US" b="1" dirty="0">
                <a:solidFill>
                  <a:schemeClr val="bg1"/>
                </a:solidFill>
                <a:effectLst>
                  <a:outerShdw blurRad="38100" dist="38100" dir="2700000" algn="tl">
                    <a:srgbClr val="000000">
                      <a:alpha val="43137"/>
                    </a:srgbClr>
                  </a:outerShdw>
                </a:effectLst>
              </a:rPr>
              <a:t>度量值 </a:t>
            </a:r>
            <a:r>
              <a:rPr lang="en-US" altLang="zh-CN" b="1" dirty="0">
                <a:solidFill>
                  <a:schemeClr val="bg1"/>
                </a:solidFill>
                <a:effectLst>
                  <a:outerShdw blurRad="38100" dist="38100" dir="2700000" algn="tl">
                    <a:srgbClr val="000000">
                      <a:alpha val="43137"/>
                    </a:srgbClr>
                  </a:outerShdw>
                </a:effectLst>
              </a:rPr>
              <a:t>= SUM('1'[</a:t>
            </a:r>
            <a:r>
              <a:rPr lang="zh-CN" altLang="en-US" b="1" dirty="0">
                <a:solidFill>
                  <a:schemeClr val="bg1"/>
                </a:solidFill>
                <a:effectLst>
                  <a:outerShdw blurRad="38100" dist="38100" dir="2700000" algn="tl">
                    <a:srgbClr val="000000">
                      <a:alpha val="43137"/>
                    </a:srgbClr>
                  </a:outerShdw>
                </a:effectLst>
              </a:rPr>
              <a:t>销售金额</a:t>
            </a:r>
            <a:r>
              <a:rPr lang="en-US" altLang="zh-CN" b="1" dirty="0">
                <a:solidFill>
                  <a:schemeClr val="bg1"/>
                </a:solidFill>
                <a:effectLst>
                  <a:outerShdw blurRad="38100" dist="38100" dir="2700000" algn="tl">
                    <a:srgbClr val="000000">
                      <a:alpha val="43137"/>
                    </a:srgbClr>
                  </a:outerShdw>
                </a:effectLst>
              </a:rPr>
              <a:t>])</a:t>
            </a:r>
          </a:p>
        </p:txBody>
      </p:sp>
      <p:sp>
        <p:nvSpPr>
          <p:cNvPr id="6" name="文本框 5">
            <a:extLst>
              <a:ext uri="{FF2B5EF4-FFF2-40B4-BE49-F238E27FC236}">
                <a16:creationId xmlns:a16="http://schemas.microsoft.com/office/drawing/2014/main" id="{7E7371CC-0466-44F9-A3C8-3515757ED8B7}"/>
              </a:ext>
            </a:extLst>
          </p:cNvPr>
          <p:cNvSpPr txBox="1"/>
          <p:nvPr/>
        </p:nvSpPr>
        <p:spPr>
          <a:xfrm>
            <a:off x="539552" y="3291830"/>
            <a:ext cx="7200800" cy="307777"/>
          </a:xfrm>
          <a:prstGeom prst="rect">
            <a:avLst/>
          </a:prstGeom>
          <a:noFill/>
        </p:spPr>
        <p:txBody>
          <a:bodyPr wrap="square" rtlCol="0">
            <a:spAutoFit/>
          </a:bodyPr>
          <a:lstStyle/>
          <a:p>
            <a:pPr algn="ctr"/>
            <a:r>
              <a:rPr lang="zh-CN" altLang="en-US" sz="1400" b="1" dirty="0">
                <a:solidFill>
                  <a:schemeClr val="bg1"/>
                </a:solidFill>
              </a:rPr>
              <a:t>看着复杂，其实跟</a:t>
            </a:r>
            <a:r>
              <a:rPr lang="en-US" altLang="zh-CN" sz="1400" b="1" dirty="0">
                <a:solidFill>
                  <a:schemeClr val="bg1"/>
                </a:solidFill>
              </a:rPr>
              <a:t>VBA</a:t>
            </a:r>
            <a:r>
              <a:rPr lang="zh-CN" altLang="en-US" sz="1400" b="1" dirty="0">
                <a:solidFill>
                  <a:schemeClr val="bg1"/>
                </a:solidFill>
              </a:rPr>
              <a:t>里录制宏一样，录制的代码多，其实自己写没几行，功能是一样的。</a:t>
            </a:r>
          </a:p>
        </p:txBody>
      </p:sp>
    </p:spTree>
    <p:extLst>
      <p:ext uri="{BB962C8B-B14F-4D97-AF65-F5344CB8AC3E}">
        <p14:creationId xmlns:p14="http://schemas.microsoft.com/office/powerpoint/2010/main" val="3495530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85A949F-FF55-43CF-A801-BDE517D9BCFE}"/>
              </a:ext>
            </a:extLst>
          </p:cNvPr>
          <p:cNvSpPr txBox="1"/>
          <p:nvPr/>
        </p:nvSpPr>
        <p:spPr>
          <a:xfrm>
            <a:off x="683568" y="339502"/>
            <a:ext cx="3456384" cy="369332"/>
          </a:xfrm>
          <a:prstGeom prst="rect">
            <a:avLst/>
          </a:prstGeom>
          <a:noFill/>
        </p:spPr>
        <p:txBody>
          <a:bodyPr wrap="square" rtlCol="0">
            <a:spAutoFit/>
          </a:bodyPr>
          <a:lstStyle/>
          <a:p>
            <a:r>
              <a:rPr lang="en-US" altLang="zh-CN" b="1" dirty="0">
                <a:solidFill>
                  <a:schemeClr val="bg1"/>
                </a:solidFill>
              </a:rPr>
              <a:t>8.</a:t>
            </a:r>
            <a:r>
              <a:rPr lang="zh-CN" altLang="en-US" b="1" dirty="0">
                <a:solidFill>
                  <a:schemeClr val="bg1"/>
                </a:solidFill>
              </a:rPr>
              <a:t>体验快速度量值中的星级评分</a:t>
            </a:r>
            <a:endParaRPr lang="en-US" altLang="zh-CN" b="1" dirty="0">
              <a:solidFill>
                <a:schemeClr val="bg1"/>
              </a:solidFill>
            </a:endParaRPr>
          </a:p>
        </p:txBody>
      </p:sp>
      <p:pic>
        <p:nvPicPr>
          <p:cNvPr id="3" name="图片 2">
            <a:extLst>
              <a:ext uri="{FF2B5EF4-FFF2-40B4-BE49-F238E27FC236}">
                <a16:creationId xmlns:a16="http://schemas.microsoft.com/office/drawing/2014/main" id="{808A7088-11A1-4455-9D50-0E3A7EFD5D18}"/>
              </a:ext>
            </a:extLst>
          </p:cNvPr>
          <p:cNvPicPr>
            <a:picLocks noChangeAspect="1"/>
          </p:cNvPicPr>
          <p:nvPr/>
        </p:nvPicPr>
        <p:blipFill>
          <a:blip r:embed="rId2"/>
          <a:stretch>
            <a:fillRect/>
          </a:stretch>
        </p:blipFill>
        <p:spPr>
          <a:xfrm>
            <a:off x="683568" y="708834"/>
            <a:ext cx="2676525" cy="3686175"/>
          </a:xfrm>
          <a:prstGeom prst="rect">
            <a:avLst/>
          </a:prstGeom>
        </p:spPr>
      </p:pic>
      <p:pic>
        <p:nvPicPr>
          <p:cNvPr id="4" name="图片 3">
            <a:extLst>
              <a:ext uri="{FF2B5EF4-FFF2-40B4-BE49-F238E27FC236}">
                <a16:creationId xmlns:a16="http://schemas.microsoft.com/office/drawing/2014/main" id="{D64323BA-BEAA-453F-8EF9-1C66ACADD7E6}"/>
              </a:ext>
            </a:extLst>
          </p:cNvPr>
          <p:cNvPicPr>
            <a:picLocks noChangeAspect="1"/>
          </p:cNvPicPr>
          <p:nvPr/>
        </p:nvPicPr>
        <p:blipFill>
          <a:blip r:embed="rId3"/>
          <a:stretch>
            <a:fillRect/>
          </a:stretch>
        </p:blipFill>
        <p:spPr>
          <a:xfrm>
            <a:off x="4067944" y="680259"/>
            <a:ext cx="2680855" cy="3686175"/>
          </a:xfrm>
          <a:prstGeom prst="rect">
            <a:avLst/>
          </a:prstGeom>
        </p:spPr>
      </p:pic>
    </p:spTree>
    <p:extLst>
      <p:ext uri="{BB962C8B-B14F-4D97-AF65-F5344CB8AC3E}">
        <p14:creationId xmlns:p14="http://schemas.microsoft.com/office/powerpoint/2010/main" val="972752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1D5BCD6-CF5D-4A79-840D-2EF7A38CEBA5}"/>
              </a:ext>
            </a:extLst>
          </p:cNvPr>
          <p:cNvSpPr/>
          <p:nvPr/>
        </p:nvSpPr>
        <p:spPr>
          <a:xfrm>
            <a:off x="611560" y="339502"/>
            <a:ext cx="2485809" cy="369332"/>
          </a:xfrm>
          <a:prstGeom prst="rect">
            <a:avLst/>
          </a:prstGeom>
        </p:spPr>
        <p:txBody>
          <a:bodyPr wrap="none">
            <a:spAutoFit/>
          </a:bodyPr>
          <a:lstStyle/>
          <a:p>
            <a:r>
              <a:rPr lang="en-US" altLang="zh-CN" b="1" dirty="0">
                <a:solidFill>
                  <a:schemeClr val="bg1"/>
                </a:solidFill>
              </a:rPr>
              <a:t>9.</a:t>
            </a:r>
            <a:r>
              <a:rPr lang="zh-CN" altLang="en-US" b="1" dirty="0">
                <a:solidFill>
                  <a:schemeClr val="bg1"/>
                </a:solidFill>
              </a:rPr>
              <a:t>将数据导出回</a:t>
            </a:r>
            <a:r>
              <a:rPr lang="en-US" altLang="zh-CN" b="1" dirty="0">
                <a:solidFill>
                  <a:schemeClr val="bg1"/>
                </a:solidFill>
              </a:rPr>
              <a:t>EXCEL</a:t>
            </a:r>
          </a:p>
        </p:txBody>
      </p:sp>
      <p:sp>
        <p:nvSpPr>
          <p:cNvPr id="3" name="矩形 2">
            <a:extLst>
              <a:ext uri="{FF2B5EF4-FFF2-40B4-BE49-F238E27FC236}">
                <a16:creationId xmlns:a16="http://schemas.microsoft.com/office/drawing/2014/main" id="{2C972411-61BF-4263-A856-CAF7DEB8C3BA}"/>
              </a:ext>
            </a:extLst>
          </p:cNvPr>
          <p:cNvSpPr/>
          <p:nvPr/>
        </p:nvSpPr>
        <p:spPr>
          <a:xfrm>
            <a:off x="1259632" y="915566"/>
            <a:ext cx="7632848" cy="2585323"/>
          </a:xfrm>
          <a:prstGeom prst="rect">
            <a:avLst/>
          </a:prstGeom>
        </p:spPr>
        <p:txBody>
          <a:bodyPr wrap="square">
            <a:spAutoFit/>
          </a:bodyPr>
          <a:lstStyle/>
          <a:p>
            <a:r>
              <a:rPr lang="zh-CN" altLang="en-US" b="1" dirty="0">
                <a:solidFill>
                  <a:schemeClr val="bg1"/>
                </a:solidFill>
              </a:rPr>
              <a:t>（</a:t>
            </a:r>
            <a:r>
              <a:rPr lang="en-US" altLang="zh-CN" b="1" dirty="0">
                <a:solidFill>
                  <a:schemeClr val="bg1"/>
                </a:solidFill>
              </a:rPr>
              <a:t>1</a:t>
            </a:r>
            <a:r>
              <a:rPr lang="zh-CN" altLang="en-US" b="1" dirty="0">
                <a:solidFill>
                  <a:schemeClr val="bg1"/>
                </a:solidFill>
              </a:rPr>
              <a:t>）</a:t>
            </a:r>
            <a:r>
              <a:rPr lang="en-US" altLang="zh-CN" b="1" dirty="0">
                <a:solidFill>
                  <a:schemeClr val="bg1"/>
                </a:solidFill>
              </a:rPr>
              <a:t>PQ</a:t>
            </a:r>
            <a:r>
              <a:rPr lang="zh-CN" altLang="en-US" b="1" dirty="0">
                <a:solidFill>
                  <a:schemeClr val="bg1"/>
                </a:solidFill>
              </a:rPr>
              <a:t>里直接右键复制粘贴选定的列</a:t>
            </a:r>
            <a:endParaRPr lang="en-US" altLang="zh-CN" b="1" dirty="0">
              <a:solidFill>
                <a:schemeClr val="bg1"/>
              </a:solidFill>
            </a:endParaRPr>
          </a:p>
          <a:p>
            <a:endParaRPr lang="en-US" altLang="zh-CN" b="1" dirty="0">
              <a:solidFill>
                <a:schemeClr val="bg1"/>
              </a:solidFill>
            </a:endParaRPr>
          </a:p>
          <a:p>
            <a:r>
              <a:rPr lang="zh-CN" altLang="en-US" b="1" dirty="0">
                <a:solidFill>
                  <a:schemeClr val="bg1"/>
                </a:solidFill>
              </a:rPr>
              <a:t>（</a:t>
            </a:r>
            <a:r>
              <a:rPr lang="en-US" altLang="zh-CN" b="1" dirty="0">
                <a:solidFill>
                  <a:schemeClr val="bg1"/>
                </a:solidFill>
              </a:rPr>
              <a:t>2</a:t>
            </a:r>
            <a:r>
              <a:rPr lang="zh-CN" altLang="en-US" b="1" dirty="0">
                <a:solidFill>
                  <a:schemeClr val="bg1"/>
                </a:solidFill>
              </a:rPr>
              <a:t>）</a:t>
            </a:r>
            <a:r>
              <a:rPr lang="en-US" altLang="zh-CN" b="1" dirty="0" err="1">
                <a:solidFill>
                  <a:schemeClr val="bg1"/>
                </a:solidFill>
              </a:rPr>
              <a:t>PowerBI</a:t>
            </a:r>
            <a:r>
              <a:rPr lang="en-US" altLang="zh-CN" b="1" dirty="0">
                <a:solidFill>
                  <a:schemeClr val="bg1"/>
                </a:solidFill>
              </a:rPr>
              <a:t> Desktop</a:t>
            </a:r>
            <a:r>
              <a:rPr lang="zh-CN" altLang="en-US" b="1" dirty="0">
                <a:solidFill>
                  <a:schemeClr val="bg1"/>
                </a:solidFill>
              </a:rPr>
              <a:t>中数据表导出到</a:t>
            </a:r>
            <a:r>
              <a:rPr lang="en-US" altLang="zh-CN" b="1" dirty="0">
                <a:solidFill>
                  <a:schemeClr val="bg1"/>
                </a:solidFill>
              </a:rPr>
              <a:t>Excel:</a:t>
            </a:r>
          </a:p>
          <a:p>
            <a:r>
              <a:rPr lang="zh-CN" altLang="en-US" b="1" dirty="0">
                <a:solidFill>
                  <a:schemeClr val="bg1"/>
                </a:solidFill>
              </a:rPr>
              <a:t>数据视图下，右键单击字段区的表，选择“复制表”，到</a:t>
            </a:r>
            <a:r>
              <a:rPr lang="en-US" altLang="zh-CN" b="1" dirty="0">
                <a:solidFill>
                  <a:schemeClr val="bg1"/>
                </a:solidFill>
              </a:rPr>
              <a:t>excel</a:t>
            </a:r>
            <a:r>
              <a:rPr lang="zh-CN" altLang="en-US" b="1" dirty="0">
                <a:solidFill>
                  <a:schemeClr val="bg1"/>
                </a:solidFill>
              </a:rPr>
              <a:t>中粘贴，也可以在数据视图选中某列右键复制。</a:t>
            </a:r>
            <a:endParaRPr lang="en-US" altLang="zh-CN" b="1" dirty="0">
              <a:solidFill>
                <a:schemeClr val="bg1"/>
              </a:solidFill>
            </a:endParaRPr>
          </a:p>
          <a:p>
            <a:endParaRPr lang="en-US" altLang="zh-CN" b="1" dirty="0">
              <a:solidFill>
                <a:schemeClr val="bg1"/>
              </a:solidFill>
            </a:endParaRPr>
          </a:p>
          <a:p>
            <a:r>
              <a:rPr lang="zh-CN" altLang="en-US" b="1" dirty="0">
                <a:solidFill>
                  <a:schemeClr val="bg1"/>
                </a:solidFill>
              </a:rPr>
              <a:t>（</a:t>
            </a:r>
            <a:r>
              <a:rPr lang="en-US" altLang="zh-CN" b="1" dirty="0">
                <a:solidFill>
                  <a:schemeClr val="bg1"/>
                </a:solidFill>
              </a:rPr>
              <a:t>3</a:t>
            </a:r>
            <a:r>
              <a:rPr lang="zh-CN" altLang="en-US" b="1" dirty="0">
                <a:solidFill>
                  <a:schemeClr val="bg1"/>
                </a:solidFill>
              </a:rPr>
              <a:t>）矩阵导出到</a:t>
            </a:r>
            <a:r>
              <a:rPr lang="en-US" altLang="zh-CN" b="1" dirty="0">
                <a:solidFill>
                  <a:schemeClr val="bg1"/>
                </a:solidFill>
              </a:rPr>
              <a:t>EXCEL  </a:t>
            </a:r>
            <a:r>
              <a:rPr lang="zh-CN" altLang="en-US" b="1" dirty="0">
                <a:solidFill>
                  <a:schemeClr val="bg1"/>
                </a:solidFill>
              </a:rPr>
              <a:t>点</a:t>
            </a:r>
            <a:r>
              <a:rPr lang="en-US" altLang="zh-CN" b="1" dirty="0">
                <a:solidFill>
                  <a:schemeClr val="bg1"/>
                </a:solidFill>
              </a:rPr>
              <a:t>…</a:t>
            </a:r>
            <a:r>
              <a:rPr lang="zh-CN" altLang="en-US" b="1" dirty="0">
                <a:solidFill>
                  <a:schemeClr val="bg1"/>
                </a:solidFill>
              </a:rPr>
              <a:t>，选择导出数据，保存成</a:t>
            </a:r>
            <a:r>
              <a:rPr lang="en-US" altLang="zh-CN" b="1" dirty="0">
                <a:solidFill>
                  <a:schemeClr val="bg1"/>
                </a:solidFill>
              </a:rPr>
              <a:t>CSV</a:t>
            </a:r>
            <a:r>
              <a:rPr lang="zh-CN" altLang="en-US" b="1" dirty="0">
                <a:solidFill>
                  <a:schemeClr val="bg1"/>
                </a:solidFill>
              </a:rPr>
              <a:t>格式</a:t>
            </a:r>
            <a:endParaRPr lang="en-US" altLang="zh-CN" b="1" dirty="0">
              <a:solidFill>
                <a:schemeClr val="bg1"/>
              </a:solidFill>
            </a:endParaRPr>
          </a:p>
          <a:p>
            <a:endParaRPr lang="en-US" altLang="zh-CN" b="1" dirty="0">
              <a:solidFill>
                <a:schemeClr val="bg1"/>
              </a:solidFill>
            </a:endParaRPr>
          </a:p>
          <a:p>
            <a:endParaRPr lang="en-US" altLang="zh-CN" b="1" dirty="0">
              <a:solidFill>
                <a:schemeClr val="bg1"/>
              </a:solidFill>
            </a:endParaRPr>
          </a:p>
        </p:txBody>
      </p:sp>
    </p:spTree>
    <p:extLst>
      <p:ext uri="{BB962C8B-B14F-4D97-AF65-F5344CB8AC3E}">
        <p14:creationId xmlns:p14="http://schemas.microsoft.com/office/powerpoint/2010/main" val="2359533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216E7EF-9C49-4CE1-BAC3-FEB9838384C5}"/>
              </a:ext>
            </a:extLst>
          </p:cNvPr>
          <p:cNvSpPr/>
          <p:nvPr/>
        </p:nvSpPr>
        <p:spPr>
          <a:xfrm>
            <a:off x="611560" y="339502"/>
            <a:ext cx="1019831" cy="369332"/>
          </a:xfrm>
          <a:prstGeom prst="rect">
            <a:avLst/>
          </a:prstGeom>
        </p:spPr>
        <p:txBody>
          <a:bodyPr wrap="none">
            <a:spAutoFit/>
          </a:bodyPr>
          <a:lstStyle/>
          <a:p>
            <a:r>
              <a:rPr lang="zh-CN" altLang="en-US" b="1" dirty="0">
                <a:solidFill>
                  <a:schemeClr val="bg1"/>
                </a:solidFill>
              </a:rPr>
              <a:t>注意</a:t>
            </a:r>
            <a:r>
              <a:rPr lang="en-US" altLang="zh-CN" b="1" dirty="0">
                <a:solidFill>
                  <a:schemeClr val="bg1"/>
                </a:solidFill>
              </a:rPr>
              <a:t>1</a:t>
            </a:r>
            <a:r>
              <a:rPr lang="zh-CN" altLang="en-US" b="1" dirty="0">
                <a:solidFill>
                  <a:schemeClr val="bg1"/>
                </a:solidFill>
              </a:rPr>
              <a:t>：</a:t>
            </a:r>
            <a:endParaRPr lang="en-US" altLang="zh-CN" b="1" dirty="0">
              <a:solidFill>
                <a:schemeClr val="bg1"/>
              </a:solidFill>
            </a:endParaRPr>
          </a:p>
        </p:txBody>
      </p:sp>
      <p:sp>
        <p:nvSpPr>
          <p:cNvPr id="3" name="矩形 2">
            <a:extLst>
              <a:ext uri="{FF2B5EF4-FFF2-40B4-BE49-F238E27FC236}">
                <a16:creationId xmlns:a16="http://schemas.microsoft.com/office/drawing/2014/main" id="{E35FD2FF-8375-4236-8D54-4575AE72B62A}"/>
              </a:ext>
            </a:extLst>
          </p:cNvPr>
          <p:cNvSpPr/>
          <p:nvPr/>
        </p:nvSpPr>
        <p:spPr>
          <a:xfrm>
            <a:off x="1259632" y="915566"/>
            <a:ext cx="7632848" cy="2585323"/>
          </a:xfrm>
          <a:prstGeom prst="rect">
            <a:avLst/>
          </a:prstGeom>
        </p:spPr>
        <p:txBody>
          <a:bodyPr wrap="square">
            <a:spAutoFit/>
          </a:bodyPr>
          <a:lstStyle/>
          <a:p>
            <a:r>
              <a:rPr lang="zh-CN" altLang="en-US" b="1" dirty="0">
                <a:solidFill>
                  <a:schemeClr val="bg1"/>
                </a:solidFill>
              </a:rPr>
              <a:t>（</a:t>
            </a:r>
            <a:r>
              <a:rPr lang="en-US" altLang="zh-CN" b="1" dirty="0">
                <a:solidFill>
                  <a:schemeClr val="bg1"/>
                </a:solidFill>
              </a:rPr>
              <a:t>1</a:t>
            </a:r>
            <a:r>
              <a:rPr lang="zh-CN" altLang="en-US" b="1" dirty="0">
                <a:solidFill>
                  <a:schemeClr val="bg1"/>
                </a:solidFill>
              </a:rPr>
              <a:t>）用第</a:t>
            </a:r>
            <a:r>
              <a:rPr lang="en-US" altLang="zh-CN" b="1" dirty="0">
                <a:solidFill>
                  <a:schemeClr val="bg1"/>
                </a:solidFill>
              </a:rPr>
              <a:t>3</a:t>
            </a:r>
            <a:r>
              <a:rPr lang="zh-CN" altLang="en-US" b="1" dirty="0">
                <a:solidFill>
                  <a:schemeClr val="bg1"/>
                </a:solidFill>
              </a:rPr>
              <a:t>种方法导出数据，可视化里的数据还给我们创建的度量值在此上下文环境中计算出的数据，可以一起导出来，如果想在</a:t>
            </a:r>
            <a:r>
              <a:rPr lang="en-US" altLang="zh-CN" b="1" dirty="0">
                <a:solidFill>
                  <a:schemeClr val="bg1"/>
                </a:solidFill>
              </a:rPr>
              <a:t>Excel</a:t>
            </a:r>
            <a:r>
              <a:rPr lang="zh-CN" altLang="en-US" b="1" dirty="0">
                <a:solidFill>
                  <a:schemeClr val="bg1"/>
                </a:solidFill>
              </a:rPr>
              <a:t>中查看度量值的筛选结果，就把该度量值和其它字段拖入到可视化中同。</a:t>
            </a:r>
            <a:endParaRPr lang="en-US" altLang="zh-CN" b="1" dirty="0">
              <a:solidFill>
                <a:schemeClr val="bg1"/>
              </a:solidFill>
            </a:endParaRPr>
          </a:p>
          <a:p>
            <a:endParaRPr lang="en-US" altLang="zh-CN" b="1" dirty="0">
              <a:solidFill>
                <a:schemeClr val="bg1"/>
              </a:solidFill>
            </a:endParaRPr>
          </a:p>
          <a:p>
            <a:r>
              <a:rPr lang="zh-CN" altLang="en-US" b="1" dirty="0">
                <a:solidFill>
                  <a:schemeClr val="bg1"/>
                </a:solidFill>
              </a:rPr>
              <a:t>（</a:t>
            </a:r>
            <a:r>
              <a:rPr lang="en-US" altLang="zh-CN" b="1" dirty="0">
                <a:solidFill>
                  <a:schemeClr val="bg1"/>
                </a:solidFill>
              </a:rPr>
              <a:t>2</a:t>
            </a:r>
            <a:r>
              <a:rPr lang="zh-CN" altLang="en-US" b="1" dirty="0">
                <a:solidFill>
                  <a:schemeClr val="bg1"/>
                </a:solidFill>
              </a:rPr>
              <a:t>）导出数据不能超过</a:t>
            </a:r>
            <a:r>
              <a:rPr lang="en-US" altLang="zh-CN" b="1" dirty="0">
                <a:solidFill>
                  <a:schemeClr val="bg1"/>
                </a:solidFill>
              </a:rPr>
              <a:t>3</a:t>
            </a:r>
            <a:r>
              <a:rPr lang="zh-CN" altLang="en-US" b="1" dirty="0">
                <a:solidFill>
                  <a:schemeClr val="bg1"/>
                </a:solidFill>
              </a:rPr>
              <a:t>万行。</a:t>
            </a:r>
            <a:endParaRPr lang="en-US" altLang="zh-CN" b="1" dirty="0">
              <a:solidFill>
                <a:schemeClr val="bg1"/>
              </a:solidFill>
            </a:endParaRPr>
          </a:p>
          <a:p>
            <a:endParaRPr lang="en-US" altLang="zh-CN" b="1" dirty="0">
              <a:solidFill>
                <a:schemeClr val="bg1"/>
              </a:solidFill>
            </a:endParaRPr>
          </a:p>
          <a:p>
            <a:r>
              <a:rPr lang="zh-CN" altLang="en-US" b="1" dirty="0">
                <a:solidFill>
                  <a:schemeClr val="bg1"/>
                </a:solidFill>
              </a:rPr>
              <a:t>（</a:t>
            </a:r>
            <a:r>
              <a:rPr lang="en-US" altLang="zh-CN" b="1" dirty="0">
                <a:solidFill>
                  <a:schemeClr val="bg1"/>
                </a:solidFill>
              </a:rPr>
              <a:t>3</a:t>
            </a:r>
            <a:r>
              <a:rPr lang="zh-CN" altLang="en-US" b="1" dirty="0">
                <a:solidFill>
                  <a:schemeClr val="bg1"/>
                </a:solidFill>
              </a:rPr>
              <a:t>）如果数据量特别大，可以使用</a:t>
            </a:r>
            <a:r>
              <a:rPr lang="en-US" altLang="zh-CN" b="1" dirty="0">
                <a:solidFill>
                  <a:srgbClr val="FFFF00"/>
                </a:solidFill>
              </a:rPr>
              <a:t>DAX Studio</a:t>
            </a:r>
            <a:r>
              <a:rPr lang="zh-CN" altLang="en-US" b="1" dirty="0">
                <a:solidFill>
                  <a:schemeClr val="bg1"/>
                </a:solidFill>
              </a:rPr>
              <a:t>这个工具导出数据</a:t>
            </a:r>
            <a:endParaRPr lang="en-US" altLang="zh-CN" b="1" dirty="0">
              <a:solidFill>
                <a:schemeClr val="bg1"/>
              </a:solidFill>
            </a:endParaRPr>
          </a:p>
          <a:p>
            <a:endParaRPr lang="en-US" altLang="zh-CN" b="1" dirty="0">
              <a:solidFill>
                <a:schemeClr val="bg1"/>
              </a:solidFill>
            </a:endParaRPr>
          </a:p>
          <a:p>
            <a:endParaRPr lang="en-US" altLang="zh-CN" b="1" dirty="0">
              <a:solidFill>
                <a:schemeClr val="bg1"/>
              </a:solidFill>
            </a:endParaRPr>
          </a:p>
        </p:txBody>
      </p:sp>
    </p:spTree>
    <p:extLst>
      <p:ext uri="{BB962C8B-B14F-4D97-AF65-F5344CB8AC3E}">
        <p14:creationId xmlns:p14="http://schemas.microsoft.com/office/powerpoint/2010/main" val="1738710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2164B8B-7881-407E-BD00-D3AB94668DCF}"/>
              </a:ext>
            </a:extLst>
          </p:cNvPr>
          <p:cNvPicPr>
            <a:picLocks noChangeAspect="1"/>
          </p:cNvPicPr>
          <p:nvPr/>
        </p:nvPicPr>
        <p:blipFill>
          <a:blip r:embed="rId2"/>
          <a:stretch>
            <a:fillRect/>
          </a:stretch>
        </p:blipFill>
        <p:spPr>
          <a:xfrm>
            <a:off x="251520" y="1059583"/>
            <a:ext cx="2603366" cy="1944216"/>
          </a:xfrm>
          <a:prstGeom prst="rect">
            <a:avLst/>
          </a:prstGeom>
        </p:spPr>
      </p:pic>
      <p:sp>
        <p:nvSpPr>
          <p:cNvPr id="3" name="文本框 2">
            <a:extLst>
              <a:ext uri="{FF2B5EF4-FFF2-40B4-BE49-F238E27FC236}">
                <a16:creationId xmlns:a16="http://schemas.microsoft.com/office/drawing/2014/main" id="{ABA11CD1-143F-4B60-A90C-BD09FD6759FA}"/>
              </a:ext>
            </a:extLst>
          </p:cNvPr>
          <p:cNvSpPr txBox="1"/>
          <p:nvPr/>
        </p:nvSpPr>
        <p:spPr>
          <a:xfrm>
            <a:off x="539552" y="195486"/>
            <a:ext cx="8149158" cy="338554"/>
          </a:xfrm>
          <a:prstGeom prst="rect">
            <a:avLst/>
          </a:prstGeom>
          <a:noFill/>
        </p:spPr>
        <p:txBody>
          <a:bodyPr wrap="square" rtlCol="0">
            <a:spAutoFit/>
          </a:bodyPr>
          <a:lstStyle/>
          <a:p>
            <a:pPr algn="ctr"/>
            <a:r>
              <a:rPr lang="zh-CN" altLang="en-US" sz="1600" b="1" dirty="0">
                <a:solidFill>
                  <a:schemeClr val="bg1"/>
                </a:solidFill>
              </a:rPr>
              <a:t>下载地址：</a:t>
            </a:r>
            <a:r>
              <a:rPr lang="en-US" altLang="zh-CN" sz="1600" b="1" dirty="0">
                <a:solidFill>
                  <a:schemeClr val="bg1"/>
                </a:solidFill>
              </a:rPr>
              <a:t>https://link.zhihu.com/?target=http%3A//daxstudio.org</a:t>
            </a:r>
            <a:endParaRPr lang="zh-CN" altLang="en-US" sz="1600" b="1" dirty="0">
              <a:solidFill>
                <a:schemeClr val="bg1"/>
              </a:solidFill>
            </a:endParaRPr>
          </a:p>
        </p:txBody>
      </p:sp>
      <p:pic>
        <p:nvPicPr>
          <p:cNvPr id="4" name="图片 3">
            <a:extLst>
              <a:ext uri="{FF2B5EF4-FFF2-40B4-BE49-F238E27FC236}">
                <a16:creationId xmlns:a16="http://schemas.microsoft.com/office/drawing/2014/main" id="{62D8BE4C-C148-490A-B3E1-18C20390A99C}"/>
              </a:ext>
            </a:extLst>
          </p:cNvPr>
          <p:cNvPicPr>
            <a:picLocks noChangeAspect="1"/>
          </p:cNvPicPr>
          <p:nvPr/>
        </p:nvPicPr>
        <p:blipFill>
          <a:blip r:embed="rId3"/>
          <a:stretch>
            <a:fillRect/>
          </a:stretch>
        </p:blipFill>
        <p:spPr>
          <a:xfrm>
            <a:off x="4283968" y="987574"/>
            <a:ext cx="3840944" cy="2387826"/>
          </a:xfrm>
          <a:prstGeom prst="rect">
            <a:avLst/>
          </a:prstGeom>
        </p:spPr>
      </p:pic>
      <p:sp>
        <p:nvSpPr>
          <p:cNvPr id="5" name="文本框 4">
            <a:extLst>
              <a:ext uri="{FF2B5EF4-FFF2-40B4-BE49-F238E27FC236}">
                <a16:creationId xmlns:a16="http://schemas.microsoft.com/office/drawing/2014/main" id="{600840DC-21E6-4EEB-8537-5BE0E58C39D6}"/>
              </a:ext>
            </a:extLst>
          </p:cNvPr>
          <p:cNvSpPr txBox="1"/>
          <p:nvPr/>
        </p:nvSpPr>
        <p:spPr>
          <a:xfrm>
            <a:off x="395536" y="3828934"/>
            <a:ext cx="8149158" cy="584775"/>
          </a:xfrm>
          <a:prstGeom prst="rect">
            <a:avLst/>
          </a:prstGeom>
          <a:noFill/>
        </p:spPr>
        <p:txBody>
          <a:bodyPr wrap="square" rtlCol="0">
            <a:spAutoFit/>
          </a:bodyPr>
          <a:lstStyle/>
          <a:p>
            <a:pPr algn="ctr"/>
            <a:r>
              <a:rPr lang="zh-CN" altLang="en-US" sz="1600" b="1" dirty="0">
                <a:solidFill>
                  <a:schemeClr val="bg1"/>
                </a:solidFill>
              </a:rPr>
              <a:t>安装完成以后，打开这个程序，如果有打开的</a:t>
            </a:r>
            <a:r>
              <a:rPr lang="en-US" altLang="zh-CN" sz="1600" b="1" dirty="0" err="1">
                <a:solidFill>
                  <a:schemeClr val="bg1"/>
                </a:solidFill>
              </a:rPr>
              <a:t>PowerBI</a:t>
            </a:r>
            <a:r>
              <a:rPr lang="zh-CN" altLang="en-US" sz="1600" b="1" dirty="0">
                <a:solidFill>
                  <a:schemeClr val="bg1"/>
                </a:solidFill>
              </a:rPr>
              <a:t>文件，它将自动识别</a:t>
            </a:r>
            <a:r>
              <a:rPr lang="en-US" altLang="zh-CN" sz="1600" b="1" dirty="0" err="1">
                <a:solidFill>
                  <a:schemeClr val="bg1"/>
                </a:solidFill>
              </a:rPr>
              <a:t>pbix</a:t>
            </a:r>
            <a:r>
              <a:rPr lang="zh-CN" altLang="en-US" sz="1600" b="1" dirty="0">
                <a:solidFill>
                  <a:schemeClr val="bg1"/>
                </a:solidFill>
              </a:rPr>
              <a:t>文件，如右图所示</a:t>
            </a:r>
          </a:p>
        </p:txBody>
      </p:sp>
    </p:spTree>
    <p:extLst>
      <p:ext uri="{BB962C8B-B14F-4D97-AF65-F5344CB8AC3E}">
        <p14:creationId xmlns:p14="http://schemas.microsoft.com/office/powerpoint/2010/main" val="226700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104B312-59A6-4093-BAC7-924D3409028B}"/>
              </a:ext>
            </a:extLst>
          </p:cNvPr>
          <p:cNvSpPr txBox="1"/>
          <p:nvPr/>
        </p:nvSpPr>
        <p:spPr>
          <a:xfrm>
            <a:off x="395536" y="3828934"/>
            <a:ext cx="8149158" cy="584775"/>
          </a:xfrm>
          <a:prstGeom prst="rect">
            <a:avLst/>
          </a:prstGeom>
          <a:noFill/>
        </p:spPr>
        <p:txBody>
          <a:bodyPr wrap="square" rtlCol="0">
            <a:spAutoFit/>
          </a:bodyPr>
          <a:lstStyle/>
          <a:p>
            <a:pPr algn="ctr"/>
            <a:r>
              <a:rPr lang="zh-CN" altLang="en-US" sz="1600" b="1" dirty="0">
                <a:solidFill>
                  <a:schemeClr val="bg1"/>
                </a:solidFill>
              </a:rPr>
              <a:t>选择</a:t>
            </a:r>
            <a:r>
              <a:rPr lang="en-US" altLang="zh-CN" sz="1600" b="1" dirty="0">
                <a:solidFill>
                  <a:schemeClr val="bg1"/>
                </a:solidFill>
              </a:rPr>
              <a:t>PBI</a:t>
            </a:r>
            <a:r>
              <a:rPr lang="zh-CN" altLang="en-US" sz="1600" b="1" dirty="0">
                <a:solidFill>
                  <a:schemeClr val="bg1"/>
                </a:solidFill>
              </a:rPr>
              <a:t>并点击</a:t>
            </a:r>
            <a:r>
              <a:rPr lang="en-US" altLang="zh-CN" sz="1600" b="1" dirty="0">
                <a:solidFill>
                  <a:schemeClr val="bg1"/>
                </a:solidFill>
              </a:rPr>
              <a:t>Connect</a:t>
            </a:r>
            <a:r>
              <a:rPr lang="zh-CN" altLang="en-US" sz="1600" b="1" dirty="0">
                <a:solidFill>
                  <a:schemeClr val="bg1"/>
                </a:solidFill>
              </a:rPr>
              <a:t>，该</a:t>
            </a:r>
            <a:r>
              <a:rPr lang="en-US" altLang="zh-CN" sz="1600" b="1" dirty="0" err="1">
                <a:solidFill>
                  <a:schemeClr val="bg1"/>
                </a:solidFill>
              </a:rPr>
              <a:t>PowerBI</a:t>
            </a:r>
            <a:r>
              <a:rPr lang="zh-CN" altLang="en-US" sz="1600" b="1" dirty="0">
                <a:solidFill>
                  <a:schemeClr val="bg1"/>
                </a:solidFill>
              </a:rPr>
              <a:t>文件中的表格就显示在左方的数据模型中了。点击</a:t>
            </a:r>
            <a:r>
              <a:rPr lang="en-US" altLang="zh-CN" sz="1600" b="1" dirty="0">
                <a:solidFill>
                  <a:schemeClr val="bg1"/>
                </a:solidFill>
              </a:rPr>
              <a:t>Output</a:t>
            </a:r>
            <a:r>
              <a:rPr lang="zh-CN" altLang="en-US" sz="1600" b="1" dirty="0">
                <a:solidFill>
                  <a:schemeClr val="bg1"/>
                </a:solidFill>
              </a:rPr>
              <a:t>，设置输出类型为</a:t>
            </a:r>
            <a:r>
              <a:rPr lang="en-US" altLang="zh-CN" sz="1600" b="1" dirty="0">
                <a:solidFill>
                  <a:schemeClr val="bg1"/>
                </a:solidFill>
              </a:rPr>
              <a:t>file</a:t>
            </a:r>
            <a:r>
              <a:rPr lang="zh-CN" altLang="en-US" sz="1600" b="1" dirty="0">
                <a:solidFill>
                  <a:schemeClr val="bg1"/>
                </a:solidFill>
              </a:rPr>
              <a:t>，</a:t>
            </a:r>
          </a:p>
        </p:txBody>
      </p:sp>
      <p:pic>
        <p:nvPicPr>
          <p:cNvPr id="3" name="图片 2">
            <a:extLst>
              <a:ext uri="{FF2B5EF4-FFF2-40B4-BE49-F238E27FC236}">
                <a16:creationId xmlns:a16="http://schemas.microsoft.com/office/drawing/2014/main" id="{1326EB55-91EE-4EE1-BABE-33C3F9FAB0CC}"/>
              </a:ext>
            </a:extLst>
          </p:cNvPr>
          <p:cNvPicPr>
            <a:picLocks noChangeAspect="1"/>
          </p:cNvPicPr>
          <p:nvPr/>
        </p:nvPicPr>
        <p:blipFill>
          <a:blip r:embed="rId2"/>
          <a:stretch>
            <a:fillRect/>
          </a:stretch>
        </p:blipFill>
        <p:spPr>
          <a:xfrm>
            <a:off x="1835696" y="411510"/>
            <a:ext cx="4991100" cy="3267075"/>
          </a:xfrm>
          <a:prstGeom prst="rect">
            <a:avLst/>
          </a:prstGeom>
        </p:spPr>
      </p:pic>
    </p:spTree>
    <p:extLst>
      <p:ext uri="{BB962C8B-B14F-4D97-AF65-F5344CB8AC3E}">
        <p14:creationId xmlns:p14="http://schemas.microsoft.com/office/powerpoint/2010/main" val="3963931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424A046-D9B3-4642-85AA-7F148EE179FC}"/>
              </a:ext>
            </a:extLst>
          </p:cNvPr>
          <p:cNvSpPr txBox="1"/>
          <p:nvPr/>
        </p:nvSpPr>
        <p:spPr>
          <a:xfrm>
            <a:off x="1043608" y="3795886"/>
            <a:ext cx="6912768" cy="830997"/>
          </a:xfrm>
          <a:prstGeom prst="rect">
            <a:avLst/>
          </a:prstGeom>
          <a:noFill/>
        </p:spPr>
        <p:txBody>
          <a:bodyPr wrap="square" rtlCol="0">
            <a:spAutoFit/>
          </a:bodyPr>
          <a:lstStyle/>
          <a:p>
            <a:pPr algn="ctr"/>
            <a:r>
              <a:rPr lang="zh-CN" altLang="en-US" sz="1600" b="1" dirty="0">
                <a:solidFill>
                  <a:schemeClr val="bg1"/>
                </a:solidFill>
              </a:rPr>
              <a:t>这里我们想导出销售明细表，在编辑窗口输入：</a:t>
            </a:r>
            <a:r>
              <a:rPr lang="en-US" altLang="zh-CN" sz="1600" b="1" dirty="0">
                <a:solidFill>
                  <a:srgbClr val="FFFF00"/>
                </a:solidFill>
              </a:rPr>
              <a:t>EVALUATE '</a:t>
            </a:r>
            <a:r>
              <a:rPr lang="zh-CN" altLang="en-US" sz="1600" b="1" dirty="0">
                <a:solidFill>
                  <a:srgbClr val="FFFF00"/>
                </a:solidFill>
              </a:rPr>
              <a:t>销售明细</a:t>
            </a:r>
            <a:r>
              <a:rPr lang="en-US" altLang="zh-CN" sz="1600" b="1" dirty="0">
                <a:solidFill>
                  <a:srgbClr val="FFFF00"/>
                </a:solidFill>
              </a:rPr>
              <a:t>'</a:t>
            </a:r>
          </a:p>
          <a:p>
            <a:pPr algn="ctr"/>
            <a:r>
              <a:rPr lang="zh-CN" altLang="en-US" sz="1600" b="1" dirty="0">
                <a:solidFill>
                  <a:schemeClr val="bg1"/>
                </a:solidFill>
              </a:rPr>
              <a:t>点击“</a:t>
            </a:r>
            <a:r>
              <a:rPr lang="en-US" altLang="zh-CN" sz="1600" b="1" dirty="0">
                <a:solidFill>
                  <a:schemeClr val="bg1"/>
                </a:solidFill>
              </a:rPr>
              <a:t>Run"</a:t>
            </a:r>
            <a:r>
              <a:rPr lang="zh-CN" altLang="en-US" sz="1600" b="1" dirty="0">
                <a:solidFill>
                  <a:schemeClr val="bg1"/>
                </a:solidFill>
              </a:rPr>
              <a:t>，然后选择保存路径和文件格式，一般选</a:t>
            </a:r>
            <a:r>
              <a:rPr lang="en-US" altLang="zh-CN" sz="1600" b="1" dirty="0">
                <a:solidFill>
                  <a:schemeClr val="bg1"/>
                </a:solidFill>
              </a:rPr>
              <a:t>csv</a:t>
            </a:r>
            <a:r>
              <a:rPr lang="zh-CN" altLang="en-US" sz="1600" b="1" dirty="0">
                <a:solidFill>
                  <a:schemeClr val="bg1"/>
                </a:solidFill>
              </a:rPr>
              <a:t>格式，点击确定后就开始执行导出，这个表格有</a:t>
            </a:r>
            <a:r>
              <a:rPr lang="en-US" altLang="zh-CN" sz="1600" b="1" dirty="0">
                <a:solidFill>
                  <a:schemeClr val="bg1"/>
                </a:solidFill>
              </a:rPr>
              <a:t>568</a:t>
            </a:r>
            <a:r>
              <a:rPr lang="zh-CN" altLang="en-US" sz="1600" b="1" dirty="0">
                <a:solidFill>
                  <a:schemeClr val="bg1"/>
                </a:solidFill>
              </a:rPr>
              <a:t>万行，大约</a:t>
            </a:r>
            <a:r>
              <a:rPr lang="en-US" altLang="zh-CN" sz="1600" b="1" dirty="0">
                <a:solidFill>
                  <a:schemeClr val="bg1"/>
                </a:solidFill>
              </a:rPr>
              <a:t>3</a:t>
            </a:r>
            <a:r>
              <a:rPr lang="zh-CN" altLang="en-US" sz="1600" b="1" dirty="0">
                <a:solidFill>
                  <a:schemeClr val="bg1"/>
                </a:solidFill>
              </a:rPr>
              <a:t>分钟导出。</a:t>
            </a:r>
          </a:p>
        </p:txBody>
      </p:sp>
      <p:pic>
        <p:nvPicPr>
          <p:cNvPr id="3" name="图片 2">
            <a:extLst>
              <a:ext uri="{FF2B5EF4-FFF2-40B4-BE49-F238E27FC236}">
                <a16:creationId xmlns:a16="http://schemas.microsoft.com/office/drawing/2014/main" id="{1C2A2B8A-E6ED-4C98-BAB3-DD00772D7795}"/>
              </a:ext>
            </a:extLst>
          </p:cNvPr>
          <p:cNvPicPr>
            <a:picLocks noChangeAspect="1"/>
          </p:cNvPicPr>
          <p:nvPr/>
        </p:nvPicPr>
        <p:blipFill>
          <a:blip r:embed="rId2"/>
          <a:stretch>
            <a:fillRect/>
          </a:stretch>
        </p:blipFill>
        <p:spPr>
          <a:xfrm>
            <a:off x="2310680" y="48863"/>
            <a:ext cx="4378623" cy="3747023"/>
          </a:xfrm>
          <a:prstGeom prst="rect">
            <a:avLst/>
          </a:prstGeom>
        </p:spPr>
      </p:pic>
    </p:spTree>
    <p:extLst>
      <p:ext uri="{BB962C8B-B14F-4D97-AF65-F5344CB8AC3E}">
        <p14:creationId xmlns:p14="http://schemas.microsoft.com/office/powerpoint/2010/main" val="1476151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B30DB61-5881-4372-8C0D-DFD3D17F6E8F}"/>
              </a:ext>
            </a:extLst>
          </p:cNvPr>
          <p:cNvSpPr txBox="1"/>
          <p:nvPr/>
        </p:nvSpPr>
        <p:spPr>
          <a:xfrm>
            <a:off x="251520" y="771550"/>
            <a:ext cx="8352928" cy="3416320"/>
          </a:xfrm>
          <a:prstGeom prst="rect">
            <a:avLst/>
          </a:prstGeom>
          <a:noFill/>
        </p:spPr>
        <p:txBody>
          <a:bodyPr wrap="square" rtlCol="0">
            <a:spAutoFit/>
          </a:bodyPr>
          <a:lstStyle/>
          <a:p>
            <a:endParaRPr lang="zh-CN" altLang="en-US" sz="2400" b="1" dirty="0">
              <a:solidFill>
                <a:schemeClr val="bg1"/>
              </a:solidFill>
            </a:endParaRPr>
          </a:p>
          <a:p>
            <a:pPr indent="457200"/>
            <a:r>
              <a:rPr lang="zh-CN" altLang="en-US" sz="2400" b="1" dirty="0">
                <a:solidFill>
                  <a:schemeClr val="bg1"/>
                </a:solidFill>
              </a:rPr>
              <a:t>至此，通过使用</a:t>
            </a:r>
            <a:r>
              <a:rPr lang="en-US" altLang="zh-CN" sz="2400" b="1" dirty="0">
                <a:solidFill>
                  <a:schemeClr val="bg1"/>
                </a:solidFill>
              </a:rPr>
              <a:t>DAX Studio</a:t>
            </a:r>
            <a:r>
              <a:rPr lang="zh-CN" altLang="en-US" sz="2400" b="1" dirty="0">
                <a:solidFill>
                  <a:schemeClr val="bg1"/>
                </a:solidFill>
              </a:rPr>
              <a:t>，</a:t>
            </a:r>
            <a:r>
              <a:rPr lang="en-US" altLang="zh-CN" sz="2400" b="1" dirty="0" err="1">
                <a:solidFill>
                  <a:schemeClr val="bg1"/>
                </a:solidFill>
              </a:rPr>
              <a:t>PowerBI</a:t>
            </a:r>
            <a:r>
              <a:rPr lang="zh-CN" altLang="en-US" sz="2400" b="1" dirty="0">
                <a:solidFill>
                  <a:schemeClr val="bg1"/>
                </a:solidFill>
              </a:rPr>
              <a:t>中的数据导出基本可以无障碍操作了。</a:t>
            </a:r>
          </a:p>
          <a:p>
            <a:pPr indent="457200"/>
            <a:r>
              <a:rPr lang="zh-CN" altLang="en-US" sz="2400" b="1" dirty="0">
                <a:solidFill>
                  <a:schemeClr val="bg1"/>
                </a:solidFill>
              </a:rPr>
              <a:t>最后总结一下，如果数据量不大，直接在</a:t>
            </a:r>
            <a:r>
              <a:rPr lang="en-US" altLang="zh-CN" sz="2400" b="1" dirty="0" err="1">
                <a:solidFill>
                  <a:schemeClr val="bg1"/>
                </a:solidFill>
              </a:rPr>
              <a:t>PowerBI</a:t>
            </a:r>
            <a:r>
              <a:rPr lang="zh-CN" altLang="en-US" sz="2400" b="1" dirty="0">
                <a:solidFill>
                  <a:schemeClr val="bg1"/>
                </a:solidFill>
              </a:rPr>
              <a:t>中复制数据粘贴到</a:t>
            </a:r>
            <a:r>
              <a:rPr lang="en-US" altLang="zh-CN" sz="2400" b="1" dirty="0">
                <a:solidFill>
                  <a:schemeClr val="bg1"/>
                </a:solidFill>
              </a:rPr>
              <a:t>Excel</a:t>
            </a:r>
            <a:r>
              <a:rPr lang="zh-CN" altLang="en-US" sz="2400" b="1" dirty="0">
                <a:solidFill>
                  <a:schemeClr val="bg1"/>
                </a:solidFill>
              </a:rPr>
              <a:t>中即可，或者从可视化图表中导出数据，操作都比较简单而且灵活；如果数据量大，使用</a:t>
            </a:r>
            <a:r>
              <a:rPr lang="en-US" altLang="zh-CN" sz="2400" b="1" dirty="0">
                <a:solidFill>
                  <a:schemeClr val="bg1"/>
                </a:solidFill>
              </a:rPr>
              <a:t>DAX Studio.</a:t>
            </a:r>
          </a:p>
          <a:p>
            <a:pPr indent="457200"/>
            <a:r>
              <a:rPr lang="zh-CN" altLang="en-US" sz="2400" b="1" dirty="0">
                <a:solidFill>
                  <a:schemeClr val="bg1"/>
                </a:solidFill>
              </a:rPr>
              <a:t>事实上</a:t>
            </a:r>
            <a:r>
              <a:rPr lang="en-US" altLang="zh-CN" sz="2400" b="1" dirty="0">
                <a:solidFill>
                  <a:schemeClr val="bg1"/>
                </a:solidFill>
              </a:rPr>
              <a:t>DAX Studio</a:t>
            </a:r>
            <a:r>
              <a:rPr lang="zh-CN" altLang="en-US" sz="2400" b="1" dirty="0">
                <a:solidFill>
                  <a:schemeClr val="bg1"/>
                </a:solidFill>
              </a:rPr>
              <a:t>非常强大，是精通</a:t>
            </a:r>
            <a:r>
              <a:rPr lang="en-US" altLang="zh-CN" sz="2400" b="1" dirty="0">
                <a:solidFill>
                  <a:schemeClr val="bg1"/>
                </a:solidFill>
              </a:rPr>
              <a:t>DAX</a:t>
            </a:r>
            <a:r>
              <a:rPr lang="zh-CN" altLang="en-US" sz="2400" b="1" dirty="0">
                <a:solidFill>
                  <a:schemeClr val="bg1"/>
                </a:solidFill>
              </a:rPr>
              <a:t>的必备利器，导出数据只是它的一个小功能而已。以后抽空再单独介绍这个软件。</a:t>
            </a:r>
          </a:p>
        </p:txBody>
      </p:sp>
    </p:spTree>
    <p:extLst>
      <p:ext uri="{BB962C8B-B14F-4D97-AF65-F5344CB8AC3E}">
        <p14:creationId xmlns:p14="http://schemas.microsoft.com/office/powerpoint/2010/main" val="2448876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E3D439C-C981-4EA0-B92F-BAA88FDCA2B8}"/>
              </a:ext>
            </a:extLst>
          </p:cNvPr>
          <p:cNvSpPr txBox="1"/>
          <p:nvPr/>
        </p:nvSpPr>
        <p:spPr>
          <a:xfrm>
            <a:off x="1187624" y="555526"/>
            <a:ext cx="6480720" cy="3108543"/>
          </a:xfrm>
          <a:prstGeom prst="rect">
            <a:avLst/>
          </a:prstGeom>
          <a:noFill/>
        </p:spPr>
        <p:txBody>
          <a:bodyPr wrap="square" rtlCol="0">
            <a:spAutoFit/>
          </a:bodyPr>
          <a:lstStyle/>
          <a:p>
            <a:r>
              <a:rPr lang="zh-CN" altLang="en-US" sz="2800" b="1" dirty="0">
                <a:solidFill>
                  <a:schemeClr val="bg1"/>
                </a:solidFill>
              </a:rPr>
              <a:t>如果官网下载太慢，或服务器问题打不开网页可以到我的百度网盘下载：</a:t>
            </a:r>
            <a:endParaRPr lang="en-US" altLang="zh-CN" sz="2800" b="1" dirty="0">
              <a:solidFill>
                <a:schemeClr val="bg1"/>
              </a:solidFill>
            </a:endParaRPr>
          </a:p>
          <a:p>
            <a:endParaRPr lang="en-US" altLang="zh-CN" sz="2800" b="1" dirty="0">
              <a:solidFill>
                <a:schemeClr val="bg1"/>
              </a:solidFill>
            </a:endParaRPr>
          </a:p>
          <a:p>
            <a:r>
              <a:rPr lang="zh-CN" altLang="en-US" sz="2800" b="1" dirty="0">
                <a:solidFill>
                  <a:schemeClr val="bg1"/>
                </a:solidFill>
              </a:rPr>
              <a:t>链接：</a:t>
            </a:r>
            <a:r>
              <a:rPr lang="en-US" altLang="zh-CN" sz="2800" b="1" dirty="0">
                <a:solidFill>
                  <a:srgbClr val="FFFF00"/>
                </a:solidFill>
              </a:rPr>
              <a:t>https://pan.baidu.com/s/1Bjve6WmhrdKnk_uGAFR4LQ </a:t>
            </a:r>
          </a:p>
          <a:p>
            <a:endParaRPr lang="en-US" altLang="zh-CN" sz="2800" b="1" dirty="0">
              <a:solidFill>
                <a:schemeClr val="bg1"/>
              </a:solidFill>
            </a:endParaRPr>
          </a:p>
          <a:p>
            <a:r>
              <a:rPr lang="zh-CN" altLang="en-US" sz="2800" b="1" dirty="0">
                <a:solidFill>
                  <a:schemeClr val="bg1"/>
                </a:solidFill>
              </a:rPr>
              <a:t>提取码：</a:t>
            </a:r>
            <a:r>
              <a:rPr lang="en-US" altLang="zh-CN" sz="2800" b="1" dirty="0">
                <a:solidFill>
                  <a:srgbClr val="FF0000"/>
                </a:solidFill>
              </a:rPr>
              <a:t>1p05</a:t>
            </a:r>
            <a:endParaRPr lang="zh-CN" altLang="en-US" sz="2800" b="1" dirty="0">
              <a:solidFill>
                <a:srgbClr val="FF0000"/>
              </a:solidFill>
            </a:endParaRPr>
          </a:p>
        </p:txBody>
      </p:sp>
    </p:spTree>
    <p:extLst>
      <p:ext uri="{BB962C8B-B14F-4D97-AF65-F5344CB8AC3E}">
        <p14:creationId xmlns:p14="http://schemas.microsoft.com/office/powerpoint/2010/main" val="25492984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无&quot;,&quot;HeaderHeight&quot;:0.0,&quot;FooterHeight&quot;:0.0,&quot;SideMargin&quot;:0.0,&quot;TopMargin&quot;:0.0,&quot;BottomMargin&quot;:0.0,&quot;IntervalMargin&quot;:0.0,&quot;SettingType&quot;:&quot;System&quot;}"/>
</p:tagLst>
</file>

<file path=ppt/theme/theme1.xml><?xml version="1.0" encoding="utf-8"?>
<a:theme xmlns:a="http://schemas.openxmlformats.org/drawingml/2006/main" name="Office Theme">
  <a:themeElements>
    <a:clrScheme name="x2m0mzta">
      <a:dk1>
        <a:srgbClr val="000000"/>
      </a:dk1>
      <a:lt1>
        <a:srgbClr val="FFFFFF"/>
      </a:lt1>
      <a:dk2>
        <a:srgbClr val="FAB220"/>
      </a:dk2>
      <a:lt2>
        <a:srgbClr val="FA7901"/>
      </a:lt2>
      <a:accent1>
        <a:srgbClr val="CB2332"/>
      </a:accent1>
      <a:accent2>
        <a:srgbClr val="A6325B"/>
      </a:accent2>
      <a:accent3>
        <a:srgbClr val="0B4366"/>
      </a:accent3>
      <a:accent4>
        <a:srgbClr val="21A0D3"/>
      </a:accent4>
      <a:accent5>
        <a:srgbClr val="3CC5D1"/>
      </a:accent5>
      <a:accent6>
        <a:srgbClr val="4CC9A9"/>
      </a:accent6>
      <a:hlink>
        <a:srgbClr val="3B424C"/>
      </a:hlink>
      <a:folHlink>
        <a:srgbClr val="1C171E"/>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cap="rnd">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4800" b="1" dirty="0" smtClean="0">
            <a:solidFill>
              <a:schemeClr val="bg1"/>
            </a:solidFill>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6361</TotalTime>
  <Words>928</Words>
  <Application>Microsoft Office PowerPoint</Application>
  <PresentationFormat>全屏显示(16:9)</PresentationFormat>
  <Paragraphs>68</Paragraphs>
  <Slides>13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等线</vt:lpstr>
      <vt:lpstr>微软雅黑</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pptmall.net</dc:title>
  <dc:creator>pptmall.net</dc:creator>
  <cp:lastModifiedBy>孙艺航</cp:lastModifiedBy>
  <cp:revision>1193</cp:revision>
  <dcterms:created xsi:type="dcterms:W3CDTF">2014-02-28T09:23:05Z</dcterms:created>
  <dcterms:modified xsi:type="dcterms:W3CDTF">2020-03-14T12:31:14Z</dcterms:modified>
</cp:coreProperties>
</file>