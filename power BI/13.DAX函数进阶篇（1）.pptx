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77" r:id="rId2"/>
    <p:sldId id="378" r:id="rId3"/>
    <p:sldId id="379" r:id="rId4"/>
    <p:sldId id="380" r:id="rId5"/>
    <p:sldId id="381" r:id="rId6"/>
    <p:sldId id="382" r:id="rId7"/>
    <p:sldId id="383" r:id="rId8"/>
    <p:sldId id="384" r:id="rId9"/>
  </p:sldIdLst>
  <p:sldSz cx="9144000" cy="5143500" type="screen16x9"/>
  <p:notesSz cx="6858000" cy="9144000"/>
  <p:custDataLst>
    <p:tags r:id="rId12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14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0BD959F-39FE-4D78-9752-E16BD099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" y="0"/>
            <a:ext cx="4276127" cy="514963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1F0470-4595-4BF6-9CFE-2999F796C996}"/>
              </a:ext>
            </a:extLst>
          </p:cNvPr>
          <p:cNvSpPr txBox="1"/>
          <p:nvPr/>
        </p:nvSpPr>
        <p:spPr>
          <a:xfrm>
            <a:off x="4572000" y="483518"/>
            <a:ext cx="39604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Calculate</a:t>
            </a:r>
          </a:p>
          <a:p>
            <a:pPr algn="ctr"/>
            <a:endParaRPr lang="en-US" altLang="zh-CN" sz="2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ALL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</a:rPr>
              <a:t>allexcept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</a:rPr>
              <a:t>allselected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2000" b="1" dirty="0" err="1">
                <a:solidFill>
                  <a:schemeClr val="bg1"/>
                </a:solidFill>
              </a:rPr>
              <a:t>Fiter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539F1C-5D89-4668-94BE-3E7A136E7CE4}"/>
              </a:ext>
            </a:extLst>
          </p:cNvPr>
          <p:cNvSpPr txBox="1"/>
          <p:nvPr/>
        </p:nvSpPr>
        <p:spPr>
          <a:xfrm>
            <a:off x="4600092" y="2859782"/>
            <a:ext cx="396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      之前我们学习的这些函数都是通过新建度量值完成的。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53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AC00B6-4371-4289-B9AD-9EB71482523C}"/>
              </a:ext>
            </a:extLst>
          </p:cNvPr>
          <p:cNvSpPr txBox="1"/>
          <p:nvPr/>
        </p:nvSpPr>
        <p:spPr>
          <a:xfrm>
            <a:off x="467544" y="48351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Divide</a:t>
            </a:r>
            <a:r>
              <a:rPr lang="zh-CN" altLang="en-US" b="1" dirty="0">
                <a:solidFill>
                  <a:schemeClr val="bg1"/>
                </a:solidFill>
              </a:rPr>
              <a:t>函数：安全除法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DF05D6-C365-492C-B96A-F1E57C4D7121}"/>
              </a:ext>
            </a:extLst>
          </p:cNvPr>
          <p:cNvSpPr txBox="1"/>
          <p:nvPr/>
        </p:nvSpPr>
        <p:spPr>
          <a:xfrm>
            <a:off x="899592" y="1203598"/>
            <a:ext cx="6912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        我们在建立数据模型的时候，经常要写关于除法的度量值，尤其是计算类似任务额完成度，销售占比、环比增加率、利润率、存货周转率、离职率、借款逾期率</a:t>
            </a:r>
            <a:r>
              <a:rPr lang="en-US" altLang="zh-CN" b="1" dirty="0">
                <a:solidFill>
                  <a:schemeClr val="bg1"/>
                </a:solidFill>
              </a:rPr>
              <a:t>…</a:t>
            </a:r>
            <a:r>
              <a:rPr lang="zh-CN" altLang="en-US" b="1" dirty="0">
                <a:solidFill>
                  <a:schemeClr val="bg1"/>
                </a:solidFill>
              </a:rPr>
              <a:t>等情况。如果遇到分母是</a:t>
            </a:r>
            <a:r>
              <a:rPr lang="en-US" altLang="zh-CN" b="1" dirty="0">
                <a:solidFill>
                  <a:schemeClr val="bg1"/>
                </a:solidFill>
              </a:rPr>
              <a:t>0</a:t>
            </a:r>
            <a:r>
              <a:rPr lang="zh-CN" altLang="en-US" b="1" dirty="0">
                <a:solidFill>
                  <a:schemeClr val="bg1"/>
                </a:solidFill>
              </a:rPr>
              <a:t>的情况，则</a:t>
            </a:r>
            <a:r>
              <a:rPr lang="en-US" altLang="zh-CN" b="1" dirty="0">
                <a:solidFill>
                  <a:schemeClr val="bg1"/>
                </a:solidFill>
              </a:rPr>
              <a:t>Excel</a:t>
            </a:r>
            <a:r>
              <a:rPr lang="zh-CN" altLang="en-US" b="1" dirty="0">
                <a:solidFill>
                  <a:schemeClr val="bg1"/>
                </a:solidFill>
              </a:rPr>
              <a:t>会返回一个错误值</a:t>
            </a:r>
            <a:r>
              <a:rPr lang="en-US" altLang="zh-CN" b="1" dirty="0">
                <a:solidFill>
                  <a:schemeClr val="bg1"/>
                </a:solidFill>
              </a:rPr>
              <a:t>N/A</a:t>
            </a:r>
            <a:r>
              <a:rPr lang="zh-CN" altLang="en-US" b="1" dirty="0">
                <a:solidFill>
                  <a:schemeClr val="bg1"/>
                </a:solidFill>
              </a:rPr>
              <a:t>，我们需要用</a:t>
            </a:r>
            <a:r>
              <a:rPr lang="en-US" altLang="zh-CN" b="1" dirty="0">
                <a:solidFill>
                  <a:schemeClr val="bg1"/>
                </a:solidFill>
              </a:rPr>
              <a:t>IF</a:t>
            </a:r>
            <a:r>
              <a:rPr lang="zh-CN" altLang="en-US" b="1" dirty="0">
                <a:solidFill>
                  <a:schemeClr val="bg1"/>
                </a:solidFill>
              </a:rPr>
              <a:t>或者</a:t>
            </a:r>
            <a:r>
              <a:rPr lang="en-US" altLang="zh-CN" b="1" dirty="0">
                <a:solidFill>
                  <a:schemeClr val="bg1"/>
                </a:solidFill>
              </a:rPr>
              <a:t>IFERROR</a:t>
            </a:r>
            <a:r>
              <a:rPr lang="zh-CN" altLang="en-US" b="1" dirty="0">
                <a:solidFill>
                  <a:schemeClr val="bg1"/>
                </a:solidFill>
              </a:rPr>
              <a:t>来规避这种情况。</a:t>
            </a:r>
            <a:r>
              <a:rPr lang="en-US" altLang="zh-CN" b="1" dirty="0">
                <a:solidFill>
                  <a:schemeClr val="bg1"/>
                </a:solidFill>
              </a:rPr>
              <a:t>DIVIDE</a:t>
            </a:r>
            <a:r>
              <a:rPr lang="zh-CN" altLang="en-US" b="1" dirty="0">
                <a:solidFill>
                  <a:schemeClr val="bg1"/>
                </a:solidFill>
              </a:rPr>
              <a:t>函数，也叫安全除法函数，可以非常简单的避免这种情况。</a:t>
            </a:r>
            <a:r>
              <a:rPr lang="en-US" altLang="zh-CN" b="1" dirty="0">
                <a:solidFill>
                  <a:srgbClr val="FF0000"/>
                </a:solidFill>
              </a:rPr>
              <a:t>【</a:t>
            </a:r>
            <a:r>
              <a:rPr lang="zh-CN" altLang="en-US" b="1" dirty="0">
                <a:solidFill>
                  <a:srgbClr val="FF0000"/>
                </a:solidFill>
              </a:rPr>
              <a:t>避免分母为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时报错</a:t>
            </a:r>
            <a:r>
              <a:rPr lang="en-US" altLang="zh-CN" b="1" dirty="0">
                <a:solidFill>
                  <a:srgbClr val="FF0000"/>
                </a:solidFill>
              </a:rPr>
              <a:t>】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BFA232-90A2-4011-9C79-8AF9F3445361}"/>
              </a:ext>
            </a:extLst>
          </p:cNvPr>
          <p:cNvSpPr txBox="1"/>
          <p:nvPr/>
        </p:nvSpPr>
        <p:spPr>
          <a:xfrm>
            <a:off x="1043608" y="3291830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语法：</a:t>
            </a:r>
            <a:r>
              <a:rPr lang="en-US" altLang="zh-CN" sz="2400" b="1" dirty="0">
                <a:solidFill>
                  <a:schemeClr val="bg1"/>
                </a:solidFill>
              </a:rPr>
              <a:t>DIVIDE(</a:t>
            </a:r>
            <a:r>
              <a:rPr lang="zh-CN" altLang="en-US" sz="2400" b="1" dirty="0">
                <a:solidFill>
                  <a:schemeClr val="bg1"/>
                </a:solidFill>
              </a:rPr>
              <a:t>分子</a:t>
            </a:r>
            <a:r>
              <a:rPr lang="en-US" altLang="zh-CN" sz="2400" b="1" dirty="0">
                <a:solidFill>
                  <a:schemeClr val="bg1"/>
                </a:solidFill>
              </a:rPr>
              <a:t>,</a:t>
            </a:r>
            <a:r>
              <a:rPr lang="zh-CN" altLang="en-US" sz="2400" b="1" dirty="0">
                <a:solidFill>
                  <a:schemeClr val="bg1"/>
                </a:solidFill>
              </a:rPr>
              <a:t>分母</a:t>
            </a:r>
            <a:r>
              <a:rPr lang="en-US" altLang="zh-CN" sz="2400" b="1" dirty="0">
                <a:solidFill>
                  <a:schemeClr val="bg1"/>
                </a:solidFill>
              </a:rPr>
              <a:t>,</a:t>
            </a:r>
            <a:r>
              <a:rPr lang="en-US" altLang="zh-CN" sz="2400" b="1" dirty="0">
                <a:solidFill>
                  <a:srgbClr val="FFFF00"/>
                </a:solidFill>
              </a:rPr>
              <a:t>[</a:t>
            </a:r>
            <a:r>
              <a:rPr lang="zh-CN" altLang="en-US" sz="2400" b="1" dirty="0">
                <a:solidFill>
                  <a:srgbClr val="FFFF00"/>
                </a:solidFill>
              </a:rPr>
              <a:t>替换结果</a:t>
            </a:r>
            <a:r>
              <a:rPr lang="en-US" altLang="zh-CN" sz="2400" b="1" dirty="0">
                <a:solidFill>
                  <a:srgbClr val="FFFF00"/>
                </a:solidFill>
              </a:rPr>
              <a:t>]</a:t>
            </a:r>
            <a:r>
              <a:rPr lang="en-US" altLang="zh-CN" sz="2400" b="1" dirty="0">
                <a:solidFill>
                  <a:schemeClr val="bg1"/>
                </a:solidFill>
              </a:rPr>
              <a:t>)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530013-4B6A-4D7F-A435-FBB22366828A}"/>
              </a:ext>
            </a:extLst>
          </p:cNvPr>
          <p:cNvSpPr txBox="1"/>
          <p:nvPr/>
        </p:nvSpPr>
        <p:spPr>
          <a:xfrm>
            <a:off x="1052899" y="3753495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替换结果可以省略不写，省略时返回为空。</a:t>
            </a:r>
          </a:p>
        </p:txBody>
      </p:sp>
    </p:spTree>
    <p:extLst>
      <p:ext uri="{BB962C8B-B14F-4D97-AF65-F5344CB8AC3E}">
        <p14:creationId xmlns:p14="http://schemas.microsoft.com/office/powerpoint/2010/main" val="29696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E7C48D-A812-4DFB-AC1F-532DFC41704E}"/>
              </a:ext>
            </a:extLst>
          </p:cNvPr>
          <p:cNvSpPr txBox="1"/>
          <p:nvPr/>
        </p:nvSpPr>
        <p:spPr>
          <a:xfrm>
            <a:off x="1403648" y="1347614"/>
            <a:ext cx="64807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</a:rPr>
              <a:t>总金额 </a:t>
            </a:r>
            <a:r>
              <a:rPr lang="en-US" altLang="zh-CN" b="1" dirty="0">
                <a:solidFill>
                  <a:srgbClr val="FFFF00"/>
                </a:solidFill>
              </a:rPr>
              <a:t>= SUM(Sheet1[</a:t>
            </a:r>
            <a:r>
              <a:rPr lang="zh-CN" altLang="en-US" b="1" dirty="0">
                <a:solidFill>
                  <a:srgbClr val="FFFF00"/>
                </a:solidFill>
              </a:rPr>
              <a:t>销售金额</a:t>
            </a:r>
            <a:r>
              <a:rPr lang="en-US" altLang="zh-CN" b="1" dirty="0">
                <a:solidFill>
                  <a:srgbClr val="FFFF00"/>
                </a:solidFill>
              </a:rPr>
              <a:t>] )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b="1" dirty="0">
                <a:solidFill>
                  <a:srgbClr val="FFFF00"/>
                </a:solidFill>
              </a:rPr>
              <a:t>总毛利 </a:t>
            </a:r>
            <a:r>
              <a:rPr lang="en-US" altLang="zh-CN" b="1" dirty="0">
                <a:solidFill>
                  <a:srgbClr val="FFFF00"/>
                </a:solidFill>
              </a:rPr>
              <a:t>= SUM(Sheet1[</a:t>
            </a:r>
            <a:r>
              <a:rPr lang="zh-CN" altLang="en-US" b="1" dirty="0">
                <a:solidFill>
                  <a:srgbClr val="FFFF00"/>
                </a:solidFill>
              </a:rPr>
              <a:t>毛利额</a:t>
            </a:r>
            <a:r>
              <a:rPr lang="en-US" altLang="zh-CN" b="1" dirty="0">
                <a:solidFill>
                  <a:srgbClr val="FFFF00"/>
                </a:solidFill>
              </a:rPr>
              <a:t>] )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b="1" dirty="0">
                <a:solidFill>
                  <a:srgbClr val="FFFF00"/>
                </a:solidFill>
              </a:rPr>
              <a:t>毛利率 </a:t>
            </a:r>
            <a:r>
              <a:rPr lang="en-US" altLang="zh-CN" b="1" dirty="0">
                <a:solidFill>
                  <a:srgbClr val="FFFF00"/>
                </a:solidFill>
              </a:rPr>
              <a:t>= [</a:t>
            </a:r>
            <a:r>
              <a:rPr lang="zh-CN" altLang="en-US" b="1" dirty="0">
                <a:solidFill>
                  <a:srgbClr val="FFFF00"/>
                </a:solidFill>
              </a:rPr>
              <a:t>总毛利</a:t>
            </a:r>
            <a:r>
              <a:rPr lang="en-US" altLang="zh-CN" b="1" dirty="0">
                <a:solidFill>
                  <a:srgbClr val="FFFF00"/>
                </a:solidFill>
              </a:rPr>
              <a:t>] / [</a:t>
            </a:r>
            <a:r>
              <a:rPr lang="zh-CN" altLang="en-US" b="1" dirty="0">
                <a:solidFill>
                  <a:srgbClr val="FFFF00"/>
                </a:solidFill>
              </a:rPr>
              <a:t>总金额</a:t>
            </a:r>
            <a:r>
              <a:rPr lang="en-US" altLang="zh-CN" b="1" dirty="0">
                <a:solidFill>
                  <a:srgbClr val="FFFF00"/>
                </a:solidFill>
              </a:rPr>
              <a:t>]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b="1" dirty="0">
                <a:solidFill>
                  <a:srgbClr val="FFFF00"/>
                </a:solidFill>
              </a:rPr>
              <a:t>安全除法毛利率 </a:t>
            </a:r>
            <a:r>
              <a:rPr lang="en-US" altLang="zh-CN" b="1" dirty="0">
                <a:solidFill>
                  <a:srgbClr val="FFFF00"/>
                </a:solidFill>
              </a:rPr>
              <a:t>= DIVIDE([</a:t>
            </a:r>
            <a:r>
              <a:rPr lang="zh-CN" altLang="en-US" b="1" dirty="0">
                <a:solidFill>
                  <a:srgbClr val="FFFF00"/>
                </a:solidFill>
              </a:rPr>
              <a:t>总金额</a:t>
            </a:r>
            <a:r>
              <a:rPr lang="en-US" altLang="zh-CN" b="1" dirty="0">
                <a:solidFill>
                  <a:srgbClr val="FFFF00"/>
                </a:solidFill>
              </a:rPr>
              <a:t>],[</a:t>
            </a:r>
            <a:r>
              <a:rPr lang="zh-CN" altLang="en-US" b="1" dirty="0">
                <a:solidFill>
                  <a:srgbClr val="FFFF00"/>
                </a:solidFill>
              </a:rPr>
              <a:t>总毛利</a:t>
            </a:r>
            <a:r>
              <a:rPr lang="en-US" altLang="zh-CN" b="1" dirty="0">
                <a:solidFill>
                  <a:srgbClr val="FFFF00"/>
                </a:solidFill>
              </a:rPr>
              <a:t>]) </a:t>
            </a:r>
            <a:endParaRPr lang="en-US" altLang="zh-CN" sz="1200" b="1" dirty="0">
              <a:solidFill>
                <a:srgbClr val="FFFF00"/>
              </a:solidFill>
            </a:endParaRPr>
          </a:p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456E73-DD08-42DB-984C-A6D9CC43216F}"/>
              </a:ext>
            </a:extLst>
          </p:cNvPr>
          <p:cNvSpPr txBox="1"/>
          <p:nvPr/>
        </p:nvSpPr>
        <p:spPr>
          <a:xfrm>
            <a:off x="467544" y="48351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Divide</a:t>
            </a:r>
            <a:r>
              <a:rPr lang="zh-CN" altLang="en-US" b="1" dirty="0">
                <a:solidFill>
                  <a:schemeClr val="bg1"/>
                </a:solidFill>
              </a:rPr>
              <a:t>函数：应用</a:t>
            </a:r>
          </a:p>
        </p:txBody>
      </p:sp>
    </p:spTree>
    <p:extLst>
      <p:ext uri="{BB962C8B-B14F-4D97-AF65-F5344CB8AC3E}">
        <p14:creationId xmlns:p14="http://schemas.microsoft.com/office/powerpoint/2010/main" val="131944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7F9224-3661-4E9C-8FEE-D14509F06C89}"/>
              </a:ext>
            </a:extLst>
          </p:cNvPr>
          <p:cNvSpPr txBox="1"/>
          <p:nvPr/>
        </p:nvSpPr>
        <p:spPr>
          <a:xfrm>
            <a:off x="467544" y="48351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if/Switch</a:t>
            </a:r>
            <a:r>
              <a:rPr lang="zh-CN" altLang="en-US" b="1" dirty="0">
                <a:solidFill>
                  <a:schemeClr val="bg1"/>
                </a:solidFill>
              </a:rPr>
              <a:t>函数：逻辑判断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81A4B4-A7A1-47D0-87C6-1012DCC7A6D9}"/>
              </a:ext>
            </a:extLst>
          </p:cNvPr>
          <p:cNvSpPr txBox="1"/>
          <p:nvPr/>
        </p:nvSpPr>
        <p:spPr>
          <a:xfrm>
            <a:off x="1547664" y="98757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If</a:t>
            </a:r>
            <a:r>
              <a:rPr lang="zh-CN" altLang="en-US" b="1" dirty="0">
                <a:solidFill>
                  <a:schemeClr val="bg1"/>
                </a:solidFill>
              </a:rPr>
              <a:t>（西瓜坏了，换货，</a:t>
            </a:r>
            <a:r>
              <a:rPr lang="zh-CN" altLang="en-US" b="1" dirty="0">
                <a:solidFill>
                  <a:srgbClr val="FFFF00"/>
                </a:solidFill>
              </a:rPr>
              <a:t>退货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424D79-803A-48DC-AE15-64E4EADFAEC8}"/>
              </a:ext>
            </a:extLst>
          </p:cNvPr>
          <p:cNvSpPr txBox="1"/>
          <p:nvPr/>
        </p:nvSpPr>
        <p:spPr>
          <a:xfrm>
            <a:off x="611560" y="1482416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第三参数可以省略不写，省略时返回为空。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A38348-0DAC-461D-B3CB-A1FB5A23FF40}"/>
              </a:ext>
            </a:extLst>
          </p:cNvPr>
          <p:cNvSpPr txBox="1"/>
          <p:nvPr/>
        </p:nvSpPr>
        <p:spPr>
          <a:xfrm>
            <a:off x="1043608" y="2402473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If</a:t>
            </a:r>
            <a:r>
              <a:rPr lang="zh-CN" altLang="en-US" sz="1600" b="1" dirty="0">
                <a:solidFill>
                  <a:schemeClr val="bg1"/>
                </a:solidFill>
              </a:rPr>
              <a:t>适合条件比较少的时候使用，如果条件太多，嵌套太多，不方便使用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616E46-C013-4ED0-8FFC-CAFB6BC1B917}"/>
              </a:ext>
            </a:extLst>
          </p:cNvPr>
          <p:cNvSpPr txBox="1"/>
          <p:nvPr/>
        </p:nvSpPr>
        <p:spPr>
          <a:xfrm>
            <a:off x="1067127" y="2980605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应用：</a:t>
            </a:r>
            <a:r>
              <a:rPr lang="zh-CN" altLang="en-US" sz="1600" b="1" dirty="0">
                <a:solidFill>
                  <a:srgbClr val="FFFF00"/>
                </a:solidFill>
              </a:rPr>
              <a:t>称呼 </a:t>
            </a:r>
            <a:r>
              <a:rPr lang="en-US" altLang="zh-CN" sz="1600" b="1" dirty="0">
                <a:solidFill>
                  <a:srgbClr val="FFFF00"/>
                </a:solidFill>
              </a:rPr>
              <a:t>= IF([</a:t>
            </a:r>
            <a:r>
              <a:rPr lang="zh-CN" altLang="en-US" sz="1600" b="1" dirty="0">
                <a:solidFill>
                  <a:srgbClr val="FFFF00"/>
                </a:solidFill>
              </a:rPr>
              <a:t>性别</a:t>
            </a:r>
            <a:r>
              <a:rPr lang="en-US" altLang="zh-CN" sz="1600" b="1" dirty="0">
                <a:solidFill>
                  <a:srgbClr val="FFFF00"/>
                </a:solidFill>
              </a:rPr>
              <a:t>]="</a:t>
            </a:r>
            <a:r>
              <a:rPr lang="zh-CN" altLang="en-US" sz="1600" b="1" dirty="0">
                <a:solidFill>
                  <a:srgbClr val="FFFF00"/>
                </a:solidFill>
              </a:rPr>
              <a:t>男</a:t>
            </a:r>
            <a:r>
              <a:rPr lang="en-US" altLang="zh-CN" sz="1600" b="1" dirty="0">
                <a:solidFill>
                  <a:srgbClr val="FFFF00"/>
                </a:solidFill>
              </a:rPr>
              <a:t>","</a:t>
            </a:r>
            <a:r>
              <a:rPr lang="zh-CN" altLang="en-US" sz="1600" b="1" dirty="0">
                <a:solidFill>
                  <a:srgbClr val="FFFF00"/>
                </a:solidFill>
              </a:rPr>
              <a:t>先生</a:t>
            </a:r>
            <a:r>
              <a:rPr lang="en-US" altLang="zh-CN" sz="1600" b="1" dirty="0">
                <a:solidFill>
                  <a:srgbClr val="FFFF00"/>
                </a:solidFill>
              </a:rPr>
              <a:t>","</a:t>
            </a:r>
            <a:r>
              <a:rPr lang="zh-CN" altLang="en-US" sz="1600" b="1" dirty="0">
                <a:solidFill>
                  <a:srgbClr val="FFFF00"/>
                </a:solidFill>
              </a:rPr>
              <a:t>女士</a:t>
            </a:r>
            <a:r>
              <a:rPr lang="en-US" altLang="zh-CN" sz="1600" b="1" dirty="0">
                <a:solidFill>
                  <a:srgbClr val="FFFF00"/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47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450114-C2E5-40B7-AAC2-00A166B4B5DA}"/>
              </a:ext>
            </a:extLst>
          </p:cNvPr>
          <p:cNvSpPr txBox="1"/>
          <p:nvPr/>
        </p:nvSpPr>
        <p:spPr>
          <a:xfrm>
            <a:off x="467544" y="48351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if/Switch</a:t>
            </a:r>
            <a:r>
              <a:rPr lang="zh-CN" altLang="en-US" b="1" dirty="0">
                <a:solidFill>
                  <a:schemeClr val="bg1"/>
                </a:solidFill>
              </a:rPr>
              <a:t>函数：逻辑判断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8596E2-EE27-4255-AB63-3D65C92336BE}"/>
              </a:ext>
            </a:extLst>
          </p:cNvPr>
          <p:cNvSpPr txBox="1"/>
          <p:nvPr/>
        </p:nvSpPr>
        <p:spPr>
          <a:xfrm>
            <a:off x="1547664" y="987574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switch</a:t>
            </a:r>
            <a:r>
              <a:rPr lang="zh-CN" altLang="en-US" b="1" dirty="0">
                <a:solidFill>
                  <a:schemeClr val="bg1"/>
                </a:solidFill>
              </a:rPr>
              <a:t>（表达式，值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，结果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，</a:t>
            </a:r>
            <a:r>
              <a:rPr lang="en-US" altLang="zh-CN" b="1" dirty="0">
                <a:solidFill>
                  <a:schemeClr val="bg1"/>
                </a:solidFill>
              </a:rPr>
              <a:t>…</a:t>
            </a:r>
            <a:r>
              <a:rPr lang="zh-CN" altLang="en-US" b="1" dirty="0">
                <a:solidFill>
                  <a:schemeClr val="bg1"/>
                </a:solidFill>
              </a:rPr>
              <a:t>，</a:t>
            </a:r>
            <a:r>
              <a:rPr lang="en-US" altLang="zh-CN" b="1" dirty="0">
                <a:solidFill>
                  <a:srgbClr val="FFFF00"/>
                </a:solidFill>
              </a:rPr>
              <a:t>[else]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9DB9E2-EB6D-407F-B361-AEBD035894F4}"/>
              </a:ext>
            </a:extLst>
          </p:cNvPr>
          <p:cNvSpPr txBox="1"/>
          <p:nvPr/>
        </p:nvSpPr>
        <p:spPr>
          <a:xfrm>
            <a:off x="791580" y="1491630"/>
            <a:ext cx="6768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最后一个参数可以省略不写，省略时返回为空。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E2C9F3-5A5B-4906-A018-6DDD4AB8D24A}"/>
              </a:ext>
            </a:extLst>
          </p:cNvPr>
          <p:cNvSpPr txBox="1"/>
          <p:nvPr/>
        </p:nvSpPr>
        <p:spPr>
          <a:xfrm>
            <a:off x="899592" y="2147579"/>
            <a:ext cx="676875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月份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SWITCH('switch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 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 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2,"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3, 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4,"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四月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5, 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6,"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六月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7, 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七月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8,"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八月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9, 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九月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10,"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十一月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12,"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十二月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未能识别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")</a:t>
            </a:r>
          </a:p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54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4CB705-4186-4B53-8BC4-48FBEC64D2A3}"/>
              </a:ext>
            </a:extLst>
          </p:cNvPr>
          <p:cNvSpPr txBox="1"/>
          <p:nvPr/>
        </p:nvSpPr>
        <p:spPr>
          <a:xfrm>
            <a:off x="467544" y="483518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关系函数：</a:t>
            </a:r>
            <a:r>
              <a:rPr lang="en-US" altLang="zh-CN" b="1" dirty="0">
                <a:solidFill>
                  <a:schemeClr val="bg1"/>
                </a:solidFill>
              </a:rPr>
              <a:t>Related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Relatedtable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Lookupvalue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525F42-99EC-4DB4-9BF6-3B04D46A60B8}"/>
              </a:ext>
            </a:extLst>
          </p:cNvPr>
          <p:cNvSpPr txBox="1"/>
          <p:nvPr/>
        </p:nvSpPr>
        <p:spPr>
          <a:xfrm>
            <a:off x="179512" y="1131590"/>
            <a:ext cx="84969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Related</a:t>
            </a:r>
            <a:r>
              <a:rPr lang="zh-CN" altLang="en-US" b="1" dirty="0">
                <a:solidFill>
                  <a:schemeClr val="bg1"/>
                </a:solidFill>
              </a:rPr>
              <a:t>函数：（多端找</a:t>
            </a:r>
            <a:r>
              <a:rPr lang="zh-CN" altLang="en-US" b="1">
                <a:solidFill>
                  <a:schemeClr val="bg1"/>
                </a:solidFill>
              </a:rPr>
              <a:t>一端）（事实表找维度表）（数据表找基础表）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	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销售金额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]*RELATED('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售价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</a:t>
            </a:r>
          </a:p>
          <a:p>
            <a:pPr algn="ctr"/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毛利额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销售金额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]-([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]*RELATED('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进价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))</a:t>
            </a:r>
          </a:p>
          <a:p>
            <a:pPr algn="ctr"/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度量值销售金额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SUMX('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]*RELATED('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售价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</a:t>
            </a:r>
          </a:p>
          <a:p>
            <a:endParaRPr lang="en-US" altLang="zh-CN" dirty="0"/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60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B9803A-1544-4B30-9F90-4EDAD70A3A27}"/>
              </a:ext>
            </a:extLst>
          </p:cNvPr>
          <p:cNvSpPr txBox="1"/>
          <p:nvPr/>
        </p:nvSpPr>
        <p:spPr>
          <a:xfrm>
            <a:off x="467544" y="483518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关系函数：</a:t>
            </a:r>
            <a:r>
              <a:rPr lang="en-US" altLang="zh-CN" b="1" dirty="0">
                <a:solidFill>
                  <a:schemeClr val="bg1"/>
                </a:solidFill>
              </a:rPr>
              <a:t>Related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Relatedtable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Lookupvalue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960C15-D106-4E4B-BAF2-AB1B819D07CE}"/>
              </a:ext>
            </a:extLst>
          </p:cNvPr>
          <p:cNvSpPr txBox="1"/>
          <p:nvPr/>
        </p:nvSpPr>
        <p:spPr>
          <a:xfrm>
            <a:off x="179512" y="1131590"/>
            <a:ext cx="84969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Relatedtable</a:t>
            </a:r>
            <a:r>
              <a:rPr lang="zh-CN" altLang="en-US" b="1" dirty="0">
                <a:solidFill>
                  <a:schemeClr val="bg1"/>
                </a:solidFill>
              </a:rPr>
              <a:t>函数：（一端找多端）（维度表找事实表）（基础表找数据表）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	</a:t>
            </a:r>
          </a:p>
          <a:p>
            <a:pPr algn="ctr"/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COUNTROWS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（表） 统计表格中的行数</a:t>
            </a:r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订单数量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COUNTROWS(RELATEDTABLE('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')) </a:t>
            </a:r>
          </a:p>
          <a:p>
            <a:pPr algn="ctr"/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dirty="0"/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57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2D95C1-1360-451F-A452-21F6F8252782}"/>
              </a:ext>
            </a:extLst>
          </p:cNvPr>
          <p:cNvSpPr txBox="1"/>
          <p:nvPr/>
        </p:nvSpPr>
        <p:spPr>
          <a:xfrm>
            <a:off x="467544" y="483518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关系函数：</a:t>
            </a:r>
            <a:r>
              <a:rPr lang="en-US" altLang="zh-CN" b="1" dirty="0">
                <a:solidFill>
                  <a:schemeClr val="bg1"/>
                </a:solidFill>
              </a:rPr>
              <a:t>Related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Relatedtable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 err="1">
                <a:solidFill>
                  <a:schemeClr val="bg1"/>
                </a:solidFill>
              </a:rPr>
              <a:t>Lookupvalue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DBC705-5DE2-4674-A255-DCD9C1FF3CE1}"/>
              </a:ext>
            </a:extLst>
          </p:cNvPr>
          <p:cNvSpPr txBox="1"/>
          <p:nvPr/>
        </p:nvSpPr>
        <p:spPr>
          <a:xfrm>
            <a:off x="323528" y="1203598"/>
            <a:ext cx="87129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Lookupvalue</a:t>
            </a:r>
            <a:r>
              <a:rPr lang="zh-CN" altLang="en-US" b="1" dirty="0">
                <a:solidFill>
                  <a:schemeClr val="bg1"/>
                </a:solidFill>
              </a:rPr>
              <a:t>函数：就是</a:t>
            </a:r>
            <a:r>
              <a:rPr lang="en-US" altLang="zh-CN" b="1" dirty="0" err="1">
                <a:solidFill>
                  <a:schemeClr val="bg1"/>
                </a:solidFill>
              </a:rPr>
              <a:t>Vlookup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语法：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Lookupvalue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引用哪张表哪个列，那张表的搜索范围，找自己表里的哪个列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售价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LOOKUPVALUE('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售价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商品编码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],'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商品编码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</a:t>
            </a:r>
          </a:p>
          <a:p>
            <a:endParaRPr lang="en-US" altLang="zh-CN" dirty="0"/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603FB9-321B-45EE-845A-F08BF1DB6315}"/>
              </a:ext>
            </a:extLst>
          </p:cNvPr>
          <p:cNvSpPr txBox="1"/>
          <p:nvPr/>
        </p:nvSpPr>
        <p:spPr>
          <a:xfrm>
            <a:off x="92369" y="3112175"/>
            <a:ext cx="90364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多条件：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语法：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Lookupvalue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引用哪张表哪个列，那张表的搜索范围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那张表的搜索范围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找自己表里的哪个列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找自己表里的哪个列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2…)</a:t>
            </a:r>
          </a:p>
          <a:p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dirty="0"/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06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6146</TotalTime>
  <Words>613</Words>
  <Application>Microsoft Office PowerPoint</Application>
  <PresentationFormat>全屏显示(16:9)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1141</cp:revision>
  <dcterms:created xsi:type="dcterms:W3CDTF">2014-02-28T09:23:05Z</dcterms:created>
  <dcterms:modified xsi:type="dcterms:W3CDTF">2020-03-14T12:31:40Z</dcterms:modified>
</cp:coreProperties>
</file>